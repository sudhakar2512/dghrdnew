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Default Extension="rels" ContentType="application/vnd.openxmlformats-package.relationshi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6" r:id="rId1"/>
  </p:sldMasterIdLst>
  <p:notesMasterIdLst>
    <p:notesMasterId r:id="rId88"/>
  </p:notesMasterIdLst>
  <p:sldIdLst>
    <p:sldId id="349" r:id="rId2"/>
    <p:sldId id="357" r:id="rId3"/>
    <p:sldId id="366" r:id="rId4"/>
    <p:sldId id="379" r:id="rId5"/>
    <p:sldId id="365" r:id="rId6"/>
    <p:sldId id="367" r:id="rId7"/>
    <p:sldId id="368" r:id="rId8"/>
    <p:sldId id="370" r:id="rId9"/>
    <p:sldId id="378" r:id="rId10"/>
    <p:sldId id="396" r:id="rId11"/>
    <p:sldId id="371" r:id="rId12"/>
    <p:sldId id="373" r:id="rId13"/>
    <p:sldId id="374" r:id="rId14"/>
    <p:sldId id="375" r:id="rId15"/>
    <p:sldId id="361" r:id="rId16"/>
    <p:sldId id="380" r:id="rId17"/>
    <p:sldId id="383" r:id="rId18"/>
    <p:sldId id="384" r:id="rId19"/>
    <p:sldId id="386" r:id="rId20"/>
    <p:sldId id="385" r:id="rId21"/>
    <p:sldId id="387" r:id="rId22"/>
    <p:sldId id="388" r:id="rId23"/>
    <p:sldId id="389" r:id="rId24"/>
    <p:sldId id="390" r:id="rId25"/>
    <p:sldId id="362" r:id="rId26"/>
    <p:sldId id="257" r:id="rId27"/>
    <p:sldId id="301" r:id="rId28"/>
    <p:sldId id="279" r:id="rId29"/>
    <p:sldId id="281" r:id="rId30"/>
    <p:sldId id="282" r:id="rId31"/>
    <p:sldId id="286" r:id="rId32"/>
    <p:sldId id="288" r:id="rId33"/>
    <p:sldId id="289" r:id="rId34"/>
    <p:sldId id="292" r:id="rId35"/>
    <p:sldId id="294" r:id="rId36"/>
    <p:sldId id="298" r:id="rId37"/>
    <p:sldId id="299" r:id="rId38"/>
    <p:sldId id="360" r:id="rId39"/>
    <p:sldId id="351" r:id="rId40"/>
    <p:sldId id="352" r:id="rId41"/>
    <p:sldId id="353" r:id="rId42"/>
    <p:sldId id="307" r:id="rId43"/>
    <p:sldId id="308" r:id="rId44"/>
    <p:sldId id="354" r:id="rId45"/>
    <p:sldId id="310" r:id="rId46"/>
    <p:sldId id="311" r:id="rId47"/>
    <p:sldId id="312" r:id="rId48"/>
    <p:sldId id="313" r:id="rId49"/>
    <p:sldId id="314" r:id="rId50"/>
    <p:sldId id="315" r:id="rId51"/>
    <p:sldId id="316" r:id="rId52"/>
    <p:sldId id="318" r:id="rId53"/>
    <p:sldId id="319" r:id="rId54"/>
    <p:sldId id="320" r:id="rId55"/>
    <p:sldId id="321" r:id="rId56"/>
    <p:sldId id="322" r:id="rId57"/>
    <p:sldId id="323" r:id="rId58"/>
    <p:sldId id="392" r:id="rId59"/>
    <p:sldId id="324" r:id="rId60"/>
    <p:sldId id="325" r:id="rId61"/>
    <p:sldId id="326" r:id="rId62"/>
    <p:sldId id="393" r:id="rId63"/>
    <p:sldId id="327" r:id="rId64"/>
    <p:sldId id="328" r:id="rId65"/>
    <p:sldId id="329" r:id="rId66"/>
    <p:sldId id="394" r:id="rId67"/>
    <p:sldId id="330" r:id="rId68"/>
    <p:sldId id="331" r:id="rId69"/>
    <p:sldId id="363" r:id="rId70"/>
    <p:sldId id="335" r:id="rId71"/>
    <p:sldId id="336" r:id="rId72"/>
    <p:sldId id="337" r:id="rId73"/>
    <p:sldId id="338" r:id="rId74"/>
    <p:sldId id="339" r:id="rId75"/>
    <p:sldId id="340" r:id="rId76"/>
    <p:sldId id="341" r:id="rId77"/>
    <p:sldId id="342" r:id="rId78"/>
    <p:sldId id="343" r:id="rId79"/>
    <p:sldId id="344" r:id="rId80"/>
    <p:sldId id="345" r:id="rId81"/>
    <p:sldId id="346" r:id="rId82"/>
    <p:sldId id="364" r:id="rId83"/>
    <p:sldId id="395" r:id="rId84"/>
    <p:sldId id="332" r:id="rId85"/>
    <p:sldId id="333" r:id="rId86"/>
    <p:sldId id="350" r:id="rId87"/>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inimized" horzBarState="maximized">
    <p:restoredLeft sz="6597" autoAdjust="0"/>
    <p:restoredTop sz="76703" autoAdjust="0"/>
  </p:normalViewPr>
  <p:slideViewPr>
    <p:cSldViewPr>
      <p:cViewPr varScale="1">
        <p:scale>
          <a:sx n="116" d="100"/>
          <a:sy n="116" d="100"/>
        </p:scale>
        <p:origin x="-1626" y="-11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712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29761" y="0"/>
            <a:ext cx="2929837" cy="497126"/>
          </a:xfrm>
          <a:prstGeom prst="rect">
            <a:avLst/>
          </a:prstGeom>
        </p:spPr>
        <p:txBody>
          <a:bodyPr vert="horz" lIns="91440" tIns="45720" rIns="91440" bIns="45720" rtlCol="0"/>
          <a:lstStyle>
            <a:lvl1pPr algn="r">
              <a:defRPr sz="1200"/>
            </a:lvl1pPr>
          </a:lstStyle>
          <a:p>
            <a:fld id="{4DD8136C-DBDB-454A-BCC1-3B1D0254D443}" type="datetimeFigureOut">
              <a:rPr lang="en-US" smtClean="0"/>
              <a:pPr/>
              <a:t>2/9/2022</a:t>
            </a:fld>
            <a:endParaRPr lang="en-US"/>
          </a:p>
        </p:txBody>
      </p:sp>
      <p:sp>
        <p:nvSpPr>
          <p:cNvPr id="4" name="Slide Image Placeholder 3"/>
          <p:cNvSpPr>
            <a:spLocks noGrp="1" noRot="1" noChangeAspect="1"/>
          </p:cNvSpPr>
          <p:nvPr>
            <p:ph type="sldImg" idx="2"/>
          </p:nvPr>
        </p:nvSpPr>
        <p:spPr>
          <a:xfrm>
            <a:off x="896938" y="746125"/>
            <a:ext cx="4967287" cy="37274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6117" y="4722694"/>
            <a:ext cx="5408930" cy="447413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43662"/>
            <a:ext cx="2929837" cy="49712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29761" y="9443662"/>
            <a:ext cx="2929837" cy="497126"/>
          </a:xfrm>
          <a:prstGeom prst="rect">
            <a:avLst/>
          </a:prstGeom>
        </p:spPr>
        <p:txBody>
          <a:bodyPr vert="horz" lIns="91440" tIns="45720" rIns="91440" bIns="45720" rtlCol="0" anchor="b"/>
          <a:lstStyle>
            <a:lvl1pPr algn="r">
              <a:defRPr sz="1200"/>
            </a:lvl1pPr>
          </a:lstStyle>
          <a:p>
            <a:fld id="{0EF5BC5D-660D-4BFE-9E5D-B60F9DA67BC3}" type="slidenum">
              <a:rPr lang="en-US" smtClean="0"/>
              <a:pPr/>
              <a:t>‹#›</a:t>
            </a:fld>
            <a:endParaRPr lang="en-US"/>
          </a:p>
        </p:txBody>
      </p:sp>
    </p:spTree>
    <p:extLst>
      <p:ext uri="{BB962C8B-B14F-4D97-AF65-F5344CB8AC3E}">
        <p14:creationId xmlns="" xmlns:p14="http://schemas.microsoft.com/office/powerpoint/2010/main" val="3314597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r>
              <a:rPr lang="en-US"/>
              <a:t>DGHRD</a:t>
            </a:r>
          </a:p>
        </p:txBody>
      </p:sp>
      <p:sp>
        <p:nvSpPr>
          <p:cNvPr id="5" name="Slide Number Placeholder 4"/>
          <p:cNvSpPr>
            <a:spLocks noGrp="1"/>
          </p:cNvSpPr>
          <p:nvPr>
            <p:ph type="sldNum" sz="quarter" idx="5"/>
          </p:nvPr>
        </p:nvSpPr>
        <p:spPr/>
        <p:txBody>
          <a:bodyPr/>
          <a:lstStyle/>
          <a:p>
            <a:fld id="{53D9AD3A-A448-4B22-80C1-62515D591706}" type="slidenum">
              <a:rPr lang="en-US" smtClean="0"/>
              <a:pPr/>
              <a:t>3</a:t>
            </a:fld>
            <a:endParaRPr lang="en-US"/>
          </a:p>
        </p:txBody>
      </p:sp>
    </p:spTree>
    <p:extLst>
      <p:ext uri="{BB962C8B-B14F-4D97-AF65-F5344CB8AC3E}">
        <p14:creationId xmlns="" xmlns:p14="http://schemas.microsoft.com/office/powerpoint/2010/main" val="733438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EF5BC5D-660D-4BFE-9E5D-B60F9DA67BC3}" type="slidenum">
              <a:rPr lang="en-US" smtClean="0"/>
              <a:pPr/>
              <a:t>26</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0EF5BC5D-660D-4BFE-9E5D-B60F9DA67BC3}" type="slidenum">
              <a:rPr lang="en-US" smtClean="0"/>
              <a:pPr/>
              <a:t>37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7764621" y="1174097"/>
            <a:ext cx="2286000" cy="381000"/>
          </a:xfrm>
        </p:spPr>
        <p:txBody>
          <a:bodyPr/>
          <a:lstStyle/>
          <a:p>
            <a:fld id="{A90CCAC9-9F7F-4694-8352-EADF0758E46C}" type="datetimeFigureOut">
              <a:rPr lang="en-US" smtClean="0"/>
              <a:pPr/>
              <a:t>2/9/2022</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A9BB3CEE-92BB-4AA6-BDB4-D47B9F325D00}"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A90CCAC9-9F7F-4694-8352-EADF0758E46C}" type="datetimeFigureOut">
              <a:rPr lang="en-US" smtClean="0"/>
              <a:pPr/>
              <a:t>2/9/2022</a:t>
            </a:fld>
            <a:endParaRPr lang="en-US"/>
          </a:p>
        </p:txBody>
      </p:sp>
      <p:sp>
        <p:nvSpPr>
          <p:cNvPr id="9" name="Slide Number Placeholder 8"/>
          <p:cNvSpPr>
            <a:spLocks noGrp="1"/>
          </p:cNvSpPr>
          <p:nvPr>
            <p:ph type="sldNum" sz="quarter" idx="15"/>
          </p:nvPr>
        </p:nvSpPr>
        <p:spPr/>
        <p:txBody>
          <a:bodyPr rtlCol="0"/>
          <a:lstStyle/>
          <a:p>
            <a:fld id="{A9BB3CEE-92BB-4AA6-BDB4-D47B9F325D00}"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A90CCAC9-9F7F-4694-8352-EADF0758E46C}" type="datetimeFigureOut">
              <a:rPr lang="en-US" smtClean="0"/>
              <a:pPr/>
              <a:t>2/9/2022</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A9BB3CEE-92BB-4AA6-BDB4-D47B9F325D00}"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A90CCAC9-9F7F-4694-8352-EADF0758E46C}" type="datetimeFigureOut">
              <a:rPr lang="en-US" smtClean="0"/>
              <a:pPr/>
              <a:t>2/9/2022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BB3CEE-92BB-4AA6-BDB4-D47B9F325D00}"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fld id="{A90CCAC9-9F7F-4694-8352-EADF0758E46C}" type="datetimeFigureOut">
              <a:rPr lang="en-US" smtClean="0"/>
              <a:pPr/>
              <a:t>2/9/2022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9BB3CEE-92BB-4AA6-BDB4-D47B9F325D00}"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fld id="{A90CCAC9-9F7F-4694-8352-EADF0758E46C}" type="datetimeFigureOut">
              <a:rPr lang="en-US" smtClean="0"/>
              <a:pPr/>
              <a:t>2/9/2022</a:t>
            </a:fld>
            <a:endParaRPr lang="en-US"/>
          </a:p>
        </p:txBody>
      </p:sp>
      <p:sp>
        <p:nvSpPr>
          <p:cNvPr id="7" name="Slide Number Placeholder 6"/>
          <p:cNvSpPr>
            <a:spLocks noGrp="1"/>
          </p:cNvSpPr>
          <p:nvPr>
            <p:ph type="sldNum" sz="quarter" idx="11"/>
          </p:nvPr>
        </p:nvSpPr>
        <p:spPr/>
        <p:txBody>
          <a:bodyPr rtlCol="0"/>
          <a:lstStyle/>
          <a:p>
            <a:fld id="{A9BB3CEE-92BB-4AA6-BDB4-D47B9F325D00}"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0CCAC9-9F7F-4694-8352-EADF0758E46C}" type="datetimeFigureOut">
              <a:rPr lang="en-US" smtClean="0"/>
              <a:pPr/>
              <a:t>2/9/2022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9BB3CEE-92BB-4AA6-BDB4-D47B9F325D0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fld id="{A90CCAC9-9F7F-4694-8352-EADF0758E46C}" type="datetimeFigureOut">
              <a:rPr lang="en-US" smtClean="0"/>
              <a:pPr/>
              <a:t>2/9/2022</a:t>
            </a:fld>
            <a:endParaRPr lang="en-US"/>
          </a:p>
        </p:txBody>
      </p:sp>
      <p:sp>
        <p:nvSpPr>
          <p:cNvPr id="22" name="Slide Number Placeholder 21"/>
          <p:cNvSpPr>
            <a:spLocks noGrp="1"/>
          </p:cNvSpPr>
          <p:nvPr>
            <p:ph type="sldNum" sz="quarter" idx="15"/>
          </p:nvPr>
        </p:nvSpPr>
        <p:spPr/>
        <p:txBody>
          <a:bodyPr rtlCol="0"/>
          <a:lstStyle/>
          <a:p>
            <a:fld id="{A9BB3CEE-92BB-4AA6-BDB4-D47B9F325D00}"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A90CCAC9-9F7F-4694-8352-EADF0758E46C}" type="datetimeFigureOut">
              <a:rPr lang="en-US" smtClean="0"/>
              <a:pPr/>
              <a:t>2/9/2022</a:t>
            </a:fld>
            <a:endParaRPr lang="en-US"/>
          </a:p>
        </p:txBody>
      </p:sp>
      <p:sp>
        <p:nvSpPr>
          <p:cNvPr id="18" name="Slide Number Placeholder 17"/>
          <p:cNvSpPr>
            <a:spLocks noGrp="1"/>
          </p:cNvSpPr>
          <p:nvPr>
            <p:ph type="sldNum" sz="quarter" idx="11"/>
          </p:nvPr>
        </p:nvSpPr>
        <p:spPr/>
        <p:txBody>
          <a:bodyPr rtlCol="0"/>
          <a:lstStyle/>
          <a:p>
            <a:fld id="{A9BB3CEE-92BB-4AA6-BDB4-D47B9F325D00}"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90CCAC9-9F7F-4694-8352-EADF0758E46C}" type="datetimeFigureOut">
              <a:rPr lang="en-US" smtClean="0"/>
              <a:pPr/>
              <a:t>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BB3CEE-92BB-4AA6-BDB4-D47B9F325D0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90CCAC9-9F7F-4694-8352-EADF0758E46C}" type="datetimeFigureOut">
              <a:rPr lang="en-US" smtClean="0"/>
              <a:pPr/>
              <a:t>2/9/2022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BB3CEE-92BB-4AA6-BDB4-D47B9F325D0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A90CCAC9-9F7F-4694-8352-EADF0758E46C}" type="datetimeFigureOut">
              <a:rPr lang="en-US" smtClean="0"/>
              <a:pPr/>
              <a:t>2/9/2022</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A9BB3CEE-92BB-4AA6-BDB4-D47B9F325D0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1485900" y="4876800"/>
            <a:ext cx="6172200" cy="1524000"/>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Arial" pitchFamily="34" charset="0"/>
              <a:buNone/>
            </a:pPr>
            <a:endParaRPr lang="en-IN" sz="2000" dirty="0">
              <a:latin typeface="Calibri" pitchFamily="34" charset="0"/>
            </a:endParaRPr>
          </a:p>
        </p:txBody>
      </p:sp>
      <p:sp>
        <p:nvSpPr>
          <p:cNvPr id="9" name="Title 1"/>
          <p:cNvSpPr txBox="1">
            <a:spLocks/>
          </p:cNvSpPr>
          <p:nvPr/>
        </p:nvSpPr>
        <p:spPr>
          <a:xfrm>
            <a:off x="197515" y="2321537"/>
            <a:ext cx="8413085" cy="2555263"/>
          </a:xfrm>
          <a:prstGeom prst="rect">
            <a:avLst/>
          </a:prstGeom>
          <a:solidFill>
            <a:schemeClr val="accent6">
              <a:lumMod val="20000"/>
              <a:lumOff val="80000"/>
            </a:schemeClr>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7200" b="1" dirty="0">
                <a:solidFill>
                  <a:schemeClr val="accent1">
                    <a:lumMod val="75000"/>
                  </a:schemeClr>
                </a:solidFill>
                <a:latin typeface="Times New Roman" pitchFamily="18" charset="0"/>
                <a:cs typeface="Times New Roman" pitchFamily="18" charset="0"/>
              </a:rPr>
              <a:t>Infrastructure &amp; Development</a:t>
            </a:r>
            <a:endParaRPr lang="en-IN" sz="3600" b="1" dirty="0">
              <a:solidFill>
                <a:schemeClr val="accent1">
                  <a:lumMod val="75000"/>
                </a:schemeClr>
              </a:solidFill>
              <a:latin typeface="Algerian" pitchFamily="82" charset="0"/>
              <a:ea typeface="Verdana" pitchFamily="34" charset="0"/>
              <a:cs typeface="Calibri" pitchFamily="34" charset="0"/>
            </a:endParaRPr>
          </a:p>
        </p:txBody>
      </p:sp>
      <p:sp>
        <p:nvSpPr>
          <p:cNvPr id="3" name="AutoShape 2" descr="Image result for emblem india"/>
          <p:cNvSpPr>
            <a:spLocks noChangeAspect="1" noChangeArrowheads="1"/>
          </p:cNvSpPr>
          <p:nvPr/>
        </p:nvSpPr>
        <p:spPr bwMode="auto">
          <a:xfrm>
            <a:off x="1259682" y="-144463"/>
            <a:ext cx="2286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Image result for emblem india"/>
          <p:cNvSpPr>
            <a:spLocks noChangeAspect="1" noChangeArrowheads="1"/>
          </p:cNvSpPr>
          <p:nvPr/>
        </p:nvSpPr>
        <p:spPr bwMode="auto">
          <a:xfrm>
            <a:off x="1373982" y="7940"/>
            <a:ext cx="2286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Image result for emblem india"/>
          <p:cNvSpPr>
            <a:spLocks noChangeAspect="1" noChangeArrowheads="1"/>
          </p:cNvSpPr>
          <p:nvPr/>
        </p:nvSpPr>
        <p:spPr bwMode="auto">
          <a:xfrm>
            <a:off x="1488282" y="160340"/>
            <a:ext cx="2286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8" descr="Image result for emblem india"/>
          <p:cNvSpPr>
            <a:spLocks noChangeAspect="1" noChangeArrowheads="1"/>
          </p:cNvSpPr>
          <p:nvPr/>
        </p:nvSpPr>
        <p:spPr bwMode="auto">
          <a:xfrm>
            <a:off x="1602582" y="312740"/>
            <a:ext cx="2286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10" descr="Image result for emblem india"/>
          <p:cNvSpPr>
            <a:spLocks noChangeAspect="1" noChangeArrowheads="1"/>
          </p:cNvSpPr>
          <p:nvPr/>
        </p:nvSpPr>
        <p:spPr bwMode="auto">
          <a:xfrm>
            <a:off x="1716882" y="465140"/>
            <a:ext cx="2286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12" descr="Image result for emblem india"/>
          <p:cNvSpPr>
            <a:spLocks noChangeAspect="1" noChangeArrowheads="1"/>
          </p:cNvSpPr>
          <p:nvPr/>
        </p:nvSpPr>
        <p:spPr bwMode="auto">
          <a:xfrm>
            <a:off x="1831182" y="617540"/>
            <a:ext cx="2286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7" name="Picture 13"/>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601774" y="145257"/>
            <a:ext cx="1001315" cy="19732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13" name="Rectangle 12"/>
          <p:cNvSpPr/>
          <p:nvPr/>
        </p:nvSpPr>
        <p:spPr>
          <a:xfrm>
            <a:off x="143508" y="4919008"/>
            <a:ext cx="8748972" cy="400110"/>
          </a:xfrm>
          <a:prstGeom prst="rect">
            <a:avLst/>
          </a:prstGeom>
          <a:solidFill>
            <a:srgbClr val="FFD961"/>
          </a:solidFill>
        </p:spPr>
        <p:txBody>
          <a:bodyPr wrap="square">
            <a:spAutoFit/>
          </a:bodyPr>
          <a:lstStyle/>
          <a:p>
            <a:pPr algn="r"/>
            <a:endParaRPr lang="en-IN" sz="2000" b="1" dirty="0">
              <a:solidFill>
                <a:srgbClr val="0000CC"/>
              </a:solidFill>
              <a:latin typeface="Times New Roman" pitchFamily="18" charset="0"/>
              <a:cs typeface="Times New Roman" pitchFamily="18" charset="0"/>
            </a:endParaRPr>
          </a:p>
        </p:txBody>
      </p:sp>
      <p:pic>
        <p:nvPicPr>
          <p:cNvPr id="7" name="Picture 2" descr="Central Board of Indirect Taxes and Customs - Wikipedia">
            <a:extLst>
              <a:ext uri="{FF2B5EF4-FFF2-40B4-BE49-F238E27FC236}">
                <a16:creationId xmlns="" xmlns:a16="http://schemas.microsoft.com/office/drawing/2014/main" id="{52572981-529B-4306-9912-C92B9612B35A}"/>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6781800" y="125627"/>
            <a:ext cx="1905001" cy="2059726"/>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2106694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75000"/>
                  </a:schemeClr>
                </a:solidFill>
              </a:rPr>
              <a:t>INFRASTRUCTURE DIVISION</a:t>
            </a:r>
          </a:p>
        </p:txBody>
      </p:sp>
      <p:sp>
        <p:nvSpPr>
          <p:cNvPr id="3" name="Content Placeholder 2"/>
          <p:cNvSpPr>
            <a:spLocks noGrp="1"/>
          </p:cNvSpPr>
          <p:nvPr>
            <p:ph sz="quarter" idx="1"/>
          </p:nvPr>
        </p:nvSpPr>
        <p:spPr/>
        <p:txBody>
          <a:bodyPr>
            <a:normAutofit fontScale="92500"/>
          </a:bodyPr>
          <a:lstStyle/>
          <a:p>
            <a:pPr marL="1143000" lvl="0" indent="-1143000" algn="just">
              <a:spcBef>
                <a:spcPct val="0"/>
              </a:spcBef>
              <a:tabLst>
                <a:tab pos="0" algn="l"/>
              </a:tabLst>
              <a:defRPr/>
            </a:pPr>
            <a:endParaRPr lang="en-US" b="1" dirty="0">
              <a:solidFill>
                <a:schemeClr val="tx2">
                  <a:satMod val="130000"/>
                </a:schemeClr>
              </a:solidFill>
              <a:effectLst>
                <a:outerShdw blurRad="50000" dist="30000" dir="5400000" algn="tl" rotWithShape="0">
                  <a:srgbClr val="000000">
                    <a:alpha val="30000"/>
                  </a:srgbClr>
                </a:outerShdw>
              </a:effectLst>
              <a:latin typeface="Arial" pitchFamily="34" charset="0"/>
              <a:cs typeface="Arial" pitchFamily="34" charset="0"/>
            </a:endParaRPr>
          </a:p>
          <a:p>
            <a:pPr marL="742950" indent="-742950" algn="just">
              <a:spcBef>
                <a:spcPct val="0"/>
              </a:spcBef>
              <a:buFont typeface="Arial" pitchFamily="34" charset="0"/>
              <a:buChar char="•"/>
              <a:defRPr/>
            </a:pPr>
            <a:r>
              <a:rPr lang="en-US" b="1" dirty="0">
                <a:solidFill>
                  <a:schemeClr val="tx2">
                    <a:satMod val="130000"/>
                  </a:schemeClr>
                </a:solidFill>
                <a:effectLst>
                  <a:outerShdw blurRad="50000" dist="30000" dir="5400000" algn="tl" rotWithShape="0">
                    <a:srgbClr val="000000">
                      <a:alpha val="30000"/>
                    </a:srgbClr>
                  </a:outerShdw>
                </a:effectLst>
                <a:latin typeface="Arial" pitchFamily="34" charset="0"/>
                <a:cs typeface="Arial" pitchFamily="34" charset="0"/>
              </a:rPr>
              <a:t>Purchase of land for office buildings and residential   quarters;</a:t>
            </a:r>
          </a:p>
          <a:p>
            <a:pPr marL="742950" lvl="0" indent="-742950" algn="just">
              <a:spcBef>
                <a:spcPct val="0"/>
              </a:spcBef>
              <a:defRPr/>
            </a:pPr>
            <a:endParaRPr lang="en-US" b="1" dirty="0">
              <a:solidFill>
                <a:schemeClr val="tx2">
                  <a:satMod val="130000"/>
                </a:schemeClr>
              </a:solidFill>
              <a:effectLst>
                <a:outerShdw blurRad="50000" dist="30000" dir="5400000" algn="tl" rotWithShape="0">
                  <a:srgbClr val="000000">
                    <a:alpha val="30000"/>
                  </a:srgbClr>
                </a:outerShdw>
              </a:effectLst>
              <a:latin typeface="Arial" pitchFamily="34" charset="0"/>
              <a:cs typeface="Arial" pitchFamily="34" charset="0"/>
            </a:endParaRPr>
          </a:p>
          <a:p>
            <a:pPr marL="742950" lvl="0" indent="-742950" algn="just">
              <a:spcBef>
                <a:spcPct val="0"/>
              </a:spcBef>
              <a:buFont typeface="Arial" pitchFamily="34" charset="0"/>
              <a:buChar char="•"/>
              <a:defRPr/>
            </a:pPr>
            <a:r>
              <a:rPr lang="en-US" b="1" dirty="0">
                <a:solidFill>
                  <a:schemeClr val="tx2">
                    <a:satMod val="130000"/>
                  </a:schemeClr>
                </a:solidFill>
                <a:effectLst>
                  <a:outerShdw blurRad="50000" dist="30000" dir="5400000" algn="tl" rotWithShape="0">
                    <a:srgbClr val="000000">
                      <a:alpha val="30000"/>
                    </a:srgbClr>
                  </a:outerShdw>
                </a:effectLst>
                <a:latin typeface="Arial" pitchFamily="34" charset="0"/>
                <a:cs typeface="Arial" pitchFamily="34" charset="0"/>
              </a:rPr>
              <a:t>Construction of office buildings and residential quarters;</a:t>
            </a:r>
          </a:p>
          <a:p>
            <a:pPr marL="742950" indent="-742950" algn="just">
              <a:spcBef>
                <a:spcPct val="0"/>
              </a:spcBef>
              <a:buFont typeface="Arial" pitchFamily="34" charset="0"/>
              <a:buChar char="•"/>
              <a:defRPr/>
            </a:pPr>
            <a:endParaRPr lang="en-US" b="1" dirty="0">
              <a:solidFill>
                <a:schemeClr val="tx2">
                  <a:satMod val="130000"/>
                </a:schemeClr>
              </a:solidFill>
              <a:effectLst>
                <a:outerShdw blurRad="50000" dist="30000" dir="5400000" algn="tl" rotWithShape="0">
                  <a:srgbClr val="000000">
                    <a:alpha val="30000"/>
                  </a:srgbClr>
                </a:outerShdw>
              </a:effectLst>
              <a:latin typeface="Arial" pitchFamily="34" charset="0"/>
              <a:cs typeface="Arial" pitchFamily="34" charset="0"/>
            </a:endParaRPr>
          </a:p>
          <a:p>
            <a:pPr marL="742950" indent="-742950" algn="just">
              <a:spcBef>
                <a:spcPct val="0"/>
              </a:spcBef>
              <a:buFont typeface="Arial" pitchFamily="34" charset="0"/>
              <a:buChar char="•"/>
              <a:defRPr/>
            </a:pPr>
            <a:r>
              <a:rPr lang="en-US" b="1" dirty="0">
                <a:solidFill>
                  <a:schemeClr val="tx2">
                    <a:satMod val="130000"/>
                  </a:schemeClr>
                </a:solidFill>
                <a:effectLst>
                  <a:outerShdw blurRad="50000" dist="30000" dir="5400000" algn="tl" rotWithShape="0">
                    <a:srgbClr val="000000">
                      <a:alpha val="30000"/>
                    </a:srgbClr>
                  </a:outerShdw>
                </a:effectLst>
                <a:latin typeface="Arial" pitchFamily="34" charset="0"/>
                <a:cs typeface="Arial" pitchFamily="34" charset="0"/>
              </a:rPr>
              <a:t>Purchase of ready built accommodation (RBA) for office buildings and residential quarters;</a:t>
            </a:r>
          </a:p>
          <a:p>
            <a:pPr marL="742950" indent="-742950" algn="just">
              <a:spcBef>
                <a:spcPct val="0"/>
              </a:spcBef>
              <a:buFont typeface="Arial" pitchFamily="34" charset="0"/>
              <a:buChar char="•"/>
              <a:defRPr/>
            </a:pPr>
            <a:endParaRPr lang="en-US" b="1" dirty="0">
              <a:solidFill>
                <a:schemeClr val="tx2">
                  <a:satMod val="130000"/>
                </a:schemeClr>
              </a:solidFill>
              <a:effectLst>
                <a:outerShdw blurRad="50000" dist="30000" dir="5400000" algn="tl" rotWithShape="0">
                  <a:srgbClr val="000000">
                    <a:alpha val="30000"/>
                  </a:srgbClr>
                </a:outerShdw>
              </a:effectLst>
              <a:latin typeface="Arial" pitchFamily="34" charset="0"/>
              <a:cs typeface="Arial" pitchFamily="34" charset="0"/>
            </a:endParaRPr>
          </a:p>
          <a:p>
            <a:pPr marL="742950" lvl="0" indent="-742950" algn="just">
              <a:spcBef>
                <a:spcPct val="0"/>
              </a:spcBef>
              <a:buClrTx/>
              <a:buSzTx/>
              <a:buFont typeface="Arial" pitchFamily="34" charset="0"/>
              <a:buChar char="•"/>
              <a:defRPr/>
            </a:pPr>
            <a:r>
              <a:rPr lang="en-US" b="1" dirty="0">
                <a:solidFill>
                  <a:schemeClr val="tx2">
                    <a:satMod val="130000"/>
                  </a:schemeClr>
                </a:solidFill>
                <a:effectLst>
                  <a:outerShdw blurRad="50000" dist="30000" dir="5400000" algn="tl" rotWithShape="0">
                    <a:srgbClr val="000000">
                      <a:alpha val="30000"/>
                    </a:srgbClr>
                  </a:outerShdw>
                </a:effectLst>
                <a:latin typeface="Arial" pitchFamily="34" charset="0"/>
                <a:cs typeface="Arial" pitchFamily="34" charset="0"/>
              </a:rPr>
              <a:t>Repair and Maintenance; </a:t>
            </a:r>
          </a:p>
          <a:p>
            <a:pPr marL="742950" lvl="0" indent="-742950" algn="just">
              <a:spcBef>
                <a:spcPct val="0"/>
              </a:spcBef>
              <a:buClrTx/>
              <a:buSzTx/>
              <a:defRPr/>
            </a:pPr>
            <a:endParaRPr lang="en-US" b="1" dirty="0">
              <a:solidFill>
                <a:schemeClr val="tx2">
                  <a:satMod val="130000"/>
                </a:schemeClr>
              </a:solidFill>
              <a:effectLst>
                <a:outerShdw blurRad="50000" dist="30000" dir="5400000" algn="tl" rotWithShape="0">
                  <a:srgbClr val="000000">
                    <a:alpha val="30000"/>
                  </a:srgbClr>
                </a:outerShdw>
              </a:effectLst>
              <a:latin typeface="Arial" pitchFamily="34" charset="0"/>
              <a:cs typeface="Arial" pitchFamily="34" charset="0"/>
            </a:endParaRPr>
          </a:p>
          <a:p>
            <a:pPr marL="742950" lvl="0" indent="-742950" algn="just">
              <a:spcBef>
                <a:spcPct val="0"/>
              </a:spcBef>
              <a:buClrTx/>
              <a:buSzTx/>
              <a:buFont typeface="Arial" pitchFamily="34" charset="0"/>
              <a:buChar char="•"/>
              <a:defRPr/>
            </a:pPr>
            <a:r>
              <a:rPr lang="en-US" b="1" dirty="0">
                <a:solidFill>
                  <a:schemeClr val="tx2">
                    <a:satMod val="130000"/>
                  </a:schemeClr>
                </a:solidFill>
                <a:effectLst>
                  <a:outerShdw blurRad="50000" dist="30000" dir="5400000" algn="tl" rotWithShape="0">
                    <a:srgbClr val="000000">
                      <a:alpha val="30000"/>
                    </a:srgbClr>
                  </a:outerShdw>
                </a:effectLst>
                <a:latin typeface="Arial" pitchFamily="34" charset="0"/>
                <a:cs typeface="Arial" pitchFamily="34" charset="0"/>
              </a:rPr>
              <a:t>Hiring of office accommodation on Lease/Rental basis.</a:t>
            </a:r>
          </a:p>
          <a:p>
            <a:endParaRPr lang="en-US" dirty="0"/>
          </a:p>
        </p:txBody>
      </p:sp>
    </p:spTree>
    <p:extLst>
      <p:ext uri="{BB962C8B-B14F-4D97-AF65-F5344CB8AC3E}">
        <p14:creationId xmlns="" xmlns:p14="http://schemas.microsoft.com/office/powerpoint/2010/main" val="36236685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990600"/>
            <a:ext cx="7950200" cy="5715000"/>
          </a:xfrm>
        </p:spPr>
        <p:txBody>
          <a:bodyPr>
            <a:normAutofit/>
          </a:bodyPr>
          <a:lstStyle/>
          <a:p>
            <a:pPr lvl="0" algn="just" fontAlgn="auto">
              <a:spcBef>
                <a:spcPct val="0"/>
              </a:spcBef>
              <a:spcAft>
                <a:spcPts val="0"/>
              </a:spcAft>
              <a:buClrTx/>
              <a:buSzTx/>
              <a:buFont typeface="Wingdings" panose="05000000000000000000" pitchFamily="2" charset="2"/>
              <a:buChar char="q"/>
              <a:defRPr/>
            </a:pPr>
            <a:r>
              <a:rPr lang="en-US" sz="1800" b="1" u="sng" dirty="0">
                <a:effectLst>
                  <a:outerShdw blurRad="50000" dist="30000" dir="5400000" algn="tl" rotWithShape="0">
                    <a:srgbClr val="000000">
                      <a:alpha val="30000"/>
                    </a:srgbClr>
                  </a:outerShdw>
                </a:effectLst>
                <a:cs typeface="Arial" charset="0"/>
              </a:rPr>
              <a:t>Construction</a:t>
            </a:r>
          </a:p>
          <a:p>
            <a:pPr lvl="0" algn="just" fontAlgn="auto">
              <a:spcBef>
                <a:spcPct val="0"/>
              </a:spcBef>
              <a:spcAft>
                <a:spcPts val="0"/>
              </a:spcAft>
              <a:buClrTx/>
              <a:buSzTx/>
              <a:buNone/>
              <a:defRPr/>
            </a:pPr>
            <a:endParaRPr lang="en-US" sz="1800" b="1" dirty="0">
              <a:effectLst>
                <a:outerShdw blurRad="50000" dist="30000" dir="5400000" algn="tl" rotWithShape="0">
                  <a:srgbClr val="000000">
                    <a:alpha val="30000"/>
                  </a:srgbClr>
                </a:outerShdw>
              </a:effectLst>
              <a:cs typeface="Arial" charset="0"/>
            </a:endParaRPr>
          </a:p>
          <a:p>
            <a:pPr lvl="0" algn="just" fontAlgn="auto">
              <a:spcBef>
                <a:spcPct val="0"/>
              </a:spcBef>
              <a:spcAft>
                <a:spcPts val="0"/>
              </a:spcAft>
              <a:buClrTx/>
              <a:buSzTx/>
              <a:buFont typeface="Wingdings" charset="2"/>
              <a:buChar char="§"/>
              <a:defRPr/>
            </a:pPr>
            <a:r>
              <a:rPr lang="en-US" sz="1800" dirty="0">
                <a:effectLst>
                  <a:outerShdw blurRad="50000" dist="30000" dir="5400000" algn="tl" rotWithShape="0">
                    <a:srgbClr val="000000">
                      <a:alpha val="30000"/>
                    </a:srgbClr>
                  </a:outerShdw>
                </a:effectLst>
                <a:cs typeface="Arial" charset="0"/>
              </a:rPr>
              <a:t>Construction projects sanctioned/revalidated during F.Y. 2020-21</a:t>
            </a:r>
          </a:p>
          <a:p>
            <a:pPr lvl="0" algn="just" fontAlgn="auto">
              <a:spcBef>
                <a:spcPct val="0"/>
              </a:spcBef>
              <a:spcAft>
                <a:spcPts val="0"/>
              </a:spcAft>
              <a:buClrTx/>
              <a:buSzTx/>
              <a:buNone/>
              <a:defRPr/>
            </a:pPr>
            <a:endParaRPr lang="en-US" sz="1800" dirty="0">
              <a:effectLst>
                <a:outerShdw blurRad="50000" dist="30000" dir="5400000" algn="tl" rotWithShape="0">
                  <a:srgbClr val="000000">
                    <a:alpha val="30000"/>
                  </a:srgbClr>
                </a:outerShdw>
              </a:effectLst>
              <a:cs typeface="Arial" charset="0"/>
            </a:endParaRPr>
          </a:p>
          <a:p>
            <a:pPr marL="1003300" lvl="0" indent="-285750" algn="just">
              <a:spcBef>
                <a:spcPct val="0"/>
              </a:spcBef>
              <a:buFont typeface="Wingdings" charset="2"/>
              <a:buChar char="§"/>
              <a:defRPr/>
            </a:pPr>
            <a:r>
              <a:rPr lang="en-GB" sz="1800" dirty="0">
                <a:effectLst>
                  <a:outerShdw blurRad="50000" dist="30000" dir="5400000" algn="tl" rotWithShape="0">
                    <a:srgbClr val="000000">
                      <a:alpha val="30000"/>
                    </a:srgbClr>
                  </a:outerShdw>
                </a:effectLst>
                <a:cs typeface="Arial" charset="0"/>
              </a:rPr>
              <a:t>Office – 21    (Project Cost Rs. 971.28 Cr. </a:t>
            </a:r>
            <a:r>
              <a:rPr lang="en-GB" sz="1800" dirty="0" err="1">
                <a:effectLst>
                  <a:outerShdw blurRad="50000" dist="30000" dir="5400000" algn="tl" rotWithShape="0">
                    <a:srgbClr val="000000">
                      <a:alpha val="30000"/>
                    </a:srgbClr>
                  </a:outerShdw>
                </a:effectLst>
                <a:cs typeface="Arial" charset="0"/>
              </a:rPr>
              <a:t>approx</a:t>
            </a:r>
            <a:r>
              <a:rPr lang="en-GB" sz="1800" dirty="0">
                <a:effectLst>
                  <a:outerShdw blurRad="50000" dist="30000" dir="5400000" algn="tl" rotWithShape="0">
                    <a:srgbClr val="000000">
                      <a:alpha val="30000"/>
                    </a:srgbClr>
                  </a:outerShdw>
                </a:effectLst>
                <a:cs typeface="Arial" charset="0"/>
              </a:rPr>
              <a:t>)</a:t>
            </a:r>
          </a:p>
          <a:p>
            <a:pPr marL="1003300" lvl="0" indent="-285750" algn="just">
              <a:spcBef>
                <a:spcPct val="0"/>
              </a:spcBef>
              <a:buFont typeface="Wingdings" charset="2"/>
              <a:buChar char="§"/>
              <a:defRPr/>
            </a:pPr>
            <a:r>
              <a:rPr lang="en-GB" sz="1800" dirty="0">
                <a:effectLst>
                  <a:outerShdw blurRad="50000" dist="30000" dir="5400000" algn="tl" rotWithShape="0">
                    <a:srgbClr val="000000">
                      <a:alpha val="30000"/>
                    </a:srgbClr>
                  </a:outerShdw>
                </a:effectLst>
                <a:cs typeface="Arial" charset="0"/>
              </a:rPr>
              <a:t>Residence – 12    (Project Cost Rs.1279.91 Cr. </a:t>
            </a:r>
            <a:r>
              <a:rPr lang="en-US" sz="1800" dirty="0" err="1">
                <a:effectLst>
                  <a:outerShdw blurRad="50000" dist="30000" dir="5400000" algn="tl" rotWithShape="0">
                    <a:srgbClr val="000000">
                      <a:alpha val="30000"/>
                    </a:srgbClr>
                  </a:outerShdw>
                </a:effectLst>
                <a:cs typeface="Arial" charset="0"/>
              </a:rPr>
              <a:t>approx</a:t>
            </a:r>
            <a:r>
              <a:rPr lang="en-GB" sz="1800" dirty="0">
                <a:effectLst>
                  <a:outerShdw blurRad="50000" dist="30000" dir="5400000" algn="tl" rotWithShape="0">
                    <a:srgbClr val="000000">
                      <a:alpha val="30000"/>
                    </a:srgbClr>
                  </a:outerShdw>
                </a:effectLst>
                <a:cs typeface="Arial" charset="0"/>
              </a:rPr>
              <a:t>)</a:t>
            </a:r>
          </a:p>
          <a:p>
            <a:pPr marL="1003300" indent="-285750" algn="just">
              <a:spcBef>
                <a:spcPct val="0"/>
              </a:spcBef>
              <a:buFont typeface="Wingdings" panose="05000000000000000000" pitchFamily="2" charset="2"/>
              <a:buChar char="§"/>
              <a:defRPr/>
            </a:pPr>
            <a:r>
              <a:rPr lang="en-GB" sz="1800" dirty="0">
                <a:effectLst>
                  <a:outerShdw blurRad="50000" dist="30000" dir="5400000" algn="tl" rotWithShape="0">
                    <a:srgbClr val="000000">
                      <a:alpha val="30000"/>
                    </a:srgbClr>
                  </a:outerShdw>
                </a:effectLst>
                <a:cs typeface="Arial" charset="0"/>
              </a:rPr>
              <a:t>An amount of Rs. 240.19 Cr.  released.</a:t>
            </a:r>
          </a:p>
          <a:p>
            <a:pPr marL="1003300" lvl="0" indent="-285750" algn="just">
              <a:spcBef>
                <a:spcPct val="0"/>
              </a:spcBef>
              <a:buNone/>
              <a:defRPr/>
            </a:pPr>
            <a:endParaRPr lang="en-GB" sz="1800" dirty="0">
              <a:effectLst>
                <a:outerShdw blurRad="50000" dist="30000" dir="5400000" algn="tl" rotWithShape="0">
                  <a:srgbClr val="000000">
                    <a:alpha val="30000"/>
                  </a:srgbClr>
                </a:outerShdw>
              </a:effectLst>
              <a:cs typeface="Arial" charset="0"/>
            </a:endParaRPr>
          </a:p>
          <a:p>
            <a:pPr lvl="0" algn="just" fontAlgn="auto">
              <a:spcBef>
                <a:spcPct val="0"/>
              </a:spcBef>
              <a:spcAft>
                <a:spcPts val="0"/>
              </a:spcAft>
              <a:buClrTx/>
              <a:buSzTx/>
              <a:buFont typeface="Wingdings" charset="2"/>
              <a:buChar char="§"/>
              <a:defRPr/>
            </a:pPr>
            <a:r>
              <a:rPr lang="en-US" sz="1800" dirty="0">
                <a:effectLst>
                  <a:outerShdw blurRad="50000" dist="30000" dir="5400000" algn="tl" rotWithShape="0">
                    <a:srgbClr val="000000">
                      <a:alpha val="30000"/>
                    </a:srgbClr>
                  </a:outerShdw>
                </a:effectLst>
                <a:cs typeface="Arial" charset="0"/>
              </a:rPr>
              <a:t>Construction projects sanctioned/revalidated during F.Y. 2021-22 (till date)</a:t>
            </a:r>
          </a:p>
          <a:p>
            <a:pPr lvl="0" algn="just" fontAlgn="auto">
              <a:spcBef>
                <a:spcPct val="0"/>
              </a:spcBef>
              <a:spcAft>
                <a:spcPts val="0"/>
              </a:spcAft>
              <a:buClrTx/>
              <a:buSzTx/>
              <a:buNone/>
              <a:defRPr/>
            </a:pPr>
            <a:endParaRPr lang="en-US" sz="1800" dirty="0">
              <a:effectLst>
                <a:outerShdw blurRad="50000" dist="30000" dir="5400000" algn="tl" rotWithShape="0">
                  <a:srgbClr val="000000">
                    <a:alpha val="30000"/>
                  </a:srgbClr>
                </a:outerShdw>
              </a:effectLst>
              <a:cs typeface="Arial" charset="0"/>
            </a:endParaRPr>
          </a:p>
          <a:p>
            <a:pPr marL="1003300" lvl="0" indent="-285750" algn="just">
              <a:spcBef>
                <a:spcPct val="0"/>
              </a:spcBef>
              <a:buFont typeface="Wingdings" charset="2"/>
              <a:buChar char="§"/>
              <a:defRPr/>
            </a:pPr>
            <a:r>
              <a:rPr lang="en-GB" sz="1800" dirty="0">
                <a:effectLst>
                  <a:outerShdw blurRad="50000" dist="30000" dir="5400000" algn="tl" rotWithShape="0">
                    <a:srgbClr val="000000">
                      <a:alpha val="30000"/>
                    </a:srgbClr>
                  </a:outerShdw>
                </a:effectLst>
                <a:cs typeface="Arial" charset="0"/>
              </a:rPr>
              <a:t>Office   – 21    (Project Cost Rs.1020.23 Cr. </a:t>
            </a:r>
            <a:r>
              <a:rPr lang="en-US" sz="1800" dirty="0" err="1">
                <a:effectLst>
                  <a:outerShdw blurRad="50000" dist="30000" dir="5400000" algn="tl" rotWithShape="0">
                    <a:srgbClr val="000000">
                      <a:alpha val="30000"/>
                    </a:srgbClr>
                  </a:outerShdw>
                </a:effectLst>
                <a:cs typeface="Arial" charset="0"/>
              </a:rPr>
              <a:t>approx</a:t>
            </a:r>
            <a:r>
              <a:rPr lang="en-GB" sz="1800" dirty="0">
                <a:effectLst>
                  <a:outerShdw blurRad="50000" dist="30000" dir="5400000" algn="tl" rotWithShape="0">
                    <a:srgbClr val="000000">
                      <a:alpha val="30000"/>
                    </a:srgbClr>
                  </a:outerShdw>
                </a:effectLst>
                <a:cs typeface="Arial" charset="0"/>
              </a:rPr>
              <a:t>)</a:t>
            </a:r>
          </a:p>
          <a:p>
            <a:pPr marL="1003300" lvl="0" indent="-285750" algn="just">
              <a:spcBef>
                <a:spcPct val="0"/>
              </a:spcBef>
              <a:buFont typeface="Wingdings" charset="2"/>
              <a:buChar char="§"/>
              <a:defRPr/>
            </a:pPr>
            <a:r>
              <a:rPr lang="en-GB" sz="1800" dirty="0">
                <a:effectLst>
                  <a:outerShdw blurRad="50000" dist="30000" dir="5400000" algn="tl" rotWithShape="0">
                    <a:srgbClr val="000000">
                      <a:alpha val="30000"/>
                    </a:srgbClr>
                  </a:outerShdw>
                </a:effectLst>
                <a:cs typeface="Arial" charset="0"/>
              </a:rPr>
              <a:t>Residence – 09    (Project Cost Rs.1239.86 Cr.</a:t>
            </a:r>
            <a:r>
              <a:rPr lang="en-US" sz="1800" dirty="0">
                <a:effectLst>
                  <a:outerShdw blurRad="50000" dist="30000" dir="5400000" algn="tl" rotWithShape="0">
                    <a:srgbClr val="000000">
                      <a:alpha val="30000"/>
                    </a:srgbClr>
                  </a:outerShdw>
                </a:effectLst>
                <a:cs typeface="Arial" charset="0"/>
              </a:rPr>
              <a:t> </a:t>
            </a:r>
            <a:r>
              <a:rPr lang="en-US" sz="1800" dirty="0" err="1">
                <a:effectLst>
                  <a:outerShdw blurRad="50000" dist="30000" dir="5400000" algn="tl" rotWithShape="0">
                    <a:srgbClr val="000000">
                      <a:alpha val="30000"/>
                    </a:srgbClr>
                  </a:outerShdw>
                </a:effectLst>
                <a:cs typeface="Arial" charset="0"/>
              </a:rPr>
              <a:t>approx</a:t>
            </a:r>
            <a:r>
              <a:rPr lang="en-GB" sz="1800" dirty="0">
                <a:effectLst>
                  <a:outerShdw blurRad="50000" dist="30000" dir="5400000" algn="tl" rotWithShape="0">
                    <a:srgbClr val="000000">
                      <a:alpha val="30000"/>
                    </a:srgbClr>
                  </a:outerShdw>
                </a:effectLst>
                <a:cs typeface="Arial" charset="0"/>
              </a:rPr>
              <a:t>)</a:t>
            </a:r>
          </a:p>
          <a:p>
            <a:pPr marL="1003300" lvl="0" indent="-285750" algn="just">
              <a:spcBef>
                <a:spcPct val="0"/>
              </a:spcBef>
              <a:buFont typeface="Wingdings" panose="05000000000000000000" pitchFamily="2" charset="2"/>
              <a:buChar char="§"/>
              <a:defRPr/>
            </a:pPr>
            <a:r>
              <a:rPr lang="en-GB" sz="1800" dirty="0">
                <a:effectLst>
                  <a:outerShdw blurRad="50000" dist="30000" dir="5400000" algn="tl" rotWithShape="0">
                    <a:srgbClr val="000000">
                      <a:alpha val="30000"/>
                    </a:srgbClr>
                  </a:outerShdw>
                </a:effectLst>
                <a:cs typeface="Arial" charset="0"/>
              </a:rPr>
              <a:t>An amount of Rs. 250.11 Cr.  released.</a:t>
            </a:r>
          </a:p>
          <a:p>
            <a:pPr marL="1003300" lvl="0" indent="-285750" algn="just">
              <a:spcBef>
                <a:spcPct val="0"/>
              </a:spcBef>
              <a:buNone/>
              <a:defRPr/>
            </a:pPr>
            <a:endParaRPr lang="en-US" sz="1800" b="1" dirty="0">
              <a:effectLst>
                <a:outerShdw blurRad="50000" dist="30000" dir="5400000" algn="tl" rotWithShape="0">
                  <a:srgbClr val="000000">
                    <a:alpha val="30000"/>
                  </a:srgbClr>
                </a:outerShdw>
              </a:effectLst>
              <a:cs typeface="Arial" charset="0"/>
            </a:endParaRPr>
          </a:p>
          <a:p>
            <a:pPr algn="just">
              <a:spcBef>
                <a:spcPct val="0"/>
              </a:spcBef>
              <a:buFont typeface="Wingdings" panose="05000000000000000000" pitchFamily="2" charset="2"/>
              <a:buChar char="q"/>
              <a:defRPr/>
            </a:pPr>
            <a:r>
              <a:rPr lang="en-GB" sz="1800" b="1" u="sng" dirty="0">
                <a:effectLst>
                  <a:outerShdw blurRad="50000" dist="30000" dir="5400000" algn="tl" rotWithShape="0">
                    <a:srgbClr val="000000">
                      <a:alpha val="30000"/>
                    </a:srgbClr>
                  </a:outerShdw>
                </a:effectLst>
                <a:cs typeface="Arial" charset="0"/>
              </a:rPr>
              <a:t>RBA</a:t>
            </a:r>
          </a:p>
          <a:p>
            <a:pPr algn="just">
              <a:spcBef>
                <a:spcPct val="0"/>
              </a:spcBef>
              <a:buFont typeface="Wingdings" charset="2"/>
              <a:buChar char="§"/>
              <a:defRPr/>
            </a:pPr>
            <a:endParaRPr lang="en-GB" sz="1800" b="1" dirty="0">
              <a:effectLst>
                <a:outerShdw blurRad="50000" dist="30000" dir="5400000" algn="tl" rotWithShape="0">
                  <a:srgbClr val="000000">
                    <a:alpha val="30000"/>
                  </a:srgbClr>
                </a:outerShdw>
              </a:effectLst>
              <a:cs typeface="Arial" charset="0"/>
            </a:endParaRPr>
          </a:p>
          <a:p>
            <a:pPr algn="just">
              <a:spcBef>
                <a:spcPct val="0"/>
              </a:spcBef>
              <a:buFont typeface="Wingdings" charset="2"/>
              <a:buChar char="§"/>
              <a:defRPr/>
            </a:pPr>
            <a:r>
              <a:rPr lang="en-GB" sz="1800" dirty="0">
                <a:effectLst>
                  <a:outerShdw blurRad="50000" dist="30000" dir="5400000" algn="tl" rotWithShape="0">
                    <a:srgbClr val="000000">
                      <a:alpha val="30000"/>
                    </a:srgbClr>
                  </a:outerShdw>
                </a:effectLst>
                <a:cs typeface="Arial" charset="0"/>
              </a:rPr>
              <a:t>01 Ready built office accommodation at a </a:t>
            </a:r>
            <a:r>
              <a:rPr lang="en-US" sz="1800" dirty="0">
                <a:effectLst>
                  <a:outerShdw blurRad="50000" dist="30000" dir="5400000" algn="tl" rotWithShape="0">
                    <a:srgbClr val="000000">
                      <a:alpha val="30000"/>
                    </a:srgbClr>
                  </a:outerShdw>
                </a:effectLst>
                <a:cs typeface="Arial" charset="0"/>
              </a:rPr>
              <a:t>project cost of Rs. 87.00 Cr. (approx) has been acquired.</a:t>
            </a:r>
          </a:p>
          <a:p>
            <a:pPr marL="558800" lvl="0" indent="-285750" algn="just">
              <a:spcBef>
                <a:spcPct val="0"/>
              </a:spcBef>
              <a:buFont typeface="Wingdings" charset="2"/>
              <a:buChar char="§"/>
              <a:defRPr/>
            </a:pPr>
            <a:endParaRPr lang="en-US" sz="1200" b="1" dirty="0">
              <a:effectLst>
                <a:outerShdw blurRad="50000" dist="30000" dir="5400000" algn="tl" rotWithShape="0">
                  <a:srgbClr val="000000">
                    <a:alpha val="30000"/>
                  </a:srgbClr>
                </a:outerShdw>
              </a:effectLst>
              <a:cs typeface="Arial" charset="0"/>
            </a:endParaRPr>
          </a:p>
          <a:p>
            <a:pPr algn="just">
              <a:spcBef>
                <a:spcPct val="0"/>
              </a:spcBef>
              <a:buFont typeface="Wingdings" charset="2"/>
              <a:buChar char="§"/>
              <a:defRPr/>
            </a:pPr>
            <a:endParaRPr lang="en-US" sz="1600" b="1" dirty="0">
              <a:effectLst>
                <a:outerShdw blurRad="50000" dist="30000" dir="5400000" algn="tl" rotWithShape="0">
                  <a:srgbClr val="000000">
                    <a:alpha val="30000"/>
                  </a:srgbClr>
                </a:outerShdw>
              </a:effectLst>
              <a:cs typeface="Arial" charset="0"/>
            </a:endParaRPr>
          </a:p>
          <a:p>
            <a:pPr algn="just">
              <a:spcBef>
                <a:spcPct val="0"/>
              </a:spcBef>
              <a:buFont typeface="Wingdings" charset="2"/>
              <a:buChar char="§"/>
              <a:defRPr/>
            </a:pPr>
            <a:endParaRPr lang="en-US" sz="1600" b="1" dirty="0">
              <a:effectLst>
                <a:outerShdw blurRad="50000" dist="30000" dir="5400000" algn="tl" rotWithShape="0">
                  <a:srgbClr val="000000">
                    <a:alpha val="30000"/>
                  </a:srgbClr>
                </a:outerShdw>
              </a:effectLst>
              <a:latin typeface="+mj-lt"/>
              <a:cs typeface="Arial" charset="0"/>
            </a:endParaRPr>
          </a:p>
        </p:txBody>
      </p:sp>
      <p:sp>
        <p:nvSpPr>
          <p:cNvPr id="4" name="Slide Number Placeholder 3"/>
          <p:cNvSpPr>
            <a:spLocks noGrp="1"/>
          </p:cNvSpPr>
          <p:nvPr>
            <p:ph type="sldNum" sz="quarter" idx="4294967295"/>
          </p:nvPr>
        </p:nvSpPr>
        <p:spPr>
          <a:xfrm>
            <a:off x="8129588" y="5734050"/>
            <a:ext cx="609600" cy="520700"/>
          </a:xfrm>
          <a:prstGeom prst="rect">
            <a:avLst/>
          </a:prstGeom>
        </p:spPr>
        <p:txBody>
          <a:bodyPr/>
          <a:lstStyle/>
          <a:p>
            <a:pPr>
              <a:defRPr/>
            </a:pPr>
            <a:fld id="{181638C1-C0B2-41A8-841A-28BC72D73AAF}" type="slidenum">
              <a:rPr lang="en-IN" smtClean="0"/>
              <a:pPr>
                <a:defRPr/>
              </a:pPr>
              <a:t>3</a:t>
            </a:fld>
            <a:endParaRPr lang="en-IN" dirty="0"/>
          </a:p>
        </p:txBody>
      </p:sp>
      <p:sp>
        <p:nvSpPr>
          <p:cNvPr id="6" name="Title 1"/>
          <p:cNvSpPr txBox="1"/>
          <p:nvPr/>
        </p:nvSpPr>
        <p:spPr>
          <a:xfrm>
            <a:off x="1524000" y="152400"/>
            <a:ext cx="5715000" cy="609600"/>
          </a:xfrm>
          <a:prstGeom prst="rect">
            <a:avLst/>
          </a:prstGeom>
        </p:spPr>
        <p:style>
          <a:lnRef idx="1">
            <a:schemeClr val="accent1"/>
          </a:lnRef>
          <a:fillRef idx="2">
            <a:schemeClr val="accent1"/>
          </a:fillRef>
          <a:effectRef idx="1">
            <a:schemeClr val="accent1"/>
          </a:effectRef>
          <a:fontRef idx="minor">
            <a:schemeClr val="dk1"/>
          </a:fontRef>
        </p:style>
        <p:txBody>
          <a:bodyPr vert="horz" anchor="b">
            <a:normAutofit fontScale="85000" lnSpcReduction="10000"/>
          </a:bodyPr>
          <a:lstStyle/>
          <a:p>
            <a:pPr lvl="0" algn="ctr"/>
            <a:r>
              <a:rPr lang="en-IN" sz="3200" dirty="0"/>
              <a:t>CBIC Infrastructure-At a Glance</a:t>
            </a:r>
            <a:endParaRPr kumimoji="0" lang="en-IN" sz="3000" b="0" i="0" u="none" strike="noStrike" kern="1200" cap="small" spc="0" normalizeH="0" baseline="0" noProof="0" dirty="0">
              <a:ln>
                <a:noFill/>
              </a:ln>
              <a:solidFill>
                <a:schemeClr val="dk1"/>
              </a:solidFill>
              <a:effectLst/>
              <a:uLnTx/>
              <a:uFillTx/>
              <a:latin typeface="+mn-lt"/>
              <a:ea typeface="+mn-ea"/>
              <a:cs typeface="+mn-cs"/>
            </a:endParaRPr>
          </a:p>
        </p:txBody>
      </p:sp>
      <p:pic>
        <p:nvPicPr>
          <p:cNvPr id="7" name="Picture 6"/>
          <p:cNvPicPr>
            <a:picLocks noChangeAspect="1"/>
          </p:cNvPicPr>
          <p:nvPr/>
        </p:nvPicPr>
        <p:blipFill>
          <a:blip r:embed="rId3" cstate="print">
            <a:extLst>
              <a:ext uri="{28A0092B-C50C-407E-A947-70E740481C1C}">
                <a14:useLocalDpi xmlns="" xmlns:a14="http://schemas.microsoft.com/office/drawing/2010/main" val="0"/>
              </a:ext>
            </a:extLst>
          </a:blip>
          <a:stretch>
            <a:fillRect/>
          </a:stretch>
        </p:blipFill>
        <p:spPr>
          <a:xfrm>
            <a:off x="7391400" y="36419"/>
            <a:ext cx="1295400" cy="1505358"/>
          </a:xfrm>
          <a:prstGeom prst="rect">
            <a:avLst/>
          </a:prstGeom>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CC483337-4D46-41D9-873C-8D64367411C5}"/>
              </a:ext>
            </a:extLst>
          </p:cNvPr>
          <p:cNvSpPr>
            <a:spLocks noGrp="1"/>
          </p:cNvSpPr>
          <p:nvPr>
            <p:ph sz="quarter" idx="1"/>
          </p:nvPr>
        </p:nvSpPr>
        <p:spPr>
          <a:xfrm>
            <a:off x="457200" y="1142999"/>
            <a:ext cx="7467600" cy="5678581"/>
          </a:xfrm>
        </p:spPr>
        <p:txBody>
          <a:bodyPr>
            <a:normAutofit fontScale="85000" lnSpcReduction="20000"/>
          </a:bodyPr>
          <a:lstStyle/>
          <a:p>
            <a:pPr algn="just">
              <a:spcBef>
                <a:spcPct val="0"/>
              </a:spcBef>
              <a:buFont typeface="Wingdings" panose="05000000000000000000" pitchFamily="2" charset="2"/>
              <a:buChar char="q"/>
              <a:defRPr/>
            </a:pPr>
            <a:r>
              <a:rPr lang="en-US" sz="2400" b="1" u="sng" dirty="0">
                <a:effectLst>
                  <a:outerShdw blurRad="50000" dist="30000" dir="5400000" algn="tl" rotWithShape="0">
                    <a:srgbClr val="000000">
                      <a:alpha val="30000"/>
                    </a:srgbClr>
                  </a:outerShdw>
                </a:effectLst>
                <a:cs typeface="Arial" charset="0"/>
              </a:rPr>
              <a:t>Repair and Maintenance</a:t>
            </a:r>
          </a:p>
          <a:p>
            <a:pPr algn="just">
              <a:spcBef>
                <a:spcPct val="0"/>
              </a:spcBef>
              <a:buFont typeface="Wingdings" charset="2"/>
              <a:buChar char="§"/>
              <a:defRPr/>
            </a:pPr>
            <a:endParaRPr lang="en-US" sz="2400" b="1" dirty="0">
              <a:effectLst>
                <a:outerShdw blurRad="50000" dist="30000" dir="5400000" algn="tl" rotWithShape="0">
                  <a:srgbClr val="000000">
                    <a:alpha val="30000"/>
                  </a:srgbClr>
                </a:outerShdw>
              </a:effectLst>
              <a:cs typeface="Arial" charset="0"/>
            </a:endParaRPr>
          </a:p>
          <a:p>
            <a:pPr algn="just">
              <a:lnSpc>
                <a:spcPct val="110000"/>
              </a:lnSpc>
              <a:spcBef>
                <a:spcPct val="0"/>
              </a:spcBef>
              <a:buFont typeface="Wingdings" charset="2"/>
              <a:buChar char="§"/>
              <a:defRPr/>
            </a:pPr>
            <a:r>
              <a:rPr lang="en-US" sz="2400" dirty="0">
                <a:effectLst>
                  <a:outerShdw blurRad="50000" dist="30000" dir="5400000" algn="tl" rotWithShape="0">
                    <a:srgbClr val="000000">
                      <a:alpha val="30000"/>
                    </a:srgbClr>
                  </a:outerShdw>
                </a:effectLst>
                <a:cs typeface="Arial" charset="0"/>
              </a:rPr>
              <a:t>165 R&amp;M proposals sanctioned/revalidated in the FY 2020-21 involving an amount of Rs. 84.73 Cr.</a:t>
            </a:r>
          </a:p>
          <a:p>
            <a:pPr algn="just">
              <a:lnSpc>
                <a:spcPct val="110000"/>
              </a:lnSpc>
              <a:spcBef>
                <a:spcPct val="0"/>
              </a:spcBef>
              <a:buFont typeface="Wingdings" charset="2"/>
              <a:buChar char="§"/>
              <a:defRPr/>
            </a:pPr>
            <a:endParaRPr lang="en-US" sz="2400" dirty="0">
              <a:effectLst>
                <a:outerShdw blurRad="50000" dist="30000" dir="5400000" algn="tl" rotWithShape="0">
                  <a:srgbClr val="000000">
                    <a:alpha val="30000"/>
                  </a:srgbClr>
                </a:outerShdw>
              </a:effectLst>
              <a:cs typeface="Arial" charset="0"/>
            </a:endParaRPr>
          </a:p>
          <a:p>
            <a:pPr algn="just">
              <a:lnSpc>
                <a:spcPct val="110000"/>
              </a:lnSpc>
              <a:spcBef>
                <a:spcPct val="0"/>
              </a:spcBef>
              <a:buFont typeface="Wingdings" charset="2"/>
              <a:buChar char="§"/>
              <a:defRPr/>
            </a:pPr>
            <a:r>
              <a:rPr lang="en-US" sz="2400" dirty="0">
                <a:effectLst>
                  <a:outerShdw blurRad="50000" dist="30000" dir="5400000" algn="tl" rotWithShape="0">
                    <a:srgbClr val="000000">
                      <a:alpha val="30000"/>
                    </a:srgbClr>
                  </a:outerShdw>
                </a:effectLst>
                <a:cs typeface="Arial" charset="0"/>
              </a:rPr>
              <a:t>82 R&amp;M proposals sanctioned/revalidated in the FY 2021-22 (till date) involving an amount of Rs. 44.81 Cr.</a:t>
            </a:r>
          </a:p>
          <a:p>
            <a:pPr algn="just">
              <a:spcBef>
                <a:spcPct val="0"/>
              </a:spcBef>
              <a:buNone/>
              <a:defRPr/>
            </a:pPr>
            <a:endParaRPr lang="en-US" sz="2400" b="1" dirty="0">
              <a:effectLst>
                <a:outerShdw blurRad="50000" dist="30000" dir="5400000" algn="tl" rotWithShape="0">
                  <a:srgbClr val="000000">
                    <a:alpha val="30000"/>
                  </a:srgbClr>
                </a:outerShdw>
              </a:effectLst>
              <a:cs typeface="Arial" charset="0"/>
            </a:endParaRPr>
          </a:p>
          <a:p>
            <a:pPr algn="just">
              <a:spcBef>
                <a:spcPct val="0"/>
              </a:spcBef>
              <a:buFont typeface="Wingdings" panose="05000000000000000000" pitchFamily="2" charset="2"/>
              <a:buChar char="q"/>
              <a:defRPr/>
            </a:pPr>
            <a:r>
              <a:rPr lang="en-US" sz="2400" b="1" u="sng" dirty="0">
                <a:effectLst>
                  <a:outerShdw blurRad="50000" dist="30000" dir="5400000" algn="tl" rotWithShape="0">
                    <a:srgbClr val="000000">
                      <a:alpha val="30000"/>
                    </a:srgbClr>
                  </a:outerShdw>
                </a:effectLst>
                <a:cs typeface="Arial" charset="0"/>
              </a:rPr>
              <a:t>Hiring</a:t>
            </a:r>
          </a:p>
          <a:p>
            <a:pPr algn="just">
              <a:spcBef>
                <a:spcPct val="0"/>
              </a:spcBef>
              <a:buFont typeface="Wingdings" charset="2"/>
              <a:buChar char="§"/>
              <a:defRPr/>
            </a:pPr>
            <a:endParaRPr lang="en-US" sz="2400" b="1" dirty="0">
              <a:effectLst>
                <a:outerShdw blurRad="50000" dist="30000" dir="5400000" algn="tl" rotWithShape="0">
                  <a:srgbClr val="000000">
                    <a:alpha val="30000"/>
                  </a:srgbClr>
                </a:outerShdw>
              </a:effectLst>
              <a:cs typeface="Arial" charset="0"/>
            </a:endParaRPr>
          </a:p>
          <a:p>
            <a:pPr algn="just">
              <a:spcBef>
                <a:spcPct val="0"/>
              </a:spcBef>
              <a:buFont typeface="Wingdings" charset="2"/>
              <a:buChar char="§"/>
              <a:defRPr/>
            </a:pPr>
            <a:r>
              <a:rPr lang="en-US" sz="2400" dirty="0">
                <a:effectLst>
                  <a:outerShdw blurRad="50000" dist="30000" dir="5400000" algn="tl" rotWithShape="0">
                    <a:srgbClr val="000000">
                      <a:alpha val="30000"/>
                    </a:srgbClr>
                  </a:outerShdw>
                </a:effectLst>
                <a:cs typeface="Arial" charset="0"/>
              </a:rPr>
              <a:t>23 proposals for Hiring of office buildings involving annual rent of   Rs. 50.30 Cr were sanctioned in FY. 2020-21.</a:t>
            </a:r>
            <a:r>
              <a:rPr lang="en-GB" sz="2400" dirty="0">
                <a:effectLst>
                  <a:outerShdw blurRad="50000" dist="30000" dir="5400000" algn="tl" rotWithShape="0">
                    <a:srgbClr val="000000">
                      <a:alpha val="30000"/>
                    </a:srgbClr>
                  </a:outerShdw>
                </a:effectLst>
                <a:cs typeface="Arial" charset="0"/>
              </a:rPr>
              <a:t> </a:t>
            </a:r>
          </a:p>
          <a:p>
            <a:pPr algn="just">
              <a:spcBef>
                <a:spcPct val="0"/>
              </a:spcBef>
              <a:buNone/>
              <a:defRPr/>
            </a:pPr>
            <a:endParaRPr lang="en-GB" sz="2400" dirty="0">
              <a:effectLst>
                <a:outerShdw blurRad="50000" dist="30000" dir="5400000" algn="tl" rotWithShape="0">
                  <a:srgbClr val="000000">
                    <a:alpha val="30000"/>
                  </a:srgbClr>
                </a:outerShdw>
              </a:effectLst>
              <a:cs typeface="Arial" charset="0"/>
            </a:endParaRPr>
          </a:p>
          <a:p>
            <a:pPr algn="just">
              <a:spcBef>
                <a:spcPct val="0"/>
              </a:spcBef>
              <a:buFont typeface="Wingdings" charset="2"/>
              <a:buChar char="§"/>
              <a:defRPr/>
            </a:pPr>
            <a:r>
              <a:rPr lang="en-US" sz="2400" dirty="0">
                <a:effectLst>
                  <a:outerShdw blurRad="50000" dist="30000" dir="5400000" algn="tl" rotWithShape="0">
                    <a:srgbClr val="000000">
                      <a:alpha val="30000"/>
                    </a:srgbClr>
                  </a:outerShdw>
                </a:effectLst>
                <a:cs typeface="Arial" charset="0"/>
              </a:rPr>
              <a:t>22 proposals for Hiring of office buildings involving annual rent of   Rs. 26.63 Cr have been sanctioned in FY. 2021-22 (till date).</a:t>
            </a:r>
            <a:r>
              <a:rPr lang="en-GB" sz="2400" dirty="0">
                <a:effectLst>
                  <a:outerShdw blurRad="50000" dist="30000" dir="5400000" algn="tl" rotWithShape="0">
                    <a:srgbClr val="000000">
                      <a:alpha val="30000"/>
                    </a:srgbClr>
                  </a:outerShdw>
                </a:effectLst>
                <a:cs typeface="Arial" charset="0"/>
              </a:rPr>
              <a:t> </a:t>
            </a:r>
          </a:p>
          <a:p>
            <a:pPr algn="just">
              <a:spcBef>
                <a:spcPct val="0"/>
              </a:spcBef>
              <a:buFont typeface="Wingdings" charset="2"/>
              <a:buChar char="§"/>
              <a:defRPr/>
            </a:pPr>
            <a:endParaRPr lang="en-GB" sz="2400" b="1" dirty="0">
              <a:effectLst>
                <a:outerShdw blurRad="50000" dist="30000" dir="5400000" algn="tl" rotWithShape="0">
                  <a:srgbClr val="000000">
                    <a:alpha val="30000"/>
                  </a:srgbClr>
                </a:outerShdw>
              </a:effectLst>
              <a:cs typeface="Arial" charset="0"/>
            </a:endParaRPr>
          </a:p>
          <a:p>
            <a:pPr algn="just">
              <a:spcBef>
                <a:spcPct val="0"/>
              </a:spcBef>
              <a:buFont typeface="Wingdings" panose="05000000000000000000" pitchFamily="2" charset="2"/>
              <a:buChar char="q"/>
              <a:defRPr/>
            </a:pPr>
            <a:r>
              <a:rPr lang="en-GB" sz="2400" b="1" u="sng" dirty="0">
                <a:effectLst>
                  <a:outerShdw blurRad="50000" dist="30000" dir="5400000" algn="tl" rotWithShape="0">
                    <a:srgbClr val="000000">
                      <a:alpha val="30000"/>
                    </a:srgbClr>
                  </a:outerShdw>
                </a:effectLst>
                <a:cs typeface="Arial" charset="0"/>
              </a:rPr>
              <a:t>Land</a:t>
            </a:r>
          </a:p>
          <a:p>
            <a:pPr algn="just">
              <a:spcBef>
                <a:spcPct val="0"/>
              </a:spcBef>
              <a:buFont typeface="Wingdings" charset="2"/>
              <a:buChar char="§"/>
              <a:defRPr/>
            </a:pPr>
            <a:endParaRPr lang="en-GB" sz="2400" b="1" dirty="0">
              <a:effectLst>
                <a:outerShdw blurRad="50000" dist="30000" dir="5400000" algn="tl" rotWithShape="0">
                  <a:srgbClr val="000000">
                    <a:alpha val="30000"/>
                  </a:srgbClr>
                </a:outerShdw>
              </a:effectLst>
              <a:cs typeface="Arial" charset="0"/>
            </a:endParaRPr>
          </a:p>
          <a:p>
            <a:pPr algn="just">
              <a:spcBef>
                <a:spcPct val="0"/>
              </a:spcBef>
              <a:buFont typeface="Wingdings" charset="2"/>
              <a:buChar char="§"/>
              <a:defRPr/>
            </a:pPr>
            <a:r>
              <a:rPr lang="en-GB" sz="2400" dirty="0">
                <a:effectLst>
                  <a:outerShdw blurRad="50000" dist="30000" dir="5400000" algn="tl" rotWithShape="0">
                    <a:srgbClr val="000000">
                      <a:alpha val="30000"/>
                    </a:srgbClr>
                  </a:outerShdw>
                </a:effectLst>
                <a:cs typeface="Arial" charset="0"/>
              </a:rPr>
              <a:t>In recent years, 14 projects worth Rs.199.82 Cr of acquisition of Land for construction of office building have been sanctioned</a:t>
            </a:r>
            <a:r>
              <a:rPr lang="en-US" sz="2400" dirty="0">
                <a:effectLst>
                  <a:outerShdw blurRad="50000" dist="30000" dir="5400000" algn="tl" rotWithShape="0">
                    <a:srgbClr val="000000">
                      <a:alpha val="30000"/>
                    </a:srgbClr>
                  </a:outerShdw>
                </a:effectLst>
                <a:cs typeface="Arial" charset="0"/>
              </a:rPr>
              <a:t>.</a:t>
            </a:r>
          </a:p>
          <a:p>
            <a:endParaRPr lang="en-US" dirty="0"/>
          </a:p>
        </p:txBody>
      </p:sp>
      <p:sp>
        <p:nvSpPr>
          <p:cNvPr id="5" name="Title 1">
            <a:extLst>
              <a:ext uri="{FF2B5EF4-FFF2-40B4-BE49-F238E27FC236}">
                <a16:creationId xmlns="" xmlns:a16="http://schemas.microsoft.com/office/drawing/2014/main" id="{DF37E133-EB95-428E-A388-A297A664CEEF}"/>
              </a:ext>
            </a:extLst>
          </p:cNvPr>
          <p:cNvSpPr txBox="1"/>
          <p:nvPr/>
        </p:nvSpPr>
        <p:spPr>
          <a:xfrm>
            <a:off x="1524000" y="152400"/>
            <a:ext cx="5715000" cy="609600"/>
          </a:xfrm>
          <a:prstGeom prst="rect">
            <a:avLst/>
          </a:prstGeom>
        </p:spPr>
        <p:style>
          <a:lnRef idx="1">
            <a:schemeClr val="accent1"/>
          </a:lnRef>
          <a:fillRef idx="2">
            <a:schemeClr val="accent1"/>
          </a:fillRef>
          <a:effectRef idx="1">
            <a:schemeClr val="accent1"/>
          </a:effectRef>
          <a:fontRef idx="minor">
            <a:schemeClr val="dk1"/>
          </a:fontRef>
        </p:style>
        <p:txBody>
          <a:bodyPr vert="horz" anchor="b">
            <a:normAutofit fontScale="85000" lnSpcReduction="10000"/>
          </a:bodyPr>
          <a:lstStyle/>
          <a:p>
            <a:pPr lvl="0" algn="ctr"/>
            <a:r>
              <a:rPr lang="en-IN" sz="3200" dirty="0"/>
              <a:t>CBIC Infrastructure-At a Glance</a:t>
            </a:r>
            <a:endParaRPr kumimoji="0" lang="en-IN" sz="3000" b="0" i="0" u="none" strike="noStrike" kern="1200" cap="small" spc="0" normalizeH="0" baseline="0" noProof="0" dirty="0">
              <a:ln>
                <a:noFill/>
              </a:ln>
              <a:solidFill>
                <a:schemeClr val="dk1"/>
              </a:solidFill>
              <a:effectLst/>
              <a:uLnTx/>
              <a:uFillTx/>
              <a:latin typeface="+mn-lt"/>
              <a:ea typeface="+mn-ea"/>
              <a:cs typeface="+mn-cs"/>
            </a:endParaRPr>
          </a:p>
        </p:txBody>
      </p:sp>
      <p:pic>
        <p:nvPicPr>
          <p:cNvPr id="6" name="Picture 5">
            <a:extLst>
              <a:ext uri="{FF2B5EF4-FFF2-40B4-BE49-F238E27FC236}">
                <a16:creationId xmlns="" xmlns:a16="http://schemas.microsoft.com/office/drawing/2014/main" id="{376CA229-DDD9-4E91-88D5-045CDA2A73AA}"/>
              </a:ext>
            </a:extLst>
          </p:cNvPr>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7391400" y="36419"/>
            <a:ext cx="1295400" cy="1505358"/>
          </a:xfrm>
          <a:prstGeom prst="rect">
            <a:avLst/>
          </a:prstGeom>
        </p:spPr>
      </p:pic>
    </p:spTree>
    <p:extLst>
      <p:ext uri="{BB962C8B-B14F-4D97-AF65-F5344CB8AC3E}">
        <p14:creationId xmlns="" xmlns:p14="http://schemas.microsoft.com/office/powerpoint/2010/main" val="14273686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15962"/>
          </a:xfrm>
        </p:spPr>
        <p:txBody>
          <a:bodyPr/>
          <a:lstStyle/>
          <a:p>
            <a:r>
              <a:rPr lang="en-US" b="1" dirty="0">
                <a:solidFill>
                  <a:schemeClr val="accent1">
                    <a:lumMod val="75000"/>
                  </a:schemeClr>
                </a:solidFill>
              </a:rPr>
              <a:t>Ongoing Construction projects</a:t>
            </a:r>
          </a:p>
        </p:txBody>
      </p:sp>
      <p:sp>
        <p:nvSpPr>
          <p:cNvPr id="4" name="Slide Number Placeholder 3"/>
          <p:cNvSpPr>
            <a:spLocks noGrp="1"/>
          </p:cNvSpPr>
          <p:nvPr>
            <p:ph type="sldNum" sz="quarter" idx="4294967295"/>
          </p:nvPr>
        </p:nvSpPr>
        <p:spPr>
          <a:xfrm>
            <a:off x="8129588" y="5734050"/>
            <a:ext cx="609600" cy="520700"/>
          </a:xfrm>
          <a:prstGeom prst="rect">
            <a:avLst/>
          </a:prstGeom>
        </p:spPr>
        <p:txBody>
          <a:bodyPr/>
          <a:lstStyle/>
          <a:p>
            <a:pPr>
              <a:defRPr/>
            </a:pPr>
            <a:fld id="{181638C1-C0B2-41A8-841A-28BC72D73AAF}" type="slidenum">
              <a:rPr lang="en-IN" smtClean="0"/>
              <a:pPr>
                <a:defRPr/>
              </a:pPr>
              <a:t>5</a:t>
            </a:fld>
            <a:endParaRPr lang="en-IN"/>
          </a:p>
        </p:txBody>
      </p:sp>
      <p:sp>
        <p:nvSpPr>
          <p:cNvPr id="5" name="Footer Placeholder 4"/>
          <p:cNvSpPr>
            <a:spLocks noGrp="1"/>
          </p:cNvSpPr>
          <p:nvPr>
            <p:ph type="ftr" sz="quarter" idx="4294967295"/>
          </p:nvPr>
        </p:nvSpPr>
        <p:spPr>
          <a:xfrm rot="5400000">
            <a:off x="6989763" y="3736975"/>
            <a:ext cx="3200400" cy="365125"/>
          </a:xfrm>
          <a:prstGeom prst="rect">
            <a:avLst/>
          </a:prstGeom>
        </p:spPr>
        <p:txBody>
          <a:bodyPr/>
          <a:lstStyle/>
          <a:p>
            <a:pPr>
              <a:defRPr/>
            </a:pPr>
            <a:r>
              <a:rPr lang="en-IN"/>
              <a:t>DGHRD-CBIC</a:t>
            </a:r>
          </a:p>
        </p:txBody>
      </p:sp>
      <p:pic>
        <p:nvPicPr>
          <p:cNvPr id="3075" name="Picture 3" descr="C:\Users\new\Downloads\WhatsApp Image 2021-03-18 at 11.33.08.jpeg"/>
          <p:cNvPicPr>
            <a:picLocks noChangeAspect="1" noChangeArrowheads="1"/>
          </p:cNvPicPr>
          <p:nvPr/>
        </p:nvPicPr>
        <p:blipFill>
          <a:blip r:embed="rId2"/>
          <a:srcRect/>
          <a:stretch>
            <a:fillRect/>
          </a:stretch>
        </p:blipFill>
        <p:spPr bwMode="auto">
          <a:xfrm>
            <a:off x="914400" y="1295400"/>
            <a:ext cx="6827520" cy="4876800"/>
          </a:xfrm>
          <a:prstGeom prst="rect">
            <a:avLst/>
          </a:prstGeom>
          <a:noFill/>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p:nvPr/>
        </p:nvSpPr>
        <p:spPr>
          <a:xfrm>
            <a:off x="685800" y="5375029"/>
            <a:ext cx="8295323" cy="1047611"/>
          </a:xfrm>
          <a:prstGeom prst="rect">
            <a:avLst/>
          </a:prstGeom>
        </p:spPr>
        <p:txBody>
          <a:bodyPr vert="horz" lIns="68580" tIns="34290" rIns="68580" bIns="34290" rtlCol="0">
            <a:normAutofit/>
          </a:bodyPr>
          <a:lstStyle/>
          <a:p>
            <a:pPr marL="342900" marR="0" lvl="0" indent="-342900" algn="l" defTabSz="457200" rtl="0" eaLnBrk="1" fontAlgn="auto" latinLnBrk="0" hangingPunct="1">
              <a:lnSpc>
                <a:spcPct val="100000"/>
              </a:lnSpc>
              <a:spcBef>
                <a:spcPts val="1000"/>
              </a:spcBef>
              <a:spcAft>
                <a:spcPts val="0"/>
              </a:spcAft>
              <a:buClr>
                <a:schemeClr val="accent1"/>
              </a:buClr>
              <a:buSzPct val="80000"/>
              <a:buFont typeface="Wingdings 3"/>
              <a:buChar char=""/>
              <a:defRPr/>
            </a:pPr>
            <a:endParaRPr kumimoji="0" lang="en-US" sz="1350" b="0" i="0" u="none" strike="noStrike" kern="1200" cap="none" spc="0" normalizeH="0" baseline="0" noProof="0" dirty="0">
              <a:ln>
                <a:noFill/>
              </a:ln>
              <a:solidFill>
                <a:schemeClr val="tx1">
                  <a:lumMod val="75000"/>
                  <a:lumOff val="25000"/>
                </a:schemeClr>
              </a:solidFill>
              <a:effectLst/>
              <a:uLnTx/>
              <a:uFillTx/>
              <a:latin typeface="+mn-lt"/>
              <a:ea typeface="+mn-ea"/>
              <a:cs typeface="+mn-cs"/>
            </a:endParaRPr>
          </a:p>
        </p:txBody>
      </p:sp>
      <p:sp>
        <p:nvSpPr>
          <p:cNvPr id="4" name="Slide Number Placeholder 3"/>
          <p:cNvSpPr>
            <a:spLocks noGrp="1"/>
          </p:cNvSpPr>
          <p:nvPr>
            <p:ph type="sldNum" sz="quarter" idx="4294967295"/>
          </p:nvPr>
        </p:nvSpPr>
        <p:spPr>
          <a:xfrm>
            <a:off x="7966710" y="5713468"/>
            <a:ext cx="609600" cy="563121"/>
          </a:xfrm>
          <a:prstGeom prst="rect">
            <a:avLst/>
          </a:prstGeom>
        </p:spPr>
        <p:txBody>
          <a:bodyPr/>
          <a:lstStyle/>
          <a:p>
            <a:pPr>
              <a:defRPr/>
            </a:pPr>
            <a:fld id="{181638C1-C0B2-41A8-841A-28BC72D73AAF}" type="slidenum">
              <a:rPr lang="en-IN"/>
              <a:pPr>
                <a:defRPr/>
              </a:pPr>
              <a:t>6</a:t>
            </a:fld>
            <a:endParaRPr lang="en-IN"/>
          </a:p>
        </p:txBody>
      </p:sp>
      <p:sp>
        <p:nvSpPr>
          <p:cNvPr id="7" name="Footer Placeholder 6"/>
          <p:cNvSpPr>
            <a:spLocks noGrp="1"/>
          </p:cNvSpPr>
          <p:nvPr>
            <p:ph type="ftr" sz="quarter" idx="4294967295"/>
          </p:nvPr>
        </p:nvSpPr>
        <p:spPr>
          <a:xfrm rot="5400000">
            <a:off x="6696520" y="3628449"/>
            <a:ext cx="3461130" cy="365125"/>
          </a:xfrm>
          <a:prstGeom prst="rect">
            <a:avLst/>
          </a:prstGeom>
        </p:spPr>
        <p:txBody>
          <a:bodyPr/>
          <a:lstStyle/>
          <a:p>
            <a:pPr>
              <a:defRPr/>
            </a:pPr>
            <a:r>
              <a:rPr lang="en-IN"/>
              <a:t>DGHRD-CBIC</a:t>
            </a:r>
          </a:p>
        </p:txBody>
      </p:sp>
      <p:sp>
        <p:nvSpPr>
          <p:cNvPr id="8" name="Title 1"/>
          <p:cNvSpPr txBox="1"/>
          <p:nvPr/>
        </p:nvSpPr>
        <p:spPr>
          <a:xfrm>
            <a:off x="1316356" y="19050"/>
            <a:ext cx="5638800" cy="659263"/>
          </a:xfrm>
          <a:prstGeom prst="rect">
            <a:avLst/>
          </a:prstGeom>
        </p:spPr>
        <p:style>
          <a:lnRef idx="1">
            <a:schemeClr val="accent1"/>
          </a:lnRef>
          <a:fillRef idx="2">
            <a:schemeClr val="accent1"/>
          </a:fillRef>
          <a:effectRef idx="1">
            <a:schemeClr val="accent1"/>
          </a:effectRef>
          <a:fontRef idx="minor">
            <a:schemeClr val="dk1"/>
          </a:fontRef>
        </p:style>
        <p:txBody>
          <a:bodyPr vert="horz" anchor="b">
            <a:normAutofit/>
          </a:bodyPr>
          <a:lstStyle/>
          <a:p>
            <a:pPr lvl="0" algn="ctr"/>
            <a:r>
              <a:rPr lang="en-IN" sz="3200" dirty="0"/>
              <a:t>Major Construction Projects</a:t>
            </a:r>
            <a:endParaRPr kumimoji="0" lang="en-IN" sz="3000" b="0" i="0" u="none" strike="noStrike" kern="1200" cap="small" spc="0" normalizeH="0" baseline="0" noProof="0" dirty="0">
              <a:ln>
                <a:noFill/>
              </a:ln>
              <a:solidFill>
                <a:schemeClr val="dk1"/>
              </a:solidFill>
              <a:effectLst/>
              <a:uLnTx/>
              <a:uFillTx/>
              <a:latin typeface="+mn-lt"/>
              <a:ea typeface="+mn-ea"/>
              <a:cs typeface="+mn-cs"/>
            </a:endParaRPr>
          </a:p>
        </p:txBody>
      </p:sp>
      <p:graphicFrame>
        <p:nvGraphicFramePr>
          <p:cNvPr id="11" name="Table 10"/>
          <p:cNvGraphicFramePr>
            <a:graphicFrameLocks noGrp="1"/>
          </p:cNvGraphicFramePr>
          <p:nvPr>
            <p:extLst>
              <p:ext uri="{D42A27DB-BD31-4B8C-83A1-F6EECF244321}">
                <p14:modId xmlns="" xmlns:p14="http://schemas.microsoft.com/office/powerpoint/2010/main" val="2254216286"/>
              </p:ext>
            </p:extLst>
          </p:nvPr>
        </p:nvGraphicFramePr>
        <p:xfrm>
          <a:off x="304801" y="914400"/>
          <a:ext cx="8381999" cy="5745926"/>
        </p:xfrm>
        <a:graphic>
          <a:graphicData uri="http://schemas.openxmlformats.org/drawingml/2006/table">
            <a:tbl>
              <a:tblPr firstRow="1" bandRow="1">
                <a:tableStyleId>{5C22544A-7EE6-4342-B048-85BDC9FD1C3A}</a:tableStyleId>
              </a:tblPr>
              <a:tblGrid>
                <a:gridCol w="723999">
                  <a:extLst>
                    <a:ext uri="{9D8B030D-6E8A-4147-A177-3AD203B41FA5}">
                      <a16:colId xmlns="" xmlns:a16="http://schemas.microsoft.com/office/drawing/2014/main" val="20000"/>
                    </a:ext>
                  </a:extLst>
                </a:gridCol>
                <a:gridCol w="1933339">
                  <a:extLst>
                    <a:ext uri="{9D8B030D-6E8A-4147-A177-3AD203B41FA5}">
                      <a16:colId xmlns="" xmlns:a16="http://schemas.microsoft.com/office/drawing/2014/main" val="20001"/>
                    </a:ext>
                  </a:extLst>
                </a:gridCol>
                <a:gridCol w="1619085">
                  <a:extLst>
                    <a:ext uri="{9D8B030D-6E8A-4147-A177-3AD203B41FA5}">
                      <a16:colId xmlns="" xmlns:a16="http://schemas.microsoft.com/office/drawing/2014/main" val="20002"/>
                    </a:ext>
                  </a:extLst>
                </a:gridCol>
                <a:gridCol w="2009450">
                  <a:extLst>
                    <a:ext uri="{9D8B030D-6E8A-4147-A177-3AD203B41FA5}">
                      <a16:colId xmlns="" xmlns:a16="http://schemas.microsoft.com/office/drawing/2014/main" val="20003"/>
                    </a:ext>
                  </a:extLst>
                </a:gridCol>
                <a:gridCol w="2096126">
                  <a:extLst>
                    <a:ext uri="{9D8B030D-6E8A-4147-A177-3AD203B41FA5}">
                      <a16:colId xmlns="" xmlns:a16="http://schemas.microsoft.com/office/drawing/2014/main" val="20004"/>
                    </a:ext>
                  </a:extLst>
                </a:gridCol>
              </a:tblGrid>
              <a:tr h="680119">
                <a:tc>
                  <a:txBody>
                    <a:bodyPr/>
                    <a:lstStyle/>
                    <a:p>
                      <a:pPr algn="ctr"/>
                      <a:r>
                        <a:rPr lang="en-US" sz="1600" dirty="0" err="1"/>
                        <a:t>S.No</a:t>
                      </a:r>
                      <a:r>
                        <a:rPr lang="en-US" sz="1600" dirty="0"/>
                        <a:t>.</a:t>
                      </a:r>
                    </a:p>
                  </a:txBody>
                  <a:tcPr marL="76188" marR="76188" marT="38094" marB="38094"/>
                </a:tc>
                <a:tc>
                  <a:txBody>
                    <a:bodyPr/>
                    <a:lstStyle/>
                    <a:p>
                      <a:pPr algn="ctr"/>
                      <a:r>
                        <a:rPr lang="en-US" sz="1600" dirty="0"/>
                        <a:t>Project Location</a:t>
                      </a:r>
                    </a:p>
                  </a:txBody>
                  <a:tcPr marL="76188" marR="76188" marT="38094" marB="38094"/>
                </a:tc>
                <a:tc>
                  <a:txBody>
                    <a:bodyPr/>
                    <a:lstStyle/>
                    <a:p>
                      <a:pPr algn="ctr"/>
                      <a:r>
                        <a:rPr lang="en-US" sz="1600" dirty="0"/>
                        <a:t>Office/Residential</a:t>
                      </a:r>
                    </a:p>
                  </a:txBody>
                  <a:tcPr marL="76188" marR="76188" marT="38094" marB="38094"/>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dirty="0"/>
                        <a:t>Type</a:t>
                      </a:r>
                      <a:r>
                        <a:rPr lang="en-US" sz="1600" baseline="0" dirty="0"/>
                        <a:t> Wise Quarters/ Office space</a:t>
                      </a:r>
                      <a:endParaRPr lang="en-US" sz="1600" dirty="0"/>
                    </a:p>
                    <a:p>
                      <a:pPr algn="ctr"/>
                      <a:endParaRPr lang="en-US" sz="1600" dirty="0"/>
                    </a:p>
                  </a:txBody>
                  <a:tcPr marL="76188" marR="76188" marT="38094" marB="38094"/>
                </a:tc>
                <a:tc>
                  <a:txBody>
                    <a:bodyPr/>
                    <a:lstStyle/>
                    <a:p>
                      <a:pPr algn="ctr"/>
                      <a:r>
                        <a:rPr lang="en-US" sz="1600" dirty="0"/>
                        <a:t>Project Cost </a:t>
                      </a:r>
                    </a:p>
                  </a:txBody>
                  <a:tcPr marL="76188" marR="76188" marT="38094" marB="38094"/>
                </a:tc>
                <a:extLst>
                  <a:ext uri="{0D108BD9-81ED-4DB2-BD59-A6C34878D82A}">
                    <a16:rowId xmlns="" xmlns:a16="http://schemas.microsoft.com/office/drawing/2014/main" val="10000"/>
                  </a:ext>
                </a:extLst>
              </a:tr>
              <a:tr h="1812642">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dirty="0"/>
                        <a:t>1</a:t>
                      </a:r>
                    </a:p>
                  </a:txBody>
                  <a:tcPr marL="76188" marR="76188" marT="38094" marB="38094"/>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err="1"/>
                        <a:t>Wadala</a:t>
                      </a:r>
                      <a:r>
                        <a:rPr lang="en-US" sz="1600" dirty="0"/>
                        <a:t>, Mumbai</a:t>
                      </a:r>
                    </a:p>
                  </a:txBody>
                  <a:tcPr marL="76188" marR="76188" marT="38094" marB="38094"/>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dirty="0"/>
                        <a:t>Office</a:t>
                      </a:r>
                      <a:r>
                        <a:rPr lang="en-US" sz="1600" baseline="0" dirty="0"/>
                        <a:t> &amp; </a:t>
                      </a:r>
                      <a:r>
                        <a:rPr lang="en-US" sz="1600" dirty="0"/>
                        <a:t>Residential</a:t>
                      </a:r>
                    </a:p>
                  </a:txBody>
                  <a:tcPr marL="76188" marR="76188" marT="38094" marB="38094"/>
                </a:tc>
                <a:tc>
                  <a:txBody>
                    <a:bodyPr/>
                    <a:lstStyle/>
                    <a:p>
                      <a:pPr algn="ctr"/>
                      <a:r>
                        <a:rPr lang="en-US" sz="1600" b="1" u="sng" dirty="0"/>
                        <a:t>Total</a:t>
                      </a:r>
                      <a:r>
                        <a:rPr lang="en-US" sz="1600" b="1" u="sng" baseline="0" dirty="0"/>
                        <a:t>– 769 </a:t>
                      </a:r>
                    </a:p>
                    <a:p>
                      <a:pPr algn="ctr"/>
                      <a:r>
                        <a:rPr lang="en-US" sz="1600" dirty="0"/>
                        <a:t>Type II to VII – </a:t>
                      </a:r>
                      <a:endParaRPr lang="en-US" sz="1600" u="none" baseline="0" dirty="0"/>
                    </a:p>
                    <a:p>
                      <a:pPr algn="ctr"/>
                      <a:r>
                        <a:rPr lang="en-US" sz="1600" u="none" baseline="0" dirty="0"/>
                        <a:t>Office Area – 30,000 </a:t>
                      </a:r>
                      <a:r>
                        <a:rPr lang="en-US" sz="1600" u="none" baseline="0" dirty="0" err="1"/>
                        <a:t>Sq.Mtrs</a:t>
                      </a:r>
                      <a:r>
                        <a:rPr lang="en-US" sz="1600" u="none" baseline="0" dirty="0"/>
                        <a:t>.</a:t>
                      </a:r>
                      <a:endParaRPr lang="en-US" sz="1600" u="none" dirty="0"/>
                    </a:p>
                  </a:txBody>
                  <a:tcPr marL="76188" marR="76188" marT="38094" marB="38094"/>
                </a:tc>
                <a:tc>
                  <a:txBody>
                    <a:bodyPr/>
                    <a:lstStyle/>
                    <a:p>
                      <a:pPr algn="ctr"/>
                      <a:r>
                        <a:rPr lang="en-US" sz="1600" dirty="0"/>
                        <a:t>Rs. 975.41 Cr.</a:t>
                      </a:r>
                    </a:p>
                  </a:txBody>
                  <a:tcPr marL="76188" marR="76188" marT="38094" marB="38094"/>
                </a:tc>
                <a:extLst>
                  <a:ext uri="{0D108BD9-81ED-4DB2-BD59-A6C34878D82A}">
                    <a16:rowId xmlns="" xmlns:a16="http://schemas.microsoft.com/office/drawing/2014/main" val="10001"/>
                  </a:ext>
                </a:extLst>
              </a:tr>
              <a:tr h="680119">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dirty="0"/>
                        <a:t>2</a:t>
                      </a:r>
                    </a:p>
                  </a:txBody>
                  <a:tcPr marL="76188" marR="76188" marT="38094" marB="38094"/>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t>New NACIN Complex, </a:t>
                      </a:r>
                      <a:r>
                        <a:rPr lang="en-US" sz="1600" dirty="0" err="1"/>
                        <a:t>Hindupur</a:t>
                      </a:r>
                      <a:r>
                        <a:rPr lang="en-US" sz="1600" dirty="0"/>
                        <a:t>, A.P</a:t>
                      </a:r>
                    </a:p>
                  </a:txBody>
                  <a:tcPr marL="76188" marR="76188" marT="38094" marB="38094"/>
                </a:tc>
                <a:tc>
                  <a:txBody>
                    <a:bodyPr/>
                    <a:lstStyle/>
                    <a:p>
                      <a:pPr algn="ctr"/>
                      <a:r>
                        <a:rPr lang="en-US" sz="1600" baseline="0" dirty="0"/>
                        <a:t>Academy (500 Acres)</a:t>
                      </a:r>
                      <a:endParaRPr lang="en-US" sz="1600" dirty="0"/>
                    </a:p>
                  </a:txBody>
                  <a:tcPr marL="76188" marR="76188" marT="38094" marB="38094"/>
                </a:tc>
                <a:tc>
                  <a:txBody>
                    <a:bodyPr/>
                    <a:lstStyle/>
                    <a:p>
                      <a:pPr algn="ctr"/>
                      <a:r>
                        <a:rPr lang="en-US" sz="1600" dirty="0"/>
                        <a:t>500 Acres</a:t>
                      </a:r>
                    </a:p>
                  </a:txBody>
                  <a:tcPr marL="76188" marR="76188" marT="38094" marB="38094"/>
                </a:tc>
                <a:tc>
                  <a:txBody>
                    <a:bodyPr/>
                    <a:lstStyle/>
                    <a:p>
                      <a:pPr algn="ctr"/>
                      <a:r>
                        <a:rPr lang="en-US" sz="1600" dirty="0"/>
                        <a:t>Rs.</a:t>
                      </a:r>
                      <a:r>
                        <a:rPr lang="en-US" sz="1600" baseline="0" dirty="0"/>
                        <a:t> 763.04 Cr.</a:t>
                      </a:r>
                      <a:endParaRPr lang="en-US" sz="1600" dirty="0"/>
                    </a:p>
                  </a:txBody>
                  <a:tcPr marL="76188" marR="76188" marT="38094" marB="38094"/>
                </a:tc>
                <a:extLst>
                  <a:ext uri="{0D108BD9-81ED-4DB2-BD59-A6C34878D82A}">
                    <a16:rowId xmlns="" xmlns:a16="http://schemas.microsoft.com/office/drawing/2014/main" val="10002"/>
                  </a:ext>
                </a:extLst>
              </a:tr>
              <a:tr h="877000">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dirty="0"/>
                        <a:t>3</a:t>
                      </a:r>
                    </a:p>
                  </a:txBody>
                  <a:tcPr marL="76188" marR="76188" marT="38094" marB="38094"/>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err="1"/>
                        <a:t>Annanagar</a:t>
                      </a:r>
                      <a:r>
                        <a:rPr lang="en-US" sz="1600" dirty="0"/>
                        <a:t>, Chennai</a:t>
                      </a:r>
                    </a:p>
                  </a:txBody>
                  <a:tcPr marL="76188" marR="76188" marT="38094" marB="38094"/>
                </a:tc>
                <a:tc>
                  <a:txBody>
                    <a:bodyPr/>
                    <a:lstStyle/>
                    <a:p>
                      <a:pPr algn="ctr"/>
                      <a:r>
                        <a:rPr lang="en-US" sz="1600" dirty="0"/>
                        <a:t>Residential</a:t>
                      </a:r>
                    </a:p>
                  </a:txBody>
                  <a:tcPr marL="76188" marR="76188" marT="38094" marB="38094"/>
                </a:tc>
                <a:tc>
                  <a:txBody>
                    <a:bodyPr/>
                    <a:lstStyle/>
                    <a:p>
                      <a:pPr algn="ctr"/>
                      <a:r>
                        <a:rPr lang="en-US" sz="1600" b="1" u="sng" dirty="0"/>
                        <a:t>Total</a:t>
                      </a:r>
                      <a:r>
                        <a:rPr lang="en-US" sz="1600" b="1" u="sng" baseline="0" dirty="0"/>
                        <a:t>– 726</a:t>
                      </a:r>
                      <a:r>
                        <a:rPr lang="en-US" sz="1600" u="sng" baseline="0" dirty="0"/>
                        <a:t> </a:t>
                      </a:r>
                    </a:p>
                    <a:p>
                      <a:pPr algn="ctr"/>
                      <a:r>
                        <a:rPr lang="en-US" sz="1600" dirty="0"/>
                        <a:t>Type II to IV</a:t>
                      </a:r>
                      <a:endParaRPr lang="en-US" sz="1600" u="none" dirty="0"/>
                    </a:p>
                  </a:txBody>
                  <a:tcPr marL="76188" marR="76188" marT="38094" marB="38094"/>
                </a:tc>
                <a:tc>
                  <a:txBody>
                    <a:bodyPr/>
                    <a:lstStyle/>
                    <a:p>
                      <a:pPr algn="ctr"/>
                      <a:r>
                        <a:rPr lang="en-US" sz="1600" dirty="0"/>
                        <a:t>Rs. 348.77 Cr.</a:t>
                      </a:r>
                    </a:p>
                  </a:txBody>
                  <a:tcPr marL="76188" marR="76188" marT="38094" marB="38094"/>
                </a:tc>
                <a:extLst>
                  <a:ext uri="{0D108BD9-81ED-4DB2-BD59-A6C34878D82A}">
                    <a16:rowId xmlns="" xmlns:a16="http://schemas.microsoft.com/office/drawing/2014/main" val="10003"/>
                  </a:ext>
                </a:extLst>
              </a:tr>
              <a:tr h="877000">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dirty="0"/>
                        <a:t>4</a:t>
                      </a:r>
                    </a:p>
                  </a:txBody>
                  <a:tcPr marL="76188" marR="76188" marT="38094" marB="38094"/>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t>Dwarka, Delhi</a:t>
                      </a:r>
                    </a:p>
                  </a:txBody>
                  <a:tcPr marL="76188" marR="76188" marT="38094" marB="38094"/>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dirty="0"/>
                        <a:t>Residential</a:t>
                      </a:r>
                    </a:p>
                  </a:txBody>
                  <a:tcPr marL="76188" marR="76188" marT="38094" marB="38094"/>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600" b="1" u="sng" kern="1200" dirty="0">
                          <a:solidFill>
                            <a:schemeClr val="dk1"/>
                          </a:solidFill>
                          <a:latin typeface="+mn-lt"/>
                          <a:ea typeface="+mn-ea"/>
                          <a:cs typeface="+mn-cs"/>
                        </a:rPr>
                        <a:t>Total– 256</a:t>
                      </a:r>
                    </a:p>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600" kern="1200" dirty="0">
                          <a:solidFill>
                            <a:schemeClr val="dk1"/>
                          </a:solidFill>
                          <a:latin typeface="+mn-lt"/>
                          <a:ea typeface="+mn-ea"/>
                          <a:cs typeface="+mn-cs"/>
                        </a:rPr>
                        <a:t>Type IV to VI</a:t>
                      </a:r>
                      <a:endParaRPr lang="en-US" sz="1600" u="none" dirty="0"/>
                    </a:p>
                  </a:txBody>
                  <a:tcPr marL="76188" marR="76188" marT="38094" marB="38094"/>
                </a:tc>
                <a:tc>
                  <a:txBody>
                    <a:bodyPr/>
                    <a:lstStyle/>
                    <a:p>
                      <a:pPr algn="ctr"/>
                      <a:r>
                        <a:rPr lang="en-US" sz="1600" dirty="0"/>
                        <a:t>Rs. 227 Cr.</a:t>
                      </a:r>
                    </a:p>
                  </a:txBody>
                  <a:tcPr marL="76188" marR="76188" marT="38094" marB="38094"/>
                </a:tc>
                <a:extLst>
                  <a:ext uri="{0D108BD9-81ED-4DB2-BD59-A6C34878D82A}">
                    <a16:rowId xmlns="" xmlns:a16="http://schemas.microsoft.com/office/drawing/2014/main" val="10004"/>
                  </a:ext>
                </a:extLst>
              </a:tr>
              <a:tr h="319861">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dirty="0"/>
                        <a:t>5</a:t>
                      </a:r>
                    </a:p>
                  </a:txBody>
                  <a:tcPr marL="76188" marR="76188" marT="38094" marB="38094"/>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t>Ghaziabad, U.P</a:t>
                      </a:r>
                    </a:p>
                  </a:txBody>
                  <a:tcPr marL="76188" marR="76188" marT="38094" marB="38094"/>
                </a:tc>
                <a:tc>
                  <a:txBody>
                    <a:bodyPr/>
                    <a:lstStyle/>
                    <a:p>
                      <a:pPr algn="ctr"/>
                      <a:r>
                        <a:rPr lang="en-US" sz="1600" dirty="0"/>
                        <a:t>Office</a:t>
                      </a:r>
                    </a:p>
                  </a:txBody>
                  <a:tcPr marL="76188" marR="76188" marT="38094" marB="38094"/>
                </a:tc>
                <a:tc>
                  <a:txBody>
                    <a:bodyPr/>
                    <a:lstStyle/>
                    <a:p>
                      <a:pPr algn="ctr"/>
                      <a:r>
                        <a:rPr lang="en-US" sz="1600" dirty="0"/>
                        <a:t>8658.01 Sq.</a:t>
                      </a:r>
                      <a:r>
                        <a:rPr lang="en-US" sz="1600" baseline="0" dirty="0"/>
                        <a:t> </a:t>
                      </a:r>
                      <a:r>
                        <a:rPr lang="en-US" sz="1600" baseline="0" dirty="0" err="1"/>
                        <a:t>Mtrs</a:t>
                      </a:r>
                      <a:endParaRPr lang="en-US" sz="1600" dirty="0"/>
                    </a:p>
                  </a:txBody>
                  <a:tcPr marL="76188" marR="76188" marT="38094" marB="38094"/>
                </a:tc>
                <a:tc>
                  <a:txBody>
                    <a:bodyPr/>
                    <a:lstStyle/>
                    <a:p>
                      <a:pPr algn="ctr"/>
                      <a:r>
                        <a:rPr lang="en-US" sz="1600" dirty="0"/>
                        <a:t>Rs. 116.42 Cr.</a:t>
                      </a:r>
                    </a:p>
                  </a:txBody>
                  <a:tcPr marL="76188" marR="76188" marT="38094" marB="38094"/>
                </a:tc>
                <a:extLst>
                  <a:ext uri="{0D108BD9-81ED-4DB2-BD59-A6C34878D82A}">
                    <a16:rowId xmlns="" xmlns:a16="http://schemas.microsoft.com/office/drawing/2014/main" val="10005"/>
                  </a:ext>
                </a:extLst>
              </a:tr>
            </a:tbl>
          </a:graphicData>
        </a:graphic>
      </p:graphicFrame>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8129588" y="5734050"/>
            <a:ext cx="609600" cy="520700"/>
          </a:xfrm>
          <a:prstGeom prst="rect">
            <a:avLst/>
          </a:prstGeom>
        </p:spPr>
        <p:txBody>
          <a:bodyPr/>
          <a:lstStyle/>
          <a:p>
            <a:pPr>
              <a:defRPr/>
            </a:pPr>
            <a:fld id="{181638C1-C0B2-41A8-841A-28BC72D73AAF}" type="slidenum">
              <a:rPr lang="en-IN" smtClean="0"/>
              <a:pPr>
                <a:defRPr/>
              </a:pPr>
              <a:t>7</a:t>
            </a:fld>
            <a:endParaRPr lang="en-IN"/>
          </a:p>
        </p:txBody>
      </p:sp>
      <p:sp>
        <p:nvSpPr>
          <p:cNvPr id="5" name="Footer Placeholder 4"/>
          <p:cNvSpPr>
            <a:spLocks noGrp="1"/>
          </p:cNvSpPr>
          <p:nvPr>
            <p:ph type="ftr" sz="quarter" idx="4294967295"/>
          </p:nvPr>
        </p:nvSpPr>
        <p:spPr>
          <a:xfrm rot="5400000">
            <a:off x="6989763" y="3736975"/>
            <a:ext cx="3200400" cy="365125"/>
          </a:xfrm>
          <a:prstGeom prst="rect">
            <a:avLst/>
          </a:prstGeom>
        </p:spPr>
        <p:txBody>
          <a:bodyPr/>
          <a:lstStyle/>
          <a:p>
            <a:pPr>
              <a:defRPr/>
            </a:pPr>
            <a:r>
              <a:rPr lang="en-IN"/>
              <a:t>DGHRD-CBIC</a:t>
            </a:r>
          </a:p>
        </p:txBody>
      </p:sp>
      <p:graphicFrame>
        <p:nvGraphicFramePr>
          <p:cNvPr id="6" name="Table 5"/>
          <p:cNvGraphicFramePr>
            <a:graphicFrameLocks noGrp="1"/>
          </p:cNvGraphicFramePr>
          <p:nvPr>
            <p:extLst>
              <p:ext uri="{D42A27DB-BD31-4B8C-83A1-F6EECF244321}">
                <p14:modId xmlns="" xmlns:p14="http://schemas.microsoft.com/office/powerpoint/2010/main" val="1249827724"/>
              </p:ext>
            </p:extLst>
          </p:nvPr>
        </p:nvGraphicFramePr>
        <p:xfrm>
          <a:off x="371474" y="1066800"/>
          <a:ext cx="8315327" cy="5752819"/>
        </p:xfrm>
        <a:graphic>
          <a:graphicData uri="http://schemas.openxmlformats.org/drawingml/2006/table">
            <a:tbl>
              <a:tblPr firstRow="1" bandRow="1">
                <a:tableStyleId>{5C22544A-7EE6-4342-B048-85BDC9FD1C3A}</a:tableStyleId>
              </a:tblPr>
              <a:tblGrid>
                <a:gridCol w="725746">
                  <a:extLst>
                    <a:ext uri="{9D8B030D-6E8A-4147-A177-3AD203B41FA5}">
                      <a16:colId xmlns="" xmlns:a16="http://schemas.microsoft.com/office/drawing/2014/main" val="20000"/>
                    </a:ext>
                  </a:extLst>
                </a:gridCol>
                <a:gridCol w="1938003">
                  <a:extLst>
                    <a:ext uri="{9D8B030D-6E8A-4147-A177-3AD203B41FA5}">
                      <a16:colId xmlns="" xmlns:a16="http://schemas.microsoft.com/office/drawing/2014/main" val="20001"/>
                    </a:ext>
                  </a:extLst>
                </a:gridCol>
                <a:gridCol w="1622990">
                  <a:extLst>
                    <a:ext uri="{9D8B030D-6E8A-4147-A177-3AD203B41FA5}">
                      <a16:colId xmlns="" xmlns:a16="http://schemas.microsoft.com/office/drawing/2014/main" val="20002"/>
                    </a:ext>
                  </a:extLst>
                </a:gridCol>
                <a:gridCol w="2014294">
                  <a:extLst>
                    <a:ext uri="{9D8B030D-6E8A-4147-A177-3AD203B41FA5}">
                      <a16:colId xmlns="" xmlns:a16="http://schemas.microsoft.com/office/drawing/2014/main" val="20003"/>
                    </a:ext>
                  </a:extLst>
                </a:gridCol>
                <a:gridCol w="2014294">
                  <a:extLst>
                    <a:ext uri="{9D8B030D-6E8A-4147-A177-3AD203B41FA5}">
                      <a16:colId xmlns="" xmlns:a16="http://schemas.microsoft.com/office/drawing/2014/main" val="20004"/>
                    </a:ext>
                  </a:extLst>
                </a:gridCol>
              </a:tblGrid>
              <a:tr h="795639">
                <a:tc>
                  <a:txBody>
                    <a:bodyPr/>
                    <a:lstStyle/>
                    <a:p>
                      <a:pPr algn="ctr"/>
                      <a:r>
                        <a:rPr lang="en-US" sz="1600" dirty="0" err="1"/>
                        <a:t>S.No</a:t>
                      </a:r>
                      <a:r>
                        <a:rPr lang="en-US" sz="1600" dirty="0"/>
                        <a:t>.</a:t>
                      </a:r>
                    </a:p>
                  </a:txBody>
                  <a:tcPr marL="76188" marR="76188" marT="38094" marB="38094"/>
                </a:tc>
                <a:tc>
                  <a:txBody>
                    <a:bodyPr/>
                    <a:lstStyle/>
                    <a:p>
                      <a:pPr algn="ctr"/>
                      <a:r>
                        <a:rPr lang="en-US" sz="1600" dirty="0"/>
                        <a:t>Project Location</a:t>
                      </a:r>
                    </a:p>
                  </a:txBody>
                  <a:tcPr marL="76188" marR="76188" marT="38094" marB="38094"/>
                </a:tc>
                <a:tc>
                  <a:txBody>
                    <a:bodyPr/>
                    <a:lstStyle/>
                    <a:p>
                      <a:pPr algn="ctr"/>
                      <a:r>
                        <a:rPr lang="en-US" sz="1600" dirty="0"/>
                        <a:t>Office/Residential</a:t>
                      </a:r>
                    </a:p>
                  </a:txBody>
                  <a:tcPr marL="76188" marR="76188" marT="38094" marB="38094"/>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dirty="0"/>
                        <a:t>Type</a:t>
                      </a:r>
                      <a:r>
                        <a:rPr lang="en-US" sz="1600" baseline="0" dirty="0"/>
                        <a:t> Wise Quarters/ Office space</a:t>
                      </a:r>
                      <a:endParaRPr lang="en-US" sz="1600" dirty="0"/>
                    </a:p>
                    <a:p>
                      <a:pPr algn="ctr"/>
                      <a:endParaRPr lang="en-US" sz="1600" dirty="0"/>
                    </a:p>
                  </a:txBody>
                  <a:tcPr marL="76188" marR="76188" marT="38094" marB="38094"/>
                </a:tc>
                <a:tc>
                  <a:txBody>
                    <a:bodyPr/>
                    <a:lstStyle/>
                    <a:p>
                      <a:pPr algn="ctr"/>
                      <a:r>
                        <a:rPr lang="en-US" sz="1600" dirty="0"/>
                        <a:t>Project Cost </a:t>
                      </a:r>
                    </a:p>
                  </a:txBody>
                  <a:tcPr marL="76188" marR="76188" marT="38094" marB="38094"/>
                </a:tc>
                <a:extLst>
                  <a:ext uri="{0D108BD9-81ED-4DB2-BD59-A6C34878D82A}">
                    <a16:rowId xmlns="" xmlns:a16="http://schemas.microsoft.com/office/drawing/2014/main" val="10000"/>
                  </a:ext>
                </a:extLst>
              </a:tr>
              <a:tr h="624852">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dirty="0"/>
                        <a:t>6</a:t>
                      </a:r>
                    </a:p>
                  </a:txBody>
                  <a:tcPr marL="76188" marR="76188" marT="38094" marB="38094"/>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err="1"/>
                        <a:t>Kharghar</a:t>
                      </a:r>
                      <a:r>
                        <a:rPr lang="en-US" sz="1600" dirty="0"/>
                        <a:t>, Mumbai</a:t>
                      </a:r>
                    </a:p>
                  </a:txBody>
                  <a:tcPr marL="76188" marR="76188" marT="38094" marB="38094"/>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dirty="0"/>
                        <a:t>Residential</a:t>
                      </a:r>
                    </a:p>
                  </a:txBody>
                  <a:tcPr marL="76188" marR="76188" marT="38094" marB="38094"/>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600" b="1" u="sng" kern="1200" dirty="0">
                          <a:solidFill>
                            <a:schemeClr val="dk1"/>
                          </a:solidFill>
                          <a:latin typeface="+mn-lt"/>
                          <a:ea typeface="+mn-ea"/>
                          <a:cs typeface="+mn-cs"/>
                        </a:rPr>
                        <a:t>Total– 187</a:t>
                      </a:r>
                    </a:p>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600" kern="1200" dirty="0">
                          <a:solidFill>
                            <a:schemeClr val="dk1"/>
                          </a:solidFill>
                          <a:latin typeface="+mn-lt"/>
                          <a:ea typeface="+mn-ea"/>
                          <a:cs typeface="+mn-cs"/>
                        </a:rPr>
                        <a:t>Type II to VI</a:t>
                      </a:r>
                      <a:endParaRPr lang="en-US" sz="1600" dirty="0"/>
                    </a:p>
                  </a:txBody>
                  <a:tcPr marL="76188" marR="76188" marT="38094" marB="38094"/>
                </a:tc>
                <a:tc>
                  <a:txBody>
                    <a:bodyPr/>
                    <a:lstStyle/>
                    <a:p>
                      <a:pPr algn="ctr"/>
                      <a:r>
                        <a:rPr lang="en-US" sz="1600" dirty="0"/>
                        <a:t>Rs. 110.11 Cr.</a:t>
                      </a:r>
                    </a:p>
                  </a:txBody>
                  <a:tcPr marL="76188" marR="76188" marT="38094" marB="38094"/>
                </a:tc>
                <a:extLst>
                  <a:ext uri="{0D108BD9-81ED-4DB2-BD59-A6C34878D82A}">
                    <a16:rowId xmlns="" xmlns:a16="http://schemas.microsoft.com/office/drawing/2014/main" val="10001"/>
                  </a:ext>
                </a:extLst>
              </a:tr>
              <a:tr h="617023">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dirty="0"/>
                        <a:t>7</a:t>
                      </a:r>
                    </a:p>
                  </a:txBody>
                  <a:tcPr marL="76188" marR="76188" marT="38094" marB="38094"/>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err="1"/>
                        <a:t>Nungambakkam</a:t>
                      </a:r>
                      <a:r>
                        <a:rPr lang="en-US" sz="1600" dirty="0"/>
                        <a:t>, Chennai</a:t>
                      </a:r>
                    </a:p>
                  </a:txBody>
                  <a:tcPr marL="76188" marR="76188" marT="38094" marB="38094"/>
                </a:tc>
                <a:tc>
                  <a:txBody>
                    <a:bodyPr/>
                    <a:lstStyle/>
                    <a:p>
                      <a:pPr algn="ctr"/>
                      <a:r>
                        <a:rPr lang="en-US" sz="1600" dirty="0"/>
                        <a:t>Residential</a:t>
                      </a:r>
                    </a:p>
                  </a:txBody>
                  <a:tcPr marL="76188" marR="76188" marT="38094" marB="38094"/>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600" b="1" u="sng" kern="1200" dirty="0">
                          <a:solidFill>
                            <a:schemeClr val="dk1"/>
                          </a:solidFill>
                          <a:latin typeface="+mn-lt"/>
                          <a:ea typeface="+mn-ea"/>
                          <a:cs typeface="+mn-cs"/>
                        </a:rPr>
                        <a:t>Total– 36</a:t>
                      </a:r>
                    </a:p>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600" kern="1200" dirty="0">
                          <a:solidFill>
                            <a:schemeClr val="dk1"/>
                          </a:solidFill>
                          <a:latin typeface="+mn-lt"/>
                          <a:ea typeface="+mn-ea"/>
                          <a:cs typeface="+mn-cs"/>
                        </a:rPr>
                        <a:t>Type V &amp; VI </a:t>
                      </a:r>
                    </a:p>
                  </a:txBody>
                  <a:tcPr marL="76188" marR="76188" marT="38094" marB="38094"/>
                </a:tc>
                <a:tc>
                  <a:txBody>
                    <a:bodyPr/>
                    <a:lstStyle/>
                    <a:p>
                      <a:pPr algn="ctr"/>
                      <a:r>
                        <a:rPr lang="en-US" sz="1600" dirty="0"/>
                        <a:t>Rs. 65.42 Cr.</a:t>
                      </a:r>
                    </a:p>
                  </a:txBody>
                  <a:tcPr marL="76188" marR="76188" marT="38094" marB="38094"/>
                </a:tc>
                <a:extLst>
                  <a:ext uri="{0D108BD9-81ED-4DB2-BD59-A6C34878D82A}">
                    <a16:rowId xmlns="" xmlns:a16="http://schemas.microsoft.com/office/drawing/2014/main" val="10002"/>
                  </a:ext>
                </a:extLst>
              </a:tr>
              <a:tr h="290188">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dirty="0"/>
                        <a:t>8</a:t>
                      </a:r>
                    </a:p>
                  </a:txBody>
                  <a:tcPr marL="76188" marR="76188" marT="38094" marB="38094"/>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t>DRI,</a:t>
                      </a:r>
                      <a:r>
                        <a:rPr lang="en-US" sz="1600" baseline="0" dirty="0"/>
                        <a:t> Kolkata</a:t>
                      </a:r>
                      <a:endParaRPr lang="en-US" sz="1600" dirty="0"/>
                    </a:p>
                  </a:txBody>
                  <a:tcPr marL="76188" marR="76188" marT="38094" marB="38094"/>
                </a:tc>
                <a:tc>
                  <a:txBody>
                    <a:bodyPr/>
                    <a:lstStyle/>
                    <a:p>
                      <a:pPr algn="ctr"/>
                      <a:r>
                        <a:rPr lang="en-US" sz="1600" dirty="0"/>
                        <a:t>Office</a:t>
                      </a:r>
                    </a:p>
                  </a:txBody>
                  <a:tcPr marL="76188" marR="76188" marT="38094" marB="38094"/>
                </a:tc>
                <a:tc>
                  <a:txBody>
                    <a:bodyPr/>
                    <a:lstStyle/>
                    <a:p>
                      <a:pPr algn="ctr"/>
                      <a:r>
                        <a:rPr lang="en-US" sz="1600" dirty="0"/>
                        <a:t>2134.17 Sq</a:t>
                      </a:r>
                      <a:r>
                        <a:rPr lang="en-US" sz="1600" baseline="0" dirty="0"/>
                        <a:t> </a:t>
                      </a:r>
                      <a:r>
                        <a:rPr lang="en-US" sz="1600" baseline="0" dirty="0" err="1"/>
                        <a:t>Mtrs</a:t>
                      </a:r>
                      <a:r>
                        <a:rPr lang="en-US" sz="1600" baseline="0" dirty="0"/>
                        <a:t>.</a:t>
                      </a:r>
                      <a:endParaRPr lang="en-US" sz="1600" dirty="0"/>
                    </a:p>
                  </a:txBody>
                  <a:tcPr marL="76188" marR="76188" marT="38094" marB="38094"/>
                </a:tc>
                <a:tc>
                  <a:txBody>
                    <a:bodyPr/>
                    <a:lstStyle/>
                    <a:p>
                      <a:pPr algn="ctr"/>
                      <a:r>
                        <a:rPr lang="en-US" sz="1600" dirty="0"/>
                        <a:t>Rs. 64.50 Cr.</a:t>
                      </a:r>
                    </a:p>
                  </a:txBody>
                  <a:tcPr marL="76188" marR="76188" marT="38094" marB="38094"/>
                </a:tc>
                <a:extLst>
                  <a:ext uri="{0D108BD9-81ED-4DB2-BD59-A6C34878D82A}">
                    <a16:rowId xmlns="" xmlns:a16="http://schemas.microsoft.com/office/drawing/2014/main" val="10003"/>
                  </a:ext>
                </a:extLst>
              </a:tr>
              <a:tr h="438408">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dirty="0"/>
                        <a:t>9</a:t>
                      </a:r>
                    </a:p>
                  </a:txBody>
                  <a:tcPr marL="76188" marR="76188" marT="38094" marB="38094"/>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t>NACIN,</a:t>
                      </a:r>
                      <a:r>
                        <a:rPr lang="en-US" sz="1600" baseline="0" dirty="0"/>
                        <a:t> </a:t>
                      </a:r>
                      <a:r>
                        <a:rPr lang="en-US" sz="1600" baseline="0" dirty="0" err="1"/>
                        <a:t>Attapur</a:t>
                      </a:r>
                      <a:endParaRPr lang="en-US" sz="1600" dirty="0"/>
                    </a:p>
                  </a:txBody>
                  <a:tcPr marL="76188" marR="76188" marT="38094" marB="38094"/>
                </a:tc>
                <a:tc>
                  <a:txBody>
                    <a:bodyPr/>
                    <a:lstStyle/>
                    <a:p>
                      <a:pPr algn="ctr"/>
                      <a:r>
                        <a:rPr lang="en-US" sz="1600" dirty="0"/>
                        <a:t>Training Complex</a:t>
                      </a:r>
                      <a:endParaRPr lang="en-US" sz="1600" baseline="0" dirty="0"/>
                    </a:p>
                  </a:txBody>
                  <a:tcPr marL="76188" marR="76188" marT="38094" marB="38094"/>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kumimoji="0" lang="en-US" sz="1600" kern="1200" dirty="0">
                          <a:solidFill>
                            <a:schemeClr val="dk1"/>
                          </a:solidFill>
                          <a:latin typeface="+mn-lt"/>
                          <a:ea typeface="+mn-ea"/>
                          <a:cs typeface="+mn-cs"/>
                        </a:rPr>
                        <a:t>11940 Sq. Mts.</a:t>
                      </a:r>
                    </a:p>
                    <a:p>
                      <a:pPr algn="ctr"/>
                      <a:endParaRPr lang="en-US" sz="1600" dirty="0"/>
                    </a:p>
                  </a:txBody>
                  <a:tcPr marL="76188" marR="76188" marT="38094" marB="38094"/>
                </a:tc>
                <a:tc>
                  <a:txBody>
                    <a:bodyPr/>
                    <a:lstStyle/>
                    <a:p>
                      <a:pPr algn="ctr"/>
                      <a:r>
                        <a:rPr lang="en-US" sz="1600" dirty="0"/>
                        <a:t>Rs. 46.71 Cr.</a:t>
                      </a:r>
                    </a:p>
                  </a:txBody>
                  <a:tcPr marL="76188" marR="76188" marT="38094" marB="38094"/>
                </a:tc>
                <a:extLst>
                  <a:ext uri="{0D108BD9-81ED-4DB2-BD59-A6C34878D82A}">
                    <a16:rowId xmlns="" xmlns:a16="http://schemas.microsoft.com/office/drawing/2014/main" val="10004"/>
                  </a:ext>
                </a:extLst>
              </a:tr>
              <a:tr h="438408">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dirty="0"/>
                        <a:t>10</a:t>
                      </a:r>
                    </a:p>
                  </a:txBody>
                  <a:tcPr marL="76188" marR="76188" marT="38094" marB="38094"/>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t>Jamnagar</a:t>
                      </a:r>
                      <a:r>
                        <a:rPr lang="en-US" sz="1600" baseline="0" dirty="0"/>
                        <a:t>, </a:t>
                      </a:r>
                      <a:r>
                        <a:rPr lang="en-US" sz="1600" baseline="0" dirty="0" err="1"/>
                        <a:t>Gujrat</a:t>
                      </a:r>
                      <a:endParaRPr lang="en-US" sz="1600" dirty="0"/>
                    </a:p>
                  </a:txBody>
                  <a:tcPr marL="76188" marR="76188" marT="38094" marB="38094"/>
                </a:tc>
                <a:tc>
                  <a:txBody>
                    <a:bodyPr/>
                    <a:lstStyle/>
                    <a:p>
                      <a:pPr algn="ctr"/>
                      <a:r>
                        <a:rPr lang="en-US" sz="1600" dirty="0"/>
                        <a:t>Office </a:t>
                      </a:r>
                    </a:p>
                  </a:txBody>
                  <a:tcPr marL="76188" marR="76188" marT="38094" marB="38094"/>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kumimoji="0" lang="en-US" sz="1600" kern="1200" dirty="0">
                          <a:solidFill>
                            <a:schemeClr val="dk1"/>
                          </a:solidFill>
                          <a:latin typeface="+mn-lt"/>
                          <a:ea typeface="+mn-ea"/>
                          <a:cs typeface="+mn-cs"/>
                        </a:rPr>
                        <a:t>4431.34 Sq. Mts.</a:t>
                      </a:r>
                    </a:p>
                    <a:p>
                      <a:pPr algn="ctr"/>
                      <a:endParaRPr lang="en-US" sz="1600" dirty="0"/>
                    </a:p>
                  </a:txBody>
                  <a:tcPr marL="76188" marR="76188" marT="38094" marB="38094"/>
                </a:tc>
                <a:tc>
                  <a:txBody>
                    <a:bodyPr/>
                    <a:lstStyle/>
                    <a:p>
                      <a:pPr algn="ctr"/>
                      <a:r>
                        <a:rPr lang="en-US" sz="1600" dirty="0"/>
                        <a:t>Rs. 43.67 Cr.</a:t>
                      </a:r>
                    </a:p>
                  </a:txBody>
                  <a:tcPr marL="76188" marR="76188" marT="38094" marB="38094"/>
                </a:tc>
                <a:extLst>
                  <a:ext uri="{0D108BD9-81ED-4DB2-BD59-A6C34878D82A}">
                    <a16:rowId xmlns="" xmlns:a16="http://schemas.microsoft.com/office/drawing/2014/main" val="10005"/>
                  </a:ext>
                </a:extLst>
              </a:tr>
              <a:tr h="438408">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dirty="0"/>
                        <a:t> 11</a:t>
                      </a:r>
                    </a:p>
                  </a:txBody>
                  <a:tcPr marL="76188" marR="76188" marT="38094" marB="38094"/>
                </a:tc>
                <a:tc>
                  <a:txBody>
                    <a:bodyPr/>
                    <a:lstStyle/>
                    <a:p>
                      <a:r>
                        <a:rPr lang="en-US" sz="1600" kern="1200" dirty="0">
                          <a:solidFill>
                            <a:schemeClr val="dk1"/>
                          </a:solidFill>
                          <a:latin typeface="+mn-lt"/>
                          <a:ea typeface="+mn-ea"/>
                          <a:cs typeface="+mn-cs"/>
                        </a:rPr>
                        <a:t>Kolhapur, Maharashtra</a:t>
                      </a:r>
                    </a:p>
                  </a:txBody>
                  <a:tcPr marL="76188" marR="76188" marT="38094" marB="38094"/>
                </a:tc>
                <a:tc>
                  <a:txBody>
                    <a:bodyPr/>
                    <a:lstStyle/>
                    <a:p>
                      <a:pPr algn="ctr"/>
                      <a:r>
                        <a:rPr lang="en-US" sz="1600" kern="1200" dirty="0">
                          <a:solidFill>
                            <a:schemeClr val="dk1"/>
                          </a:solidFill>
                          <a:latin typeface="+mn-lt"/>
                          <a:ea typeface="+mn-ea"/>
                          <a:cs typeface="+mn-cs"/>
                        </a:rPr>
                        <a:t>Office</a:t>
                      </a:r>
                    </a:p>
                  </a:txBody>
                  <a:tcPr marL="76188" marR="76188" marT="38094" marB="38094"/>
                </a:tc>
                <a:tc>
                  <a:txBody>
                    <a:bodyPr/>
                    <a:lstStyle/>
                    <a:p>
                      <a:pPr algn="ctr"/>
                      <a:r>
                        <a:rPr lang="en-US" sz="1600" kern="1200" dirty="0">
                          <a:solidFill>
                            <a:schemeClr val="dk1"/>
                          </a:solidFill>
                          <a:latin typeface="+mn-lt"/>
                          <a:ea typeface="+mn-ea"/>
                          <a:cs typeface="+mn-cs"/>
                        </a:rPr>
                        <a:t>9244.1 Sq. </a:t>
                      </a:r>
                      <a:r>
                        <a:rPr lang="en-US" sz="1600" kern="1200" dirty="0" err="1">
                          <a:solidFill>
                            <a:schemeClr val="dk1"/>
                          </a:solidFill>
                          <a:latin typeface="+mn-lt"/>
                          <a:ea typeface="+mn-ea"/>
                          <a:cs typeface="+mn-cs"/>
                        </a:rPr>
                        <a:t>Mtrs</a:t>
                      </a:r>
                      <a:r>
                        <a:rPr lang="en-US" sz="1600" kern="1200" dirty="0">
                          <a:solidFill>
                            <a:schemeClr val="dk1"/>
                          </a:solidFill>
                          <a:latin typeface="+mn-lt"/>
                          <a:ea typeface="+mn-ea"/>
                          <a:cs typeface="+mn-cs"/>
                        </a:rPr>
                        <a:t>.</a:t>
                      </a:r>
                    </a:p>
                  </a:txBody>
                  <a:tcPr marL="76188" marR="76188" marT="38094" marB="38094"/>
                </a:tc>
                <a:tc>
                  <a:txBody>
                    <a:bodyPr/>
                    <a:lstStyle/>
                    <a:p>
                      <a:pPr algn="ctr"/>
                      <a:r>
                        <a:rPr lang="en-US" sz="1600" kern="1200" dirty="0">
                          <a:solidFill>
                            <a:schemeClr val="dk1"/>
                          </a:solidFill>
                          <a:latin typeface="+mn-lt"/>
                          <a:ea typeface="+mn-ea"/>
                          <a:cs typeface="+mn-cs"/>
                        </a:rPr>
                        <a:t>Rs. 42.44 Cr.</a:t>
                      </a:r>
                    </a:p>
                  </a:txBody>
                  <a:tcPr marL="76188" marR="76188" marT="38094" marB="38094"/>
                </a:tc>
                <a:extLst>
                  <a:ext uri="{0D108BD9-81ED-4DB2-BD59-A6C34878D82A}">
                    <a16:rowId xmlns="" xmlns:a16="http://schemas.microsoft.com/office/drawing/2014/main" val="10006"/>
                  </a:ext>
                </a:extLst>
              </a:tr>
              <a:tr h="438408">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600" dirty="0"/>
                        <a:t>12</a:t>
                      </a:r>
                    </a:p>
                  </a:txBody>
                  <a:tcPr marL="76188" marR="76188" marT="38094" marB="38094"/>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t>Udaipur, Rajasthan</a:t>
                      </a:r>
                    </a:p>
                  </a:txBody>
                  <a:tcPr marL="76188" marR="76188" marT="38094" marB="38094"/>
                </a:tc>
                <a:tc>
                  <a:txBody>
                    <a:bodyPr/>
                    <a:lstStyle/>
                    <a:p>
                      <a:pPr algn="ctr"/>
                      <a:r>
                        <a:rPr lang="en-US" sz="1600" dirty="0"/>
                        <a:t>Office</a:t>
                      </a:r>
                    </a:p>
                  </a:txBody>
                  <a:tcPr marL="76188" marR="76188" marT="38094" marB="38094"/>
                </a:tc>
                <a:tc>
                  <a:txBody>
                    <a:bodyPr/>
                    <a:lstStyle/>
                    <a:p>
                      <a:pPr algn="ctr"/>
                      <a:r>
                        <a:rPr lang="en-US" sz="1600" kern="1200" dirty="0">
                          <a:solidFill>
                            <a:schemeClr val="dk1"/>
                          </a:solidFill>
                          <a:latin typeface="+mn-lt"/>
                          <a:ea typeface="+mn-ea"/>
                          <a:cs typeface="+mn-cs"/>
                        </a:rPr>
                        <a:t>3315 Sq. </a:t>
                      </a:r>
                      <a:r>
                        <a:rPr lang="en-US" sz="1600" kern="1200" dirty="0" err="1">
                          <a:solidFill>
                            <a:schemeClr val="dk1"/>
                          </a:solidFill>
                          <a:latin typeface="+mn-lt"/>
                          <a:ea typeface="+mn-ea"/>
                          <a:cs typeface="+mn-cs"/>
                        </a:rPr>
                        <a:t>Mtrs</a:t>
                      </a:r>
                      <a:endParaRPr lang="en-US" sz="1600" dirty="0"/>
                    </a:p>
                  </a:txBody>
                  <a:tcPr marL="76188" marR="76188" marT="38094" marB="38094"/>
                </a:tc>
                <a:tc>
                  <a:txBody>
                    <a:bodyPr/>
                    <a:lstStyle/>
                    <a:p>
                      <a:pPr algn="ctr"/>
                      <a:r>
                        <a:rPr lang="en-US" sz="1600" dirty="0"/>
                        <a:t>Rs. 42.07 Cr.</a:t>
                      </a:r>
                    </a:p>
                  </a:txBody>
                  <a:tcPr marL="76188" marR="76188" marT="38094" marB="38094"/>
                </a:tc>
                <a:extLst>
                  <a:ext uri="{0D108BD9-81ED-4DB2-BD59-A6C34878D82A}">
                    <a16:rowId xmlns="" xmlns:a16="http://schemas.microsoft.com/office/drawing/2014/main" val="10007"/>
                  </a:ext>
                </a:extLst>
              </a:tr>
              <a:tr h="290188">
                <a:tc>
                  <a:txBody>
                    <a:bodyPr/>
                    <a:lstStyle/>
                    <a:p>
                      <a:pPr algn="ctr"/>
                      <a:r>
                        <a:rPr lang="en-US" sz="1600" kern="1200" dirty="0">
                          <a:solidFill>
                            <a:schemeClr val="dk1"/>
                          </a:solidFill>
                          <a:latin typeface="+mn-lt"/>
                          <a:ea typeface="+mn-ea"/>
                          <a:cs typeface="+mn-cs"/>
                        </a:rPr>
                        <a:t>13</a:t>
                      </a:r>
                    </a:p>
                  </a:txBody>
                  <a:tcPr marL="76188" marR="76188" marT="38094" marB="38094"/>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err="1"/>
                        <a:t>Boisar</a:t>
                      </a:r>
                      <a:r>
                        <a:rPr lang="en-US" sz="1600" dirty="0"/>
                        <a:t>, Mumbai</a:t>
                      </a:r>
                    </a:p>
                  </a:txBody>
                  <a:tcPr marL="76188" marR="76188" marT="38094" marB="38094"/>
                </a:tc>
                <a:tc>
                  <a:txBody>
                    <a:bodyPr/>
                    <a:lstStyle/>
                    <a:p>
                      <a:pPr algn="ctr"/>
                      <a:r>
                        <a:rPr lang="en-US" sz="1600" dirty="0"/>
                        <a:t>Office</a:t>
                      </a:r>
                    </a:p>
                  </a:txBody>
                  <a:tcPr marL="76188" marR="76188" marT="38094" marB="38094"/>
                </a:tc>
                <a:tc>
                  <a:txBody>
                    <a:bodyPr/>
                    <a:lstStyle/>
                    <a:p>
                      <a:pPr algn="ctr"/>
                      <a:r>
                        <a:rPr lang="en-US" sz="1600" dirty="0"/>
                        <a:t>4305 </a:t>
                      </a:r>
                      <a:r>
                        <a:rPr lang="en-US" sz="1600" kern="1200" dirty="0">
                          <a:solidFill>
                            <a:schemeClr val="dk1"/>
                          </a:solidFill>
                          <a:latin typeface="+mn-lt"/>
                          <a:ea typeface="+mn-ea"/>
                          <a:cs typeface="+mn-cs"/>
                        </a:rPr>
                        <a:t>Sq. </a:t>
                      </a:r>
                      <a:r>
                        <a:rPr lang="en-US" sz="1600" kern="1200" dirty="0" err="1">
                          <a:solidFill>
                            <a:schemeClr val="dk1"/>
                          </a:solidFill>
                          <a:latin typeface="+mn-lt"/>
                          <a:ea typeface="+mn-ea"/>
                          <a:cs typeface="+mn-cs"/>
                        </a:rPr>
                        <a:t>Mtrs</a:t>
                      </a:r>
                      <a:endParaRPr lang="en-US" sz="1600" dirty="0"/>
                    </a:p>
                  </a:txBody>
                  <a:tcPr marL="76188" marR="76188" marT="38094" marB="38094"/>
                </a:tc>
                <a:tc>
                  <a:txBody>
                    <a:bodyPr/>
                    <a:lstStyle/>
                    <a:p>
                      <a:pPr algn="ctr"/>
                      <a:r>
                        <a:rPr lang="en-US" sz="1600" dirty="0"/>
                        <a:t>Rs. 33.25 Cr.</a:t>
                      </a:r>
                    </a:p>
                  </a:txBody>
                  <a:tcPr marL="76188" marR="76188" marT="38094" marB="38094"/>
                </a:tc>
                <a:extLst>
                  <a:ext uri="{0D108BD9-81ED-4DB2-BD59-A6C34878D82A}">
                    <a16:rowId xmlns="" xmlns:a16="http://schemas.microsoft.com/office/drawing/2014/main" val="10008"/>
                  </a:ext>
                </a:extLst>
              </a:tr>
              <a:tr h="438408">
                <a:tc>
                  <a:txBody>
                    <a:bodyPr/>
                    <a:lstStyle/>
                    <a:p>
                      <a:pPr algn="ctr"/>
                      <a:r>
                        <a:rPr lang="en-US" sz="1600" kern="1200" dirty="0">
                          <a:solidFill>
                            <a:schemeClr val="dk1"/>
                          </a:solidFill>
                          <a:latin typeface="+mn-lt"/>
                          <a:ea typeface="+mn-ea"/>
                          <a:cs typeface="+mn-cs"/>
                        </a:rPr>
                        <a:t>14</a:t>
                      </a:r>
                    </a:p>
                  </a:txBody>
                  <a:tcPr marL="76188" marR="76188" marT="38094" marB="38094"/>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err="1">
                          <a:solidFill>
                            <a:schemeClr val="dk1"/>
                          </a:solidFill>
                          <a:latin typeface="+mn-lt"/>
                          <a:ea typeface="+mn-ea"/>
                          <a:cs typeface="+mn-cs"/>
                        </a:rPr>
                        <a:t>Agartala</a:t>
                      </a:r>
                      <a:r>
                        <a:rPr lang="en-US" sz="1600" kern="1200" dirty="0">
                          <a:solidFill>
                            <a:schemeClr val="dk1"/>
                          </a:solidFill>
                          <a:latin typeface="+mn-lt"/>
                          <a:ea typeface="+mn-ea"/>
                          <a:cs typeface="+mn-cs"/>
                        </a:rPr>
                        <a:t>, Tripura</a:t>
                      </a:r>
                    </a:p>
                  </a:txBody>
                  <a:tcPr marL="76188" marR="76188" marT="38094" marB="38094"/>
                </a:tc>
                <a:tc>
                  <a:txBody>
                    <a:bodyPr/>
                    <a:lstStyle/>
                    <a:p>
                      <a:pPr algn="ctr"/>
                      <a:r>
                        <a:rPr lang="en-US" sz="1600" dirty="0"/>
                        <a:t>Office</a:t>
                      </a:r>
                    </a:p>
                  </a:txBody>
                  <a:tcPr marL="76188" marR="76188" marT="38094" marB="38094"/>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kumimoji="0" lang="en-US" sz="1600" kern="1200" dirty="0">
                          <a:solidFill>
                            <a:schemeClr val="dk1"/>
                          </a:solidFill>
                          <a:latin typeface="+mn-lt"/>
                          <a:ea typeface="+mn-ea"/>
                          <a:cs typeface="+mn-cs"/>
                        </a:rPr>
                        <a:t>3256 Sq. Mts.</a:t>
                      </a:r>
                    </a:p>
                    <a:p>
                      <a:pPr algn="ctr"/>
                      <a:endParaRPr lang="en-US" sz="1600" dirty="0"/>
                    </a:p>
                  </a:txBody>
                  <a:tcPr marL="76188" marR="76188" marT="38094" marB="38094"/>
                </a:tc>
                <a:tc>
                  <a:txBody>
                    <a:bodyPr/>
                    <a:lstStyle/>
                    <a:p>
                      <a:pPr algn="ctr"/>
                      <a:r>
                        <a:rPr lang="en-US" sz="1600" dirty="0"/>
                        <a:t>Rs. 28.04 Cr.</a:t>
                      </a:r>
                    </a:p>
                  </a:txBody>
                  <a:tcPr marL="76188" marR="76188" marT="38094" marB="38094"/>
                </a:tc>
                <a:extLst>
                  <a:ext uri="{0D108BD9-81ED-4DB2-BD59-A6C34878D82A}">
                    <a16:rowId xmlns="" xmlns:a16="http://schemas.microsoft.com/office/drawing/2014/main" val="10009"/>
                  </a:ext>
                </a:extLst>
              </a:tr>
            </a:tbl>
          </a:graphicData>
        </a:graphic>
      </p:graphicFrame>
      <p:sp>
        <p:nvSpPr>
          <p:cNvPr id="7" name="Title 1">
            <a:extLst>
              <a:ext uri="{FF2B5EF4-FFF2-40B4-BE49-F238E27FC236}">
                <a16:creationId xmlns="" xmlns:a16="http://schemas.microsoft.com/office/drawing/2014/main" id="{5B7E0941-C483-42D2-8367-1D198B8B0109}"/>
              </a:ext>
            </a:extLst>
          </p:cNvPr>
          <p:cNvSpPr txBox="1"/>
          <p:nvPr/>
        </p:nvSpPr>
        <p:spPr>
          <a:xfrm>
            <a:off x="1709737" y="228600"/>
            <a:ext cx="5638800" cy="659263"/>
          </a:xfrm>
          <a:prstGeom prst="rect">
            <a:avLst/>
          </a:prstGeom>
        </p:spPr>
        <p:style>
          <a:lnRef idx="1">
            <a:schemeClr val="accent1"/>
          </a:lnRef>
          <a:fillRef idx="2">
            <a:schemeClr val="accent1"/>
          </a:fillRef>
          <a:effectRef idx="1">
            <a:schemeClr val="accent1"/>
          </a:effectRef>
          <a:fontRef idx="minor">
            <a:schemeClr val="dk1"/>
          </a:fontRef>
        </p:style>
        <p:txBody>
          <a:bodyPr vert="horz" anchor="b">
            <a:normAutofit/>
          </a:bodyPr>
          <a:lstStyle/>
          <a:p>
            <a:pPr lvl="0" algn="ctr"/>
            <a:r>
              <a:rPr lang="en-IN" sz="3200" dirty="0"/>
              <a:t>Major Construction Projects</a:t>
            </a:r>
            <a:endParaRPr kumimoji="0" lang="en-IN" sz="3000" b="0" i="0" u="none" strike="noStrike" kern="1200" cap="small" spc="0" normalizeH="0" baseline="0" noProof="0" dirty="0">
              <a:ln>
                <a:noFill/>
              </a:ln>
              <a:solidFill>
                <a:schemeClr val="dk1"/>
              </a:solidFill>
              <a:effectLst/>
              <a:uLnTx/>
              <a:uFillTx/>
              <a:latin typeface="+mn-lt"/>
              <a:ea typeface="+mn-ea"/>
              <a:cs typeface="+mn-cs"/>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39762"/>
          </a:xfrm>
        </p:spPr>
        <p:txBody>
          <a:bodyPr>
            <a:normAutofit fontScale="90000"/>
          </a:bodyPr>
          <a:lstStyle/>
          <a:p>
            <a:r>
              <a:rPr lang="en-US" sz="2400" b="1" dirty="0">
                <a:solidFill>
                  <a:schemeClr val="accent1">
                    <a:lumMod val="75000"/>
                  </a:schemeClr>
                </a:solidFill>
              </a:rPr>
              <a:t>Onsite photographs of Anna </a:t>
            </a:r>
            <a:r>
              <a:rPr lang="en-US" sz="2400" b="1" dirty="0" err="1">
                <a:solidFill>
                  <a:schemeClr val="accent1">
                    <a:lumMod val="75000"/>
                  </a:schemeClr>
                </a:solidFill>
              </a:rPr>
              <a:t>nagar</a:t>
            </a:r>
            <a:r>
              <a:rPr lang="en-US" sz="2400" b="1" dirty="0">
                <a:solidFill>
                  <a:schemeClr val="accent1">
                    <a:lumMod val="75000"/>
                  </a:schemeClr>
                </a:solidFill>
              </a:rPr>
              <a:t>, Chennai project</a:t>
            </a:r>
            <a:endParaRPr lang="en-US" sz="2400" dirty="0">
              <a:solidFill>
                <a:schemeClr val="accent1">
                  <a:lumMod val="75000"/>
                </a:schemeClr>
              </a:solidFill>
            </a:endParaRPr>
          </a:p>
        </p:txBody>
      </p:sp>
      <p:sp>
        <p:nvSpPr>
          <p:cNvPr id="4" name="Slide Number Placeholder 3"/>
          <p:cNvSpPr>
            <a:spLocks noGrp="1"/>
          </p:cNvSpPr>
          <p:nvPr>
            <p:ph type="sldNum" sz="quarter" idx="4294967295"/>
          </p:nvPr>
        </p:nvSpPr>
        <p:spPr>
          <a:xfrm>
            <a:off x="8129588" y="5734050"/>
            <a:ext cx="609600" cy="520700"/>
          </a:xfrm>
          <a:prstGeom prst="rect">
            <a:avLst/>
          </a:prstGeom>
        </p:spPr>
        <p:txBody>
          <a:bodyPr/>
          <a:lstStyle/>
          <a:p>
            <a:pPr>
              <a:defRPr/>
            </a:pPr>
            <a:fld id="{181638C1-C0B2-41A8-841A-28BC72D73AAF}" type="slidenum">
              <a:rPr lang="en-IN" smtClean="0"/>
              <a:pPr>
                <a:defRPr/>
              </a:pPr>
              <a:t>8</a:t>
            </a:fld>
            <a:endParaRPr lang="en-IN"/>
          </a:p>
        </p:txBody>
      </p:sp>
      <p:sp>
        <p:nvSpPr>
          <p:cNvPr id="5" name="Footer Placeholder 4"/>
          <p:cNvSpPr>
            <a:spLocks noGrp="1"/>
          </p:cNvSpPr>
          <p:nvPr>
            <p:ph type="ftr" sz="quarter" idx="4294967295"/>
          </p:nvPr>
        </p:nvSpPr>
        <p:spPr>
          <a:xfrm rot="5400000">
            <a:off x="6989763" y="3736975"/>
            <a:ext cx="3200400" cy="365125"/>
          </a:xfrm>
          <a:prstGeom prst="rect">
            <a:avLst/>
          </a:prstGeom>
        </p:spPr>
        <p:txBody>
          <a:bodyPr/>
          <a:lstStyle/>
          <a:p>
            <a:pPr>
              <a:defRPr/>
            </a:pPr>
            <a:r>
              <a:rPr lang="en-IN"/>
              <a:t>DGHRD-CBIC</a:t>
            </a:r>
          </a:p>
        </p:txBody>
      </p:sp>
      <p:pic>
        <p:nvPicPr>
          <p:cNvPr id="1026" name="Picture 2" descr="C:\Users\new\Desktop\PPTs - Infrastructure\Photos for PPT\Custom Chennai Anna Nagar\6 - Copy.bmp"/>
          <p:cNvPicPr>
            <a:picLocks noChangeAspect="1" noChangeArrowheads="1"/>
          </p:cNvPicPr>
          <p:nvPr/>
        </p:nvPicPr>
        <p:blipFill>
          <a:blip r:embed="rId2"/>
          <a:srcRect/>
          <a:stretch>
            <a:fillRect/>
          </a:stretch>
        </p:blipFill>
        <p:spPr bwMode="auto">
          <a:xfrm>
            <a:off x="914399" y="1295400"/>
            <a:ext cx="7173813" cy="5020499"/>
          </a:xfrm>
          <a:prstGeom prst="rect">
            <a:avLst/>
          </a:prstGeom>
          <a:noFill/>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467600" cy="715962"/>
          </a:xfrm>
        </p:spPr>
        <p:txBody>
          <a:bodyPr>
            <a:normAutofit/>
          </a:bodyPr>
          <a:lstStyle/>
          <a:p>
            <a:r>
              <a:rPr lang="en-US" sz="2800" b="1" dirty="0">
                <a:solidFill>
                  <a:schemeClr val="accent1">
                    <a:lumMod val="75000"/>
                  </a:schemeClr>
                </a:solidFill>
              </a:rPr>
              <a:t>NACIN </a:t>
            </a:r>
            <a:r>
              <a:rPr lang="en-US" sz="2800" b="1" dirty="0" err="1">
                <a:solidFill>
                  <a:schemeClr val="accent1">
                    <a:lumMod val="75000"/>
                  </a:schemeClr>
                </a:solidFill>
              </a:rPr>
              <a:t>Hindupur</a:t>
            </a:r>
            <a:r>
              <a:rPr lang="en-US" sz="2800" b="1" dirty="0">
                <a:solidFill>
                  <a:schemeClr val="accent1">
                    <a:lumMod val="75000"/>
                  </a:schemeClr>
                </a:solidFill>
              </a:rPr>
              <a:t> project</a:t>
            </a:r>
          </a:p>
        </p:txBody>
      </p:sp>
      <p:sp>
        <p:nvSpPr>
          <p:cNvPr id="3" name="Content Placeholder 2"/>
          <p:cNvSpPr>
            <a:spLocks noGrp="1"/>
          </p:cNvSpPr>
          <p:nvPr>
            <p:ph sz="quarter" idx="1"/>
          </p:nvPr>
        </p:nvSpPr>
        <p:spPr>
          <a:xfrm>
            <a:off x="457200" y="1143000"/>
            <a:ext cx="7467600" cy="5486400"/>
          </a:xfrm>
        </p:spPr>
        <p:txBody>
          <a:bodyPr>
            <a:normAutofit/>
          </a:bodyPr>
          <a:lstStyle/>
          <a:p>
            <a:pPr algn="just"/>
            <a:r>
              <a:rPr lang="en-US" sz="1900" dirty="0"/>
              <a:t>Land measuring 500.34 acres was purchased from Govt. of Andhra Pradesh at a cost of Rs. 10.13 </a:t>
            </a:r>
            <a:r>
              <a:rPr lang="en-US" sz="1900" dirty="0" smtClean="0"/>
              <a:t>Cr in March, 2015 and June, 2016. Registration of land was done in August, 2016.</a:t>
            </a:r>
          </a:p>
          <a:p>
            <a:pPr algn="just">
              <a:buNone/>
            </a:pPr>
            <a:endParaRPr lang="en-US" sz="1900" dirty="0"/>
          </a:p>
          <a:p>
            <a:pPr algn="just"/>
            <a:r>
              <a:rPr lang="en-US" sz="1900" b="1" dirty="0"/>
              <a:t>Approvals so far:- </a:t>
            </a:r>
            <a:endParaRPr lang="en-US" sz="1900" b="1" dirty="0" smtClean="0"/>
          </a:p>
          <a:p>
            <a:pPr algn="just"/>
            <a:endParaRPr lang="en-US" sz="1900" b="1" dirty="0"/>
          </a:p>
          <a:p>
            <a:pPr lvl="1" algn="just"/>
            <a:r>
              <a:rPr lang="en-US" sz="1600" dirty="0"/>
              <a:t>Sub Soil Exploration &amp; Investigation at cost of Rs. 13.94 </a:t>
            </a:r>
            <a:r>
              <a:rPr lang="en-US" sz="1600" dirty="0" err="1"/>
              <a:t>lakh</a:t>
            </a:r>
            <a:r>
              <a:rPr lang="en-US" sz="1600" dirty="0"/>
              <a:t> (Sanctioned in July, 2018). Work completed</a:t>
            </a:r>
            <a:r>
              <a:rPr lang="en-US" sz="1600" dirty="0" smtClean="0"/>
              <a:t>.</a:t>
            </a:r>
          </a:p>
          <a:p>
            <a:pPr lvl="1" algn="just"/>
            <a:endParaRPr lang="en-US" sz="1600" dirty="0"/>
          </a:p>
          <a:p>
            <a:pPr lvl="1" algn="just"/>
            <a:r>
              <a:rPr lang="en-US" sz="1600" dirty="0"/>
              <a:t>Boundary wall and gate complexes at cost of Rs. 15.14 Cr. (Sanctioned in November, 2018). Work under progress. </a:t>
            </a:r>
            <a:endParaRPr lang="en-US" sz="1600" dirty="0" smtClean="0"/>
          </a:p>
          <a:p>
            <a:pPr lvl="1" algn="just">
              <a:buNone/>
            </a:pPr>
            <a:endParaRPr lang="en-US" sz="1600" dirty="0"/>
          </a:p>
          <a:p>
            <a:pPr lvl="1" algn="just"/>
            <a:r>
              <a:rPr lang="en-US" sz="1600" dirty="0"/>
              <a:t>Appointment of Master Planning and Architectural Concept Planning Consultant at cost of Rs. 2.00 Cr. (Sanctioned in January, 2021). M/s </a:t>
            </a:r>
            <a:r>
              <a:rPr lang="en-US" sz="1600" dirty="0" err="1"/>
              <a:t>Muralage</a:t>
            </a:r>
            <a:r>
              <a:rPr lang="en-US" sz="1600" dirty="0"/>
              <a:t> was appointed as the Master planner for the project.</a:t>
            </a:r>
          </a:p>
          <a:p>
            <a:endParaRPr lang="en-US" sz="1200" dirty="0"/>
          </a:p>
          <a:p>
            <a:endParaRPr lang="en-US" sz="1400" dirty="0"/>
          </a:p>
          <a:p>
            <a:pPr>
              <a:buNone/>
            </a:pPr>
            <a:endParaRPr lang="en-US" sz="14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solidFill>
                  <a:schemeClr val="accent1">
                    <a:lumMod val="75000"/>
                  </a:schemeClr>
                </a:solidFill>
              </a:rPr>
              <a:t>NACIN </a:t>
            </a:r>
            <a:r>
              <a:rPr lang="en-US" sz="3200" b="1" dirty="0" err="1" smtClean="0">
                <a:solidFill>
                  <a:schemeClr val="accent1">
                    <a:lumMod val="75000"/>
                  </a:schemeClr>
                </a:solidFill>
              </a:rPr>
              <a:t>Hindupur</a:t>
            </a:r>
            <a:r>
              <a:rPr lang="en-US" sz="3200" b="1" dirty="0" smtClean="0">
                <a:solidFill>
                  <a:schemeClr val="accent1">
                    <a:lumMod val="75000"/>
                  </a:schemeClr>
                </a:solidFill>
              </a:rPr>
              <a:t> project</a:t>
            </a:r>
            <a:endParaRPr lang="en-US" dirty="0"/>
          </a:p>
        </p:txBody>
      </p:sp>
      <p:sp>
        <p:nvSpPr>
          <p:cNvPr id="3" name="Content Placeholder 2"/>
          <p:cNvSpPr>
            <a:spLocks noGrp="1"/>
          </p:cNvSpPr>
          <p:nvPr>
            <p:ph sz="quarter" idx="1"/>
          </p:nvPr>
        </p:nvSpPr>
        <p:spPr/>
        <p:txBody>
          <a:bodyPr>
            <a:normAutofit lnSpcReduction="10000"/>
          </a:bodyPr>
          <a:lstStyle/>
          <a:p>
            <a:pPr algn="just"/>
            <a:r>
              <a:rPr lang="en-US" b="1" dirty="0" smtClean="0"/>
              <a:t>Main construction proposal:-   </a:t>
            </a:r>
          </a:p>
          <a:p>
            <a:pPr algn="just"/>
            <a:r>
              <a:rPr lang="en-US" dirty="0" smtClean="0"/>
              <a:t>Total cost – Rs. 763.04 Cr. </a:t>
            </a:r>
          </a:p>
          <a:p>
            <a:pPr algn="just"/>
            <a:r>
              <a:rPr lang="en-US" dirty="0" smtClean="0"/>
              <a:t>Space requirement – 98,187 </a:t>
            </a:r>
            <a:r>
              <a:rPr lang="en-US" dirty="0" err="1" smtClean="0"/>
              <a:t>sqm</a:t>
            </a:r>
            <a:r>
              <a:rPr lang="en-US" dirty="0" smtClean="0"/>
              <a:t>. </a:t>
            </a:r>
          </a:p>
          <a:p>
            <a:pPr algn="just"/>
            <a:r>
              <a:rPr lang="en-US" dirty="0" smtClean="0"/>
              <a:t>In Phase-I, Construction of Academy, Administrative Block, Residential Buildings &amp; other facilities essential to commence the operations have been planned.  </a:t>
            </a:r>
          </a:p>
          <a:p>
            <a:pPr algn="just"/>
            <a:r>
              <a:rPr lang="en-US" dirty="0" smtClean="0"/>
              <a:t>In Phase-II which will be taken up later, facilities like Customs University, Research Center, Shooting Range, K-9 Training Center etc., will be added to enhance the Training capabilities and making it a full-fledged Academy.</a:t>
            </a:r>
          </a:p>
          <a:p>
            <a:pPr algn="just"/>
            <a:r>
              <a:rPr lang="en-US" dirty="0" smtClean="0"/>
              <a:t>Proposal has been put up to </a:t>
            </a:r>
            <a:r>
              <a:rPr lang="en-US" dirty="0" err="1" smtClean="0"/>
              <a:t>DoR</a:t>
            </a:r>
            <a:r>
              <a:rPr lang="en-US" dirty="0" smtClean="0"/>
              <a:t> for approval.</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924800" cy="487362"/>
          </a:xfrm>
        </p:spPr>
        <p:txBody>
          <a:bodyPr>
            <a:normAutofit fontScale="90000"/>
          </a:bodyPr>
          <a:lstStyle/>
          <a:p>
            <a:r>
              <a:rPr lang="en-US" sz="2400" b="1" dirty="0"/>
              <a:t>Onsite photographs of </a:t>
            </a:r>
            <a:r>
              <a:rPr lang="en-US" sz="2400" b="1" dirty="0" err="1"/>
              <a:t>Hindupur</a:t>
            </a:r>
            <a:r>
              <a:rPr lang="en-US" sz="2400" b="1" dirty="0"/>
              <a:t>, NACIN project</a:t>
            </a:r>
          </a:p>
        </p:txBody>
      </p:sp>
      <p:sp>
        <p:nvSpPr>
          <p:cNvPr id="4" name="Slide Number Placeholder 3"/>
          <p:cNvSpPr>
            <a:spLocks noGrp="1"/>
          </p:cNvSpPr>
          <p:nvPr>
            <p:ph type="sldNum" sz="quarter" idx="4294967295"/>
          </p:nvPr>
        </p:nvSpPr>
        <p:spPr>
          <a:xfrm>
            <a:off x="8129588" y="5734050"/>
            <a:ext cx="609600" cy="520700"/>
          </a:xfrm>
          <a:prstGeom prst="rect">
            <a:avLst/>
          </a:prstGeom>
        </p:spPr>
        <p:txBody>
          <a:bodyPr/>
          <a:lstStyle/>
          <a:p>
            <a:pPr>
              <a:defRPr/>
            </a:pPr>
            <a:fld id="{181638C1-C0B2-41A8-841A-28BC72D73AAF}" type="slidenum">
              <a:rPr lang="en-IN" smtClean="0"/>
              <a:pPr>
                <a:defRPr/>
              </a:pPr>
              <a:t>11</a:t>
            </a:fld>
            <a:endParaRPr lang="en-IN"/>
          </a:p>
        </p:txBody>
      </p:sp>
      <p:pic>
        <p:nvPicPr>
          <p:cNvPr id="2050" name="Picture 2" descr="C:\Users\new\Desktop\PPTs - Infrastructure\Photos for PPT\Hindupur.jpg"/>
          <p:cNvPicPr>
            <a:picLocks noChangeAspect="1" noChangeArrowheads="1"/>
          </p:cNvPicPr>
          <p:nvPr/>
        </p:nvPicPr>
        <p:blipFill>
          <a:blip r:embed="rId2"/>
          <a:srcRect/>
          <a:stretch>
            <a:fillRect/>
          </a:stretch>
        </p:blipFill>
        <p:spPr bwMode="auto">
          <a:xfrm>
            <a:off x="914400" y="762000"/>
            <a:ext cx="6705600" cy="5330428"/>
          </a:xfrm>
          <a:prstGeom prst="rect">
            <a:avLst/>
          </a:prstGeom>
          <a:noFill/>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8129588" y="5734050"/>
            <a:ext cx="609600" cy="520700"/>
          </a:xfrm>
          <a:prstGeom prst="rect">
            <a:avLst/>
          </a:prstGeom>
        </p:spPr>
        <p:txBody>
          <a:bodyPr/>
          <a:lstStyle/>
          <a:p>
            <a:pPr>
              <a:defRPr/>
            </a:pPr>
            <a:fld id="{181638C1-C0B2-41A8-841A-28BC72D73AAF}" type="slidenum">
              <a:rPr lang="en-IN" smtClean="0"/>
              <a:pPr>
                <a:defRPr/>
              </a:pPr>
              <a:t>12</a:t>
            </a:fld>
            <a:endParaRPr lang="en-IN"/>
          </a:p>
        </p:txBody>
      </p:sp>
      <p:sp>
        <p:nvSpPr>
          <p:cNvPr id="10" name="Title 1"/>
          <p:cNvSpPr>
            <a:spLocks noGrp="1"/>
          </p:cNvSpPr>
          <p:nvPr>
            <p:ph type="title"/>
          </p:nvPr>
        </p:nvSpPr>
        <p:spPr>
          <a:xfrm>
            <a:off x="609600" y="274638"/>
            <a:ext cx="7696200" cy="487362"/>
          </a:xfrm>
        </p:spPr>
        <p:txBody>
          <a:bodyPr>
            <a:normAutofit/>
          </a:bodyPr>
          <a:lstStyle/>
          <a:p>
            <a:pPr algn="ctr"/>
            <a:r>
              <a:rPr lang="en-US" sz="2400" b="1" dirty="0"/>
              <a:t>Onsite photographs of </a:t>
            </a:r>
            <a:r>
              <a:rPr lang="en-US" sz="2400" b="1" dirty="0" err="1"/>
              <a:t>Dwarka</a:t>
            </a:r>
            <a:r>
              <a:rPr lang="en-US" sz="2400" b="1" dirty="0"/>
              <a:t> project</a:t>
            </a:r>
            <a:endParaRPr lang="en-US" sz="2400" dirty="0"/>
          </a:p>
        </p:txBody>
      </p:sp>
      <p:pic>
        <p:nvPicPr>
          <p:cNvPr id="1026" name="Picture 2" descr="C:\Users\new\Desktop\PPTs - Infrastructure\Photos for PPT\Dwarka Project\Dwarka -2.JPG"/>
          <p:cNvPicPr>
            <a:picLocks noChangeAspect="1" noChangeArrowheads="1"/>
          </p:cNvPicPr>
          <p:nvPr/>
        </p:nvPicPr>
        <p:blipFill>
          <a:blip r:embed="rId2"/>
          <a:srcRect/>
          <a:stretch>
            <a:fillRect/>
          </a:stretch>
        </p:blipFill>
        <p:spPr bwMode="auto">
          <a:xfrm>
            <a:off x="3810000" y="1066800"/>
            <a:ext cx="4673600" cy="3505200"/>
          </a:xfrm>
          <a:prstGeom prst="rect">
            <a:avLst/>
          </a:prstGeom>
          <a:noFill/>
        </p:spPr>
      </p:pic>
      <p:pic>
        <p:nvPicPr>
          <p:cNvPr id="15" name="Picture 14" descr="WhatsApp Image 2020-11-12 at 3.31.09 PM.jpeg"/>
          <p:cNvPicPr>
            <a:picLocks noGrp="1" noChangeAspect="1"/>
          </p:cNvPicPr>
          <p:nvPr isPhoto="1"/>
        </p:nvPicPr>
        <p:blipFill>
          <a:blip r:embed="rId3">
            <a:lum/>
          </a:blip>
          <a:stretch>
            <a:fillRect/>
          </a:stretch>
        </p:blipFill>
        <p:spPr>
          <a:xfrm>
            <a:off x="304800" y="838200"/>
            <a:ext cx="3505200" cy="4552950"/>
          </a:xfrm>
          <a:prstGeom prst="rect">
            <a:avLst/>
          </a:prstGeom>
          <a:noFill/>
          <a:ln>
            <a:noFill/>
          </a:ln>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772400" cy="563562"/>
          </a:xfrm>
        </p:spPr>
        <p:txBody>
          <a:bodyPr>
            <a:normAutofit/>
          </a:bodyPr>
          <a:lstStyle/>
          <a:p>
            <a:pPr algn="ctr"/>
            <a:r>
              <a:rPr lang="en-US" sz="2400" b="1" dirty="0"/>
              <a:t>Onsite photographs of Jamnagar project</a:t>
            </a:r>
            <a:endParaRPr lang="en-US" sz="2400" dirty="0"/>
          </a:p>
        </p:txBody>
      </p:sp>
      <p:sp>
        <p:nvSpPr>
          <p:cNvPr id="4" name="Slide Number Placeholder 3"/>
          <p:cNvSpPr>
            <a:spLocks noGrp="1"/>
          </p:cNvSpPr>
          <p:nvPr>
            <p:ph type="sldNum" sz="quarter" idx="4294967295"/>
          </p:nvPr>
        </p:nvSpPr>
        <p:spPr>
          <a:xfrm>
            <a:off x="8129588" y="5734050"/>
            <a:ext cx="609600" cy="520700"/>
          </a:xfrm>
          <a:prstGeom prst="rect">
            <a:avLst/>
          </a:prstGeom>
        </p:spPr>
        <p:txBody>
          <a:bodyPr/>
          <a:lstStyle/>
          <a:p>
            <a:pPr>
              <a:defRPr/>
            </a:pPr>
            <a:fld id="{181638C1-C0B2-41A8-841A-28BC72D73AAF}" type="slidenum">
              <a:rPr lang="en-IN" smtClean="0"/>
              <a:pPr>
                <a:defRPr/>
              </a:pPr>
              <a:t>13</a:t>
            </a:fld>
            <a:endParaRPr lang="en-IN"/>
          </a:p>
        </p:txBody>
      </p:sp>
      <p:sp>
        <p:nvSpPr>
          <p:cNvPr id="5" name="Footer Placeholder 4"/>
          <p:cNvSpPr>
            <a:spLocks noGrp="1"/>
          </p:cNvSpPr>
          <p:nvPr>
            <p:ph type="ftr" sz="quarter" idx="4294967295"/>
          </p:nvPr>
        </p:nvSpPr>
        <p:spPr>
          <a:xfrm rot="5400000">
            <a:off x="6989763" y="3736975"/>
            <a:ext cx="3200400" cy="365125"/>
          </a:xfrm>
          <a:prstGeom prst="rect">
            <a:avLst/>
          </a:prstGeom>
        </p:spPr>
        <p:txBody>
          <a:bodyPr/>
          <a:lstStyle/>
          <a:p>
            <a:pPr>
              <a:defRPr/>
            </a:pPr>
            <a:r>
              <a:rPr lang="en-IN"/>
              <a:t>DGHRD-CBIC</a:t>
            </a:r>
          </a:p>
        </p:txBody>
      </p:sp>
      <p:pic>
        <p:nvPicPr>
          <p:cNvPr id="2050" name="Picture 2" descr="C:\Users\new\Desktop\PPTs - Infrastructure\Photos for PPT\Jamnagar Project\Jamnagar-3.jpeg"/>
          <p:cNvPicPr>
            <a:picLocks noChangeAspect="1" noChangeArrowheads="1"/>
          </p:cNvPicPr>
          <p:nvPr/>
        </p:nvPicPr>
        <p:blipFill>
          <a:blip r:embed="rId2"/>
          <a:srcRect/>
          <a:stretch>
            <a:fillRect/>
          </a:stretch>
        </p:blipFill>
        <p:spPr bwMode="auto">
          <a:xfrm>
            <a:off x="533400" y="1295400"/>
            <a:ext cx="7721600" cy="4343400"/>
          </a:xfrm>
          <a:prstGeom prst="rect">
            <a:avLst/>
          </a:prstGeom>
          <a:noFill/>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p>
            <a:pPr algn="ctr"/>
            <a:r>
              <a:rPr lang="en-US" sz="2400" b="1" dirty="0"/>
              <a:t>Onsite photographs of </a:t>
            </a:r>
            <a:r>
              <a:rPr lang="en-US" sz="2400" b="1" dirty="0" err="1"/>
              <a:t>Kharghar</a:t>
            </a:r>
            <a:r>
              <a:rPr lang="en-US" sz="2400" b="1" dirty="0"/>
              <a:t> project</a:t>
            </a:r>
            <a:endParaRPr lang="en-US" sz="2400" dirty="0"/>
          </a:p>
        </p:txBody>
      </p:sp>
      <p:sp>
        <p:nvSpPr>
          <p:cNvPr id="4" name="Slide Number Placeholder 3"/>
          <p:cNvSpPr>
            <a:spLocks noGrp="1"/>
          </p:cNvSpPr>
          <p:nvPr>
            <p:ph type="sldNum" sz="quarter" idx="4294967295"/>
          </p:nvPr>
        </p:nvSpPr>
        <p:spPr>
          <a:xfrm>
            <a:off x="8129588" y="5734050"/>
            <a:ext cx="609600" cy="520700"/>
          </a:xfrm>
          <a:prstGeom prst="rect">
            <a:avLst/>
          </a:prstGeom>
        </p:spPr>
        <p:txBody>
          <a:bodyPr/>
          <a:lstStyle/>
          <a:p>
            <a:pPr>
              <a:defRPr/>
            </a:pPr>
            <a:fld id="{181638C1-C0B2-41A8-841A-28BC72D73AAF}" type="slidenum">
              <a:rPr lang="en-IN" smtClean="0"/>
              <a:pPr>
                <a:defRPr/>
              </a:pPr>
              <a:t>14</a:t>
            </a:fld>
            <a:endParaRPr lang="en-IN"/>
          </a:p>
        </p:txBody>
      </p:sp>
      <p:sp>
        <p:nvSpPr>
          <p:cNvPr id="5" name="Footer Placeholder 4"/>
          <p:cNvSpPr>
            <a:spLocks noGrp="1"/>
          </p:cNvSpPr>
          <p:nvPr>
            <p:ph type="ftr" sz="quarter" idx="4294967295"/>
          </p:nvPr>
        </p:nvSpPr>
        <p:spPr>
          <a:xfrm rot="5400000">
            <a:off x="6989763" y="3736975"/>
            <a:ext cx="3200400" cy="365125"/>
          </a:xfrm>
          <a:prstGeom prst="rect">
            <a:avLst/>
          </a:prstGeom>
        </p:spPr>
        <p:txBody>
          <a:bodyPr/>
          <a:lstStyle/>
          <a:p>
            <a:pPr>
              <a:defRPr/>
            </a:pPr>
            <a:r>
              <a:rPr lang="en-IN"/>
              <a:t>DGHRD-CBIC</a:t>
            </a:r>
          </a:p>
        </p:txBody>
      </p:sp>
      <p:pic>
        <p:nvPicPr>
          <p:cNvPr id="6" name="Picture 5" descr="IMG-20201019-WA0054.jpg"/>
          <p:cNvPicPr>
            <a:picLocks noGrp="1" noChangeAspect="1"/>
          </p:cNvPicPr>
          <p:nvPr isPhoto="1"/>
        </p:nvPicPr>
        <p:blipFill>
          <a:blip r:embed="rId2">
            <a:lum/>
          </a:blip>
          <a:stretch>
            <a:fillRect/>
          </a:stretch>
        </p:blipFill>
        <p:spPr>
          <a:xfrm>
            <a:off x="588397" y="1208597"/>
            <a:ext cx="3637946" cy="4735003"/>
          </a:xfrm>
          <a:prstGeom prst="rect">
            <a:avLst/>
          </a:prstGeom>
          <a:noFill/>
          <a:ln>
            <a:noFill/>
          </a:ln>
        </p:spPr>
      </p:pic>
      <p:pic>
        <p:nvPicPr>
          <p:cNvPr id="7" name="Picture 6" descr="IMG-20201019-WA0058.jpg"/>
          <p:cNvPicPr>
            <a:picLocks noGrp="1" noChangeAspect="1"/>
          </p:cNvPicPr>
          <p:nvPr isPhoto="1"/>
        </p:nvPicPr>
        <p:blipFill>
          <a:blip r:embed="rId3">
            <a:lum/>
          </a:blip>
          <a:stretch>
            <a:fillRect/>
          </a:stretch>
        </p:blipFill>
        <p:spPr>
          <a:xfrm>
            <a:off x="4420926" y="1199156"/>
            <a:ext cx="3594266" cy="4820644"/>
          </a:xfrm>
          <a:prstGeom prst="rect">
            <a:avLst/>
          </a:prstGeom>
          <a:noFill/>
          <a:ln>
            <a:noFill/>
          </a:ln>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457200"/>
            <a:ext cx="7772400" cy="2362200"/>
          </a:xfrm>
        </p:spPr>
        <p:txBody>
          <a:bodyPr>
            <a:normAutofit/>
          </a:bodyPr>
          <a:lstStyle/>
          <a:p>
            <a:pPr algn="ctr"/>
            <a:r>
              <a:rPr lang="en-US" dirty="0">
                <a:solidFill>
                  <a:schemeClr val="accent1">
                    <a:lumMod val="75000"/>
                  </a:schemeClr>
                </a:solidFill>
              </a:rPr>
              <a:t>PURCHASE OF LAND</a:t>
            </a:r>
          </a:p>
        </p:txBody>
      </p:sp>
    </p:spTree>
    <p:extLst>
      <p:ext uri="{BB962C8B-B14F-4D97-AF65-F5344CB8AC3E}">
        <p14:creationId xmlns="" xmlns:p14="http://schemas.microsoft.com/office/powerpoint/2010/main" val="4245058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833547-C085-47B4-AE6B-7AD88EF9A937}"/>
              </a:ext>
            </a:extLst>
          </p:cNvPr>
          <p:cNvSpPr>
            <a:spLocks noGrp="1"/>
          </p:cNvSpPr>
          <p:nvPr>
            <p:ph type="title"/>
          </p:nvPr>
        </p:nvSpPr>
        <p:spPr/>
        <p:txBody>
          <a:bodyPr/>
          <a:lstStyle/>
          <a:p>
            <a:r>
              <a:rPr lang="en-US" dirty="0">
                <a:solidFill>
                  <a:schemeClr val="accent1">
                    <a:lumMod val="75000"/>
                  </a:schemeClr>
                </a:solidFill>
              </a:rPr>
              <a:t>PURCHASE OF LAND</a:t>
            </a:r>
            <a:endParaRPr lang="en-US" dirty="0"/>
          </a:p>
        </p:txBody>
      </p:sp>
      <p:sp>
        <p:nvSpPr>
          <p:cNvPr id="3" name="Content Placeholder 2">
            <a:extLst>
              <a:ext uri="{FF2B5EF4-FFF2-40B4-BE49-F238E27FC236}">
                <a16:creationId xmlns="" xmlns:a16="http://schemas.microsoft.com/office/drawing/2014/main" id="{463300F0-3D7C-414A-8A11-4D289C4DB4D2}"/>
              </a:ext>
            </a:extLst>
          </p:cNvPr>
          <p:cNvSpPr>
            <a:spLocks noGrp="1"/>
          </p:cNvSpPr>
          <p:nvPr>
            <p:ph sz="quarter" idx="1"/>
          </p:nvPr>
        </p:nvSpPr>
        <p:spPr/>
        <p:txBody>
          <a:bodyPr>
            <a:normAutofit/>
          </a:bodyPr>
          <a:lstStyle/>
          <a:p>
            <a:pPr>
              <a:buFont typeface="Wingdings" panose="05000000000000000000" pitchFamily="2" charset="2"/>
              <a:buChar char="v"/>
            </a:pPr>
            <a:r>
              <a:rPr lang="en-US" sz="2400" b="1" dirty="0">
                <a:solidFill>
                  <a:schemeClr val="accent1">
                    <a:lumMod val="75000"/>
                  </a:schemeClr>
                </a:solidFill>
                <a:latin typeface="Times New Roman" pitchFamily="18" charset="0"/>
                <a:cs typeface="Times New Roman" pitchFamily="18" charset="0"/>
              </a:rPr>
              <a:t>Chapter-2 of the Manual of </a:t>
            </a:r>
            <a:r>
              <a:rPr lang="en-US" sz="2400" b="1" dirty="0" smtClean="0">
                <a:solidFill>
                  <a:schemeClr val="accent1">
                    <a:lumMod val="75000"/>
                  </a:schemeClr>
                </a:solidFill>
                <a:latin typeface="Times New Roman" pitchFamily="18" charset="0"/>
                <a:cs typeface="Times New Roman" pitchFamily="18" charset="0"/>
              </a:rPr>
              <a:t>Infrastructure;</a:t>
            </a:r>
            <a:endParaRPr lang="en-US" sz="2400" b="1" dirty="0">
              <a:solidFill>
                <a:schemeClr val="accent1">
                  <a:lumMod val="75000"/>
                </a:schemeClr>
              </a:solidFill>
              <a:latin typeface="Times New Roman" pitchFamily="18" charset="0"/>
              <a:cs typeface="Times New Roman" pitchFamily="18" charset="0"/>
            </a:endParaRPr>
          </a:p>
          <a:p>
            <a:pPr marL="0" indent="0">
              <a:buNone/>
            </a:pPr>
            <a:endParaRPr lang="en-US" sz="2400" b="1" dirty="0">
              <a:solidFill>
                <a:schemeClr val="accent1">
                  <a:lumMod val="75000"/>
                </a:schemeClr>
              </a:solidFill>
              <a:latin typeface="Times New Roman" pitchFamily="18" charset="0"/>
              <a:cs typeface="Times New Roman" pitchFamily="18" charset="0"/>
            </a:endParaRPr>
          </a:p>
          <a:p>
            <a:pPr algn="jus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Most crucial aspect is the </a:t>
            </a:r>
            <a:r>
              <a:rPr lang="en-US" sz="2400" b="1" dirty="0">
                <a:solidFill>
                  <a:schemeClr val="accent1">
                    <a:lumMod val="75000"/>
                  </a:schemeClr>
                </a:solidFill>
                <a:latin typeface="Times New Roman" panose="02020603050405020304" pitchFamily="18" charset="0"/>
                <a:cs typeface="Times New Roman" panose="02020603050405020304" pitchFamily="18" charset="0"/>
              </a:rPr>
              <a:t>calculation of the space requirement for office and residential quarters </a:t>
            </a:r>
            <a:r>
              <a:rPr lang="en-US" sz="2400" dirty="0">
                <a:latin typeface="Times New Roman" panose="02020603050405020304" pitchFamily="18" charset="0"/>
                <a:cs typeface="Times New Roman" panose="02020603050405020304" pitchFamily="18" charset="0"/>
              </a:rPr>
              <a:t>to be done as per the norms prescribed in the Infrastructure </a:t>
            </a:r>
            <a:r>
              <a:rPr lang="en-US" sz="2400" dirty="0" smtClean="0">
                <a:latin typeface="Times New Roman" panose="02020603050405020304" pitchFamily="18" charset="0"/>
                <a:cs typeface="Times New Roman" panose="02020603050405020304" pitchFamily="18" charset="0"/>
              </a:rPr>
              <a:t>Manual;</a:t>
            </a: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2400" b="1" dirty="0">
                <a:solidFill>
                  <a:schemeClr val="accent1">
                    <a:lumMod val="75000"/>
                  </a:schemeClr>
                </a:solidFill>
                <a:latin typeface="Times New Roman" panose="02020603050405020304" pitchFamily="18" charset="0"/>
                <a:cs typeface="Times New Roman" panose="02020603050405020304" pitchFamily="18" charset="0"/>
              </a:rPr>
              <a:t>Space requirement for special components </a:t>
            </a:r>
            <a:r>
              <a:rPr lang="en-US" sz="2400" dirty="0">
                <a:latin typeface="Times New Roman" panose="02020603050405020304" pitchFamily="18" charset="0"/>
                <a:cs typeface="Times New Roman" panose="02020603050405020304" pitchFamily="18" charset="0"/>
              </a:rPr>
              <a:t> should be calculated as per category of building. In case of  any additional requirements, proper justification must be provided.</a:t>
            </a:r>
          </a:p>
          <a:p>
            <a:pPr marL="0" indent="0">
              <a:buNone/>
            </a:pPr>
            <a:endParaRPr lang="en-US" dirty="0"/>
          </a:p>
        </p:txBody>
      </p:sp>
    </p:spTree>
    <p:extLst>
      <p:ext uri="{BB962C8B-B14F-4D97-AF65-F5344CB8AC3E}">
        <p14:creationId xmlns="" xmlns:p14="http://schemas.microsoft.com/office/powerpoint/2010/main" val="10310733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noAutofit/>
          </a:bodyPr>
          <a:lstStyle/>
          <a:p>
            <a:r>
              <a:rPr lang="en-US" sz="3200" dirty="0">
                <a:solidFill>
                  <a:schemeClr val="accent1">
                    <a:lumMod val="75000"/>
                  </a:schemeClr>
                </a:solidFill>
                <a:latin typeface="Times New Roman" panose="02020603050405020304" pitchFamily="18" charset="0"/>
                <a:cs typeface="Times New Roman" pitchFamily="18" charset="0"/>
              </a:rPr>
              <a:t>SPACE REQUIREMENT CALCULATION</a:t>
            </a:r>
          </a:p>
        </p:txBody>
      </p:sp>
      <p:graphicFrame>
        <p:nvGraphicFramePr>
          <p:cNvPr id="4" name="Content Placeholder 3"/>
          <p:cNvGraphicFramePr>
            <a:graphicFrameLocks noGrp="1"/>
          </p:cNvGraphicFramePr>
          <p:nvPr>
            <p:ph idx="1"/>
            <p:extLst>
              <p:ext uri="{D42A27DB-BD31-4B8C-83A1-F6EECF244321}">
                <p14:modId xmlns="" xmlns:p14="http://schemas.microsoft.com/office/powerpoint/2010/main" val="2863193962"/>
              </p:ext>
            </p:extLst>
          </p:nvPr>
        </p:nvGraphicFramePr>
        <p:xfrm>
          <a:off x="428596" y="1142984"/>
          <a:ext cx="8229599" cy="5491644"/>
        </p:xfrm>
        <a:graphic>
          <a:graphicData uri="http://schemas.openxmlformats.org/drawingml/2006/table">
            <a:tbl>
              <a:tblPr firstRow="1" bandRow="1">
                <a:tableStyleId>{5C22544A-7EE6-4342-B048-85BDC9FD1C3A}</a:tableStyleId>
              </a:tblPr>
              <a:tblGrid>
                <a:gridCol w="685776">
                  <a:extLst>
                    <a:ext uri="{9D8B030D-6E8A-4147-A177-3AD203B41FA5}">
                      <a16:colId xmlns="" xmlns:a16="http://schemas.microsoft.com/office/drawing/2014/main" val="20000"/>
                    </a:ext>
                  </a:extLst>
                </a:gridCol>
                <a:gridCol w="1600240">
                  <a:extLst>
                    <a:ext uri="{9D8B030D-6E8A-4147-A177-3AD203B41FA5}">
                      <a16:colId xmlns="" xmlns:a16="http://schemas.microsoft.com/office/drawing/2014/main" val="20001"/>
                    </a:ext>
                  </a:extLst>
                </a:gridCol>
                <a:gridCol w="857224">
                  <a:extLst>
                    <a:ext uri="{9D8B030D-6E8A-4147-A177-3AD203B41FA5}">
                      <a16:colId xmlns="" xmlns:a16="http://schemas.microsoft.com/office/drawing/2014/main" val="20002"/>
                    </a:ext>
                  </a:extLst>
                </a:gridCol>
                <a:gridCol w="1071570">
                  <a:extLst>
                    <a:ext uri="{9D8B030D-6E8A-4147-A177-3AD203B41FA5}">
                      <a16:colId xmlns="" xmlns:a16="http://schemas.microsoft.com/office/drawing/2014/main" val="20003"/>
                    </a:ext>
                  </a:extLst>
                </a:gridCol>
                <a:gridCol w="1000132">
                  <a:extLst>
                    <a:ext uri="{9D8B030D-6E8A-4147-A177-3AD203B41FA5}">
                      <a16:colId xmlns="" xmlns:a16="http://schemas.microsoft.com/office/drawing/2014/main" val="20004"/>
                    </a:ext>
                  </a:extLst>
                </a:gridCol>
                <a:gridCol w="1000132">
                  <a:extLst>
                    <a:ext uri="{9D8B030D-6E8A-4147-A177-3AD203B41FA5}">
                      <a16:colId xmlns="" xmlns:a16="http://schemas.microsoft.com/office/drawing/2014/main" val="20005"/>
                    </a:ext>
                  </a:extLst>
                </a:gridCol>
                <a:gridCol w="2014525">
                  <a:extLst>
                    <a:ext uri="{9D8B030D-6E8A-4147-A177-3AD203B41FA5}">
                      <a16:colId xmlns="" xmlns:a16="http://schemas.microsoft.com/office/drawing/2014/main" val="20006"/>
                    </a:ext>
                  </a:extLst>
                </a:gridCol>
              </a:tblGrid>
              <a:tr h="472672">
                <a:tc rowSpan="2">
                  <a:txBody>
                    <a:bodyPr/>
                    <a:lstStyle/>
                    <a:p>
                      <a:pPr algn="ctr"/>
                      <a:r>
                        <a:rPr lang="en-US" sz="1800" dirty="0" err="1">
                          <a:latin typeface="Times New Roman" pitchFamily="18" charset="0"/>
                          <a:cs typeface="Times New Roman" pitchFamily="18" charset="0"/>
                        </a:rPr>
                        <a:t>S</a:t>
                      </a:r>
                      <a:r>
                        <a:rPr lang="en-US" sz="1800" err="1">
                          <a:latin typeface="Times New Roman" pitchFamily="18" charset="0"/>
                          <a:cs typeface="Times New Roman" pitchFamily="18" charset="0"/>
                        </a:rPr>
                        <a:t>.</a:t>
                      </a:r>
                      <a:r>
                        <a:rPr lang="en-US" sz="1800">
                          <a:latin typeface="Times New Roman" pitchFamily="18" charset="0"/>
                          <a:cs typeface="Times New Roman" pitchFamily="18" charset="0"/>
                        </a:rPr>
                        <a:t>No</a:t>
                      </a:r>
                      <a:endParaRPr lang="en-US" sz="1800" dirty="0">
                        <a:latin typeface="Times New Roman" pitchFamily="18" charset="0"/>
                        <a:cs typeface="Times New Roman" pitchFamily="18" charset="0"/>
                      </a:endParaRPr>
                    </a:p>
                  </a:txBody>
                  <a:tcPr/>
                </a:tc>
                <a:tc rowSpan="2">
                  <a:txBody>
                    <a:bodyPr/>
                    <a:lstStyle/>
                    <a:p>
                      <a:pPr algn="ctr"/>
                      <a:r>
                        <a:rPr lang="en-US" sz="1800" dirty="0">
                          <a:latin typeface="Times New Roman" pitchFamily="18" charset="0"/>
                          <a:cs typeface="Times New Roman" pitchFamily="18" charset="0"/>
                        </a:rPr>
                        <a:t>Special Components</a:t>
                      </a:r>
                    </a:p>
                  </a:txBody>
                  <a:tcPr/>
                </a:tc>
                <a:tc gridSpan="4">
                  <a:txBody>
                    <a:bodyPr/>
                    <a:lstStyle/>
                    <a:p>
                      <a:pPr algn="ctr"/>
                      <a:r>
                        <a:rPr lang="en-US" sz="1800" dirty="0">
                          <a:latin typeface="Times New Roman" pitchFamily="18" charset="0"/>
                          <a:cs typeface="Times New Roman" pitchFamily="18" charset="0"/>
                        </a:rPr>
                        <a:t>Carpet Area</a:t>
                      </a:r>
                      <a:r>
                        <a:rPr lang="en-US" sz="1800" baseline="0" dirty="0">
                          <a:latin typeface="Times New Roman" pitchFamily="18" charset="0"/>
                          <a:cs typeface="Times New Roman" pitchFamily="18" charset="0"/>
                        </a:rPr>
                        <a:t> (Sq. </a:t>
                      </a:r>
                      <a:r>
                        <a:rPr lang="en-US" sz="1800" baseline="0" dirty="0" err="1">
                          <a:latin typeface="Times New Roman" pitchFamily="18" charset="0"/>
                          <a:cs typeface="Times New Roman" pitchFamily="18" charset="0"/>
                        </a:rPr>
                        <a:t>Mtrs</a:t>
                      </a:r>
                      <a:r>
                        <a:rPr lang="en-US" sz="1800" baseline="0" dirty="0">
                          <a:latin typeface="Times New Roman" pitchFamily="18" charset="0"/>
                          <a:cs typeface="Times New Roman" pitchFamily="18" charset="0"/>
                        </a:rPr>
                        <a:t>.)  for category</a:t>
                      </a:r>
                      <a:endParaRPr lang="en-US" sz="1800" dirty="0">
                        <a:latin typeface="Times New Roman" pitchFamily="18" charset="0"/>
                        <a:cs typeface="Times New Roman" pitchFamily="18" charset="0"/>
                      </a:endParaRPr>
                    </a:p>
                  </a:txBody>
                  <a:tcPr>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dirty="0"/>
                    </a:p>
                  </a:txBody>
                  <a:tcPr/>
                </a:tc>
                <a:tc hMerge="1">
                  <a:txBody>
                    <a:bodyPr/>
                    <a:lstStyle/>
                    <a:p>
                      <a:endParaRPr lang="en-US" dirty="0"/>
                    </a:p>
                  </a:txBody>
                  <a:tcPr/>
                </a:tc>
                <a:tc rowSpan="2">
                  <a:txBody>
                    <a:bodyPr/>
                    <a:lstStyle/>
                    <a:p>
                      <a:pPr algn="ctr"/>
                      <a:r>
                        <a:rPr lang="en-US" sz="1800" dirty="0">
                          <a:latin typeface="Times New Roman" pitchFamily="18" charset="0"/>
                          <a:cs typeface="Times New Roman" pitchFamily="18" charset="0"/>
                        </a:rPr>
                        <a:t>Remarks</a:t>
                      </a:r>
                    </a:p>
                  </a:txBody>
                  <a:tcPr/>
                </a:tc>
                <a:extLst>
                  <a:ext uri="{0D108BD9-81ED-4DB2-BD59-A6C34878D82A}">
                    <a16:rowId xmlns="" xmlns:a16="http://schemas.microsoft.com/office/drawing/2014/main" val="10000"/>
                  </a:ext>
                </a:extLst>
              </a:tr>
              <a:tr h="472672">
                <a:tc vMerge="1">
                  <a:txBody>
                    <a:bodyPr/>
                    <a:lstStyle/>
                    <a:p>
                      <a:endParaRPr lang="en-US"/>
                    </a:p>
                  </a:txBody>
                  <a:tcPr/>
                </a:tc>
                <a:tc vMerge="1">
                  <a:txBody>
                    <a:bodyPr/>
                    <a:lstStyle/>
                    <a:p>
                      <a:endParaRPr lang="en-US"/>
                    </a:p>
                  </a:txBody>
                  <a:tcPr/>
                </a:tc>
                <a:tc>
                  <a:txBody>
                    <a:bodyPr/>
                    <a:lstStyle/>
                    <a:p>
                      <a:pPr algn="ctr"/>
                      <a:r>
                        <a:rPr lang="en-US" sz="1800" dirty="0">
                          <a:solidFill>
                            <a:schemeClr val="bg1"/>
                          </a:solidFill>
                          <a:latin typeface="Times New Roman" pitchFamily="18" charset="0"/>
                          <a:cs typeface="Times New Roman" pitchFamily="18" charset="0"/>
                        </a:rPr>
                        <a:t>I</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1"/>
                    </a:solidFill>
                  </a:tcPr>
                </a:tc>
                <a:tc>
                  <a:txBody>
                    <a:bodyPr/>
                    <a:lstStyle/>
                    <a:p>
                      <a:pPr algn="ctr"/>
                      <a:r>
                        <a:rPr lang="en-US" sz="1800" dirty="0">
                          <a:solidFill>
                            <a:schemeClr val="bg1"/>
                          </a:solidFill>
                          <a:latin typeface="Times New Roman" pitchFamily="18" charset="0"/>
                          <a:cs typeface="Times New Roman" pitchFamily="18" charset="0"/>
                        </a:rPr>
                        <a:t>II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1"/>
                    </a:solidFill>
                  </a:tcPr>
                </a:tc>
                <a:tc>
                  <a:txBody>
                    <a:bodyPr/>
                    <a:lstStyle/>
                    <a:p>
                      <a:pPr algn="ctr"/>
                      <a:r>
                        <a:rPr lang="en-US" sz="1800" dirty="0">
                          <a:solidFill>
                            <a:schemeClr val="bg1"/>
                          </a:solidFill>
                          <a:latin typeface="Times New Roman" pitchFamily="18" charset="0"/>
                          <a:cs typeface="Times New Roman" pitchFamily="18" charset="0"/>
                        </a:rPr>
                        <a:t>III</a:t>
                      </a:r>
                    </a:p>
                  </a:txBody>
                  <a:tcPr>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1"/>
                    </a:solidFill>
                  </a:tcPr>
                </a:tc>
                <a:tc>
                  <a:txBody>
                    <a:bodyPr/>
                    <a:lstStyle/>
                    <a:p>
                      <a:pPr algn="ctr"/>
                      <a:r>
                        <a:rPr lang="en-US" sz="1800" dirty="0">
                          <a:solidFill>
                            <a:schemeClr val="bg1"/>
                          </a:solidFill>
                          <a:latin typeface="Times New Roman" pitchFamily="18" charset="0"/>
                          <a:cs typeface="Times New Roman" pitchFamily="18" charset="0"/>
                        </a:rPr>
                        <a:t>IV</a:t>
                      </a:r>
                    </a:p>
                  </a:txBody>
                  <a:tcPr>
                    <a:lnL w="952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1"/>
                    </a:solidFill>
                  </a:tcPr>
                </a:tc>
                <a:tc vMerge="1">
                  <a:txBody>
                    <a:bodyPr/>
                    <a:lstStyle/>
                    <a:p>
                      <a:endParaRPr lang="en-US"/>
                    </a:p>
                  </a:txBody>
                  <a:tcPr/>
                </a:tc>
                <a:extLst>
                  <a:ext uri="{0D108BD9-81ED-4DB2-BD59-A6C34878D82A}">
                    <a16:rowId xmlns="" xmlns:a16="http://schemas.microsoft.com/office/drawing/2014/main" val="10001"/>
                  </a:ext>
                </a:extLst>
              </a:tr>
              <a:tr h="383390">
                <a:tc>
                  <a:txBody>
                    <a:bodyPr/>
                    <a:lstStyle/>
                    <a:p>
                      <a:r>
                        <a:rPr lang="en-US" sz="1400" dirty="0">
                          <a:latin typeface="Times New Roman" pitchFamily="18" charset="0"/>
                          <a:cs typeface="Times New Roman" pitchFamily="18" charset="0"/>
                        </a:rPr>
                        <a:t>1</a:t>
                      </a:r>
                    </a:p>
                  </a:txBody>
                  <a:tcPr/>
                </a:tc>
                <a:tc>
                  <a:txBody>
                    <a:bodyPr/>
                    <a:lstStyle/>
                    <a:p>
                      <a:pPr algn="l"/>
                      <a:r>
                        <a:rPr lang="en-US" sz="1400" dirty="0">
                          <a:latin typeface="Times New Roman" pitchFamily="18" charset="0"/>
                          <a:cs typeface="Times New Roman" pitchFamily="18" charset="0"/>
                        </a:rPr>
                        <a:t>Entrance Hall with Reception</a:t>
                      </a:r>
                      <a:r>
                        <a:rPr lang="en-US" sz="1400" baseline="0" dirty="0">
                          <a:latin typeface="Times New Roman" pitchFamily="18" charset="0"/>
                          <a:cs typeface="Times New Roman" pitchFamily="18" charset="0"/>
                        </a:rPr>
                        <a:t> Waiting etc.</a:t>
                      </a:r>
                      <a:endParaRPr lang="en-US" sz="1400" dirty="0">
                        <a:latin typeface="Times New Roman" pitchFamily="18" charset="0"/>
                        <a:cs typeface="Times New Roman" pitchFamily="18" charset="0"/>
                      </a:endParaRPr>
                    </a:p>
                  </a:txBody>
                  <a:tcPr/>
                </a:tc>
                <a:tc>
                  <a:txBody>
                    <a:bodyPr/>
                    <a:lstStyle/>
                    <a:p>
                      <a:pPr algn="ctr"/>
                      <a:r>
                        <a:rPr lang="en-US" sz="1400" dirty="0">
                          <a:latin typeface="Times New Roman" pitchFamily="18" charset="0"/>
                          <a:cs typeface="Times New Roman" pitchFamily="18" charset="0"/>
                        </a:rPr>
                        <a:t>33</a:t>
                      </a:r>
                    </a:p>
                  </a:txBody>
                  <a:tcPr>
                    <a:lnR w="9525" cap="flat" cmpd="sng" algn="ctr">
                      <a:solidFill>
                        <a:schemeClr val="bg1"/>
                      </a:solidFill>
                      <a:prstDash val="solid"/>
                      <a:round/>
                      <a:headEnd type="none" w="med" len="med"/>
                      <a:tailEnd type="none" w="med" len="med"/>
                    </a:lnR>
                  </a:tcPr>
                </a:tc>
                <a:tc>
                  <a:txBody>
                    <a:bodyPr/>
                    <a:lstStyle/>
                    <a:p>
                      <a:pPr algn="ctr"/>
                      <a:r>
                        <a:rPr lang="en-US" sz="1400" dirty="0">
                          <a:latin typeface="Times New Roman" pitchFamily="18" charset="0"/>
                          <a:cs typeface="Times New Roman" pitchFamily="18" charset="0"/>
                        </a:rPr>
                        <a:t>66</a:t>
                      </a:r>
                    </a:p>
                  </a:txBody>
                  <a:tcPr>
                    <a:lnL w="9525" cap="flat" cmpd="sng" algn="ctr">
                      <a:solidFill>
                        <a:schemeClr val="bg1"/>
                      </a:solidFill>
                      <a:prstDash val="solid"/>
                      <a:round/>
                      <a:headEnd type="none" w="med" len="med"/>
                      <a:tailEnd type="none" w="med" len="med"/>
                    </a:lnL>
                  </a:tcPr>
                </a:tc>
                <a:tc>
                  <a:txBody>
                    <a:bodyPr/>
                    <a:lstStyle/>
                    <a:p>
                      <a:pPr algn="ctr"/>
                      <a:r>
                        <a:rPr lang="en-US" sz="1400" dirty="0">
                          <a:latin typeface="Times New Roman" pitchFamily="18" charset="0"/>
                          <a:cs typeface="Times New Roman" pitchFamily="18" charset="0"/>
                        </a:rPr>
                        <a:t>88</a:t>
                      </a:r>
                    </a:p>
                  </a:txBody>
                  <a:tcPr/>
                </a:tc>
                <a:tc>
                  <a:txBody>
                    <a:bodyPr/>
                    <a:lstStyle/>
                    <a:p>
                      <a:pPr algn="ctr"/>
                      <a:r>
                        <a:rPr lang="en-US" sz="1400" dirty="0">
                          <a:latin typeface="Times New Roman" pitchFamily="18" charset="0"/>
                          <a:cs typeface="Times New Roman" pitchFamily="18" charset="0"/>
                        </a:rPr>
                        <a:t>110</a:t>
                      </a:r>
                    </a:p>
                  </a:txBody>
                  <a:tcPr/>
                </a:tc>
                <a:tc>
                  <a:txBody>
                    <a:bodyPr/>
                    <a:lstStyle/>
                    <a:p>
                      <a:pPr algn="ctr"/>
                      <a:endParaRPr lang="en-US" sz="1400" dirty="0">
                        <a:latin typeface="Times New Roman" pitchFamily="18" charset="0"/>
                        <a:cs typeface="Times New Roman" pitchFamily="18" charset="0"/>
                      </a:endParaRPr>
                    </a:p>
                  </a:txBody>
                  <a:tcPr/>
                </a:tc>
                <a:extLst>
                  <a:ext uri="{0D108BD9-81ED-4DB2-BD59-A6C34878D82A}">
                    <a16:rowId xmlns="" xmlns:a16="http://schemas.microsoft.com/office/drawing/2014/main" val="10002"/>
                  </a:ext>
                </a:extLst>
              </a:tr>
              <a:tr h="383390">
                <a:tc>
                  <a:txBody>
                    <a:bodyPr/>
                    <a:lstStyle/>
                    <a:p>
                      <a:r>
                        <a:rPr lang="en-US" sz="1400" dirty="0">
                          <a:latin typeface="Times New Roman" pitchFamily="18" charset="0"/>
                          <a:cs typeface="Times New Roman" pitchFamily="18" charset="0"/>
                        </a:rPr>
                        <a:t>2.</a:t>
                      </a:r>
                    </a:p>
                  </a:txBody>
                  <a:tcPr/>
                </a:tc>
                <a:tc>
                  <a:txBody>
                    <a:bodyPr/>
                    <a:lstStyle/>
                    <a:p>
                      <a:pPr algn="l"/>
                      <a:r>
                        <a:rPr lang="en-US" sz="1400" dirty="0">
                          <a:latin typeface="Times New Roman" pitchFamily="18" charset="0"/>
                          <a:cs typeface="Times New Roman" pitchFamily="18" charset="0"/>
                        </a:rPr>
                        <a:t>Public</a:t>
                      </a:r>
                    </a:p>
                  </a:txBody>
                  <a:tcPr/>
                </a:tc>
                <a:tc>
                  <a:txBody>
                    <a:bodyPr/>
                    <a:lstStyle/>
                    <a:p>
                      <a:pPr algn="ctr"/>
                      <a:r>
                        <a:rPr lang="en-US" sz="1400" dirty="0">
                          <a:latin typeface="Times New Roman" pitchFamily="18" charset="0"/>
                          <a:cs typeface="Times New Roman" pitchFamily="18" charset="0"/>
                        </a:rPr>
                        <a:t>-</a:t>
                      </a:r>
                    </a:p>
                  </a:txBody>
                  <a:tcPr>
                    <a:lnR w="9525" cap="flat" cmpd="sng" algn="ctr">
                      <a:solidFill>
                        <a:schemeClr val="bg1"/>
                      </a:solidFill>
                      <a:prstDash val="solid"/>
                      <a:round/>
                      <a:headEnd type="none" w="med" len="med"/>
                      <a:tailEnd type="none" w="med" len="med"/>
                    </a:lnR>
                  </a:tcPr>
                </a:tc>
                <a:tc>
                  <a:txBody>
                    <a:bodyPr/>
                    <a:lstStyle/>
                    <a:p>
                      <a:pPr algn="ctr"/>
                      <a:r>
                        <a:rPr lang="en-US" sz="1400" dirty="0">
                          <a:latin typeface="Times New Roman" pitchFamily="18" charset="0"/>
                          <a:cs typeface="Times New Roman" pitchFamily="18" charset="0"/>
                        </a:rPr>
                        <a:t>-</a:t>
                      </a:r>
                    </a:p>
                  </a:txBody>
                  <a:tcPr>
                    <a:lnL w="9525" cap="flat" cmpd="sng" algn="ctr">
                      <a:solidFill>
                        <a:schemeClr val="bg1"/>
                      </a:solidFill>
                      <a:prstDash val="solid"/>
                      <a:round/>
                      <a:headEnd type="none" w="med" len="med"/>
                      <a:tailEnd type="none" w="med" len="med"/>
                    </a:lnL>
                  </a:tcPr>
                </a:tc>
                <a:tc>
                  <a:txBody>
                    <a:bodyPr/>
                    <a:lstStyle/>
                    <a:p>
                      <a:pPr algn="ctr"/>
                      <a:r>
                        <a:rPr lang="en-US" sz="1400" dirty="0">
                          <a:latin typeface="Times New Roman" pitchFamily="18" charset="0"/>
                          <a:cs typeface="Times New Roman" pitchFamily="18" charset="0"/>
                        </a:rPr>
                        <a:t>-</a:t>
                      </a:r>
                    </a:p>
                  </a:txBody>
                  <a:tcPr/>
                </a:tc>
                <a:tc>
                  <a:txBody>
                    <a:bodyPr/>
                    <a:lstStyle/>
                    <a:p>
                      <a:pPr algn="ctr"/>
                      <a:r>
                        <a:rPr lang="en-US" sz="1400" dirty="0">
                          <a:latin typeface="Times New Roman" pitchFamily="18" charset="0"/>
                          <a:cs typeface="Times New Roman" pitchFamily="18" charset="0"/>
                        </a:rPr>
                        <a:t>-</a:t>
                      </a:r>
                    </a:p>
                  </a:txBody>
                  <a:tcPr/>
                </a:tc>
                <a:tc>
                  <a:txBody>
                    <a:bodyPr/>
                    <a:lstStyle/>
                    <a:p>
                      <a:pPr algn="ctr"/>
                      <a:r>
                        <a:rPr lang="en-US" sz="1400" dirty="0">
                          <a:latin typeface="Times New Roman" pitchFamily="18" charset="0"/>
                          <a:cs typeface="Times New Roman" pitchFamily="18" charset="0"/>
                        </a:rPr>
                        <a:t>As per requirement</a:t>
                      </a:r>
                    </a:p>
                  </a:txBody>
                  <a:tcPr/>
                </a:tc>
                <a:extLst>
                  <a:ext uri="{0D108BD9-81ED-4DB2-BD59-A6C34878D82A}">
                    <a16:rowId xmlns="" xmlns:a16="http://schemas.microsoft.com/office/drawing/2014/main" val="10003"/>
                  </a:ext>
                </a:extLst>
              </a:tr>
              <a:tr h="511514">
                <a:tc>
                  <a:txBody>
                    <a:bodyPr/>
                    <a:lstStyle/>
                    <a:p>
                      <a:r>
                        <a:rPr lang="en-US" sz="1400" dirty="0">
                          <a:latin typeface="Times New Roman" pitchFamily="18" charset="0"/>
                          <a:cs typeface="Times New Roman" pitchFamily="18" charset="0"/>
                        </a:rPr>
                        <a:t>3.</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itchFamily="18" charset="0"/>
                          <a:cs typeface="Times New Roman" pitchFamily="18" charset="0"/>
                        </a:rPr>
                        <a:t>Conference Relations</a:t>
                      </a:r>
                      <a:r>
                        <a:rPr lang="en-US" sz="1400" baseline="0" dirty="0">
                          <a:latin typeface="Times New Roman" pitchFamily="18" charset="0"/>
                          <a:cs typeface="Times New Roman" pitchFamily="18" charset="0"/>
                        </a:rPr>
                        <a:t> Unit</a:t>
                      </a:r>
                      <a:endParaRPr lang="en-US" sz="1400" dirty="0">
                        <a:latin typeface="Times New Roman" pitchFamily="18" charset="0"/>
                        <a:cs typeface="Times New Roman" pitchFamily="18" charset="0"/>
                      </a:endParaRPr>
                    </a:p>
                  </a:txBody>
                  <a:tcPr/>
                </a:tc>
                <a:tc>
                  <a:txBody>
                    <a:bodyPr/>
                    <a:lstStyle/>
                    <a:p>
                      <a:pPr algn="ctr"/>
                      <a:endParaRPr lang="en-US" sz="1400" dirty="0">
                        <a:latin typeface="Times New Roman" pitchFamily="18" charset="0"/>
                        <a:cs typeface="Times New Roman" pitchFamily="18" charset="0"/>
                      </a:endParaRPr>
                    </a:p>
                  </a:txBody>
                  <a:tcPr>
                    <a:lnR w="9525" cap="flat" cmpd="sng" algn="ctr">
                      <a:solidFill>
                        <a:schemeClr val="bg1"/>
                      </a:solidFill>
                      <a:prstDash val="solid"/>
                      <a:round/>
                      <a:headEnd type="none" w="med" len="med"/>
                      <a:tailEnd type="none" w="med" len="med"/>
                    </a:lnR>
                  </a:tcPr>
                </a:tc>
                <a:tc>
                  <a:txBody>
                    <a:bodyPr/>
                    <a:lstStyle/>
                    <a:p>
                      <a:pPr algn="ctr"/>
                      <a:r>
                        <a:rPr lang="en-US" sz="1400" dirty="0">
                          <a:latin typeface="Times New Roman" pitchFamily="18" charset="0"/>
                          <a:cs typeface="Times New Roman" pitchFamily="18" charset="0"/>
                        </a:rPr>
                        <a:t>22</a:t>
                      </a:r>
                    </a:p>
                  </a:txBody>
                  <a:tcPr>
                    <a:lnL w="9525" cap="flat" cmpd="sng" algn="ctr">
                      <a:solidFill>
                        <a:schemeClr val="bg1"/>
                      </a:solidFill>
                      <a:prstDash val="solid"/>
                      <a:round/>
                      <a:headEnd type="none" w="med" len="med"/>
                      <a:tailEnd type="none" w="med" len="med"/>
                    </a:lnL>
                  </a:tcPr>
                </a:tc>
                <a:tc>
                  <a:txBody>
                    <a:bodyPr/>
                    <a:lstStyle/>
                    <a:p>
                      <a:pPr algn="ctr"/>
                      <a:r>
                        <a:rPr lang="en-US" sz="1400" dirty="0">
                          <a:latin typeface="Times New Roman" pitchFamily="18" charset="0"/>
                          <a:cs typeface="Times New Roman" pitchFamily="18" charset="0"/>
                        </a:rPr>
                        <a:t>44</a:t>
                      </a:r>
                    </a:p>
                  </a:txBody>
                  <a:tcPr/>
                </a:tc>
                <a:tc>
                  <a:txBody>
                    <a:bodyPr/>
                    <a:lstStyle/>
                    <a:p>
                      <a:pPr algn="ctr"/>
                      <a:r>
                        <a:rPr lang="en-US" sz="1400" dirty="0">
                          <a:latin typeface="Times New Roman" pitchFamily="18" charset="0"/>
                          <a:cs typeface="Times New Roman" pitchFamily="18" charset="0"/>
                        </a:rPr>
                        <a:t>44</a:t>
                      </a:r>
                    </a:p>
                  </a:txBody>
                  <a:tcPr/>
                </a:tc>
                <a:tc>
                  <a:txBody>
                    <a:bodyPr/>
                    <a:lstStyle/>
                    <a:p>
                      <a:pPr algn="ctr"/>
                      <a:endParaRPr lang="en-US" sz="1400" dirty="0">
                        <a:latin typeface="Times New Roman" pitchFamily="18" charset="0"/>
                        <a:cs typeface="Times New Roman" pitchFamily="18" charset="0"/>
                      </a:endParaRPr>
                    </a:p>
                  </a:txBody>
                  <a:tcPr/>
                </a:tc>
                <a:extLst>
                  <a:ext uri="{0D108BD9-81ED-4DB2-BD59-A6C34878D82A}">
                    <a16:rowId xmlns="" xmlns:a16="http://schemas.microsoft.com/office/drawing/2014/main" val="10004"/>
                  </a:ext>
                </a:extLst>
              </a:tr>
              <a:tr h="383390">
                <a:tc>
                  <a:txBody>
                    <a:bodyPr/>
                    <a:lstStyle/>
                    <a:p>
                      <a:r>
                        <a:rPr lang="en-US" sz="1400" dirty="0">
                          <a:latin typeface="Times New Roman" pitchFamily="18" charset="0"/>
                          <a:cs typeface="Times New Roman" pitchFamily="18" charset="0"/>
                        </a:rPr>
                        <a:t>4.</a:t>
                      </a:r>
                    </a:p>
                  </a:txBody>
                  <a:tcPr/>
                </a:tc>
                <a:tc>
                  <a:txBody>
                    <a:bodyPr/>
                    <a:lstStyle/>
                    <a:p>
                      <a:pPr algn="l"/>
                      <a:r>
                        <a:rPr lang="en-US" sz="1400" dirty="0">
                          <a:latin typeface="Times New Roman" pitchFamily="18" charset="0"/>
                          <a:cs typeface="Times New Roman" pitchFamily="18" charset="0"/>
                        </a:rPr>
                        <a:t>Strong</a:t>
                      </a:r>
                      <a:r>
                        <a:rPr lang="en-US" sz="1400" baseline="0" dirty="0">
                          <a:latin typeface="Times New Roman" pitchFamily="18" charset="0"/>
                          <a:cs typeface="Times New Roman" pitchFamily="18" charset="0"/>
                        </a:rPr>
                        <a:t> Room</a:t>
                      </a:r>
                      <a:endParaRPr lang="en-US" sz="1400" dirty="0">
                        <a:latin typeface="Times New Roman" pitchFamily="18" charset="0"/>
                        <a:cs typeface="Times New Roman" pitchFamily="18" charset="0"/>
                      </a:endParaRPr>
                    </a:p>
                  </a:txBody>
                  <a:tcPr/>
                </a:tc>
                <a:tc>
                  <a:txBody>
                    <a:bodyPr/>
                    <a:lstStyle/>
                    <a:p>
                      <a:pPr algn="ctr"/>
                      <a:r>
                        <a:rPr lang="en-US" sz="1400" dirty="0">
                          <a:latin typeface="Times New Roman" pitchFamily="18" charset="0"/>
                          <a:cs typeface="Times New Roman" pitchFamily="18" charset="0"/>
                        </a:rPr>
                        <a:t>-</a:t>
                      </a:r>
                    </a:p>
                  </a:txBody>
                  <a:tcPr>
                    <a:lnR w="9525" cap="flat" cmpd="sng" algn="ctr">
                      <a:solidFill>
                        <a:schemeClr val="bg1"/>
                      </a:solidFill>
                      <a:prstDash val="solid"/>
                      <a:round/>
                      <a:headEnd type="none" w="med" len="med"/>
                      <a:tailEnd type="none" w="med" len="med"/>
                    </a:lnR>
                  </a:tcPr>
                </a:tc>
                <a:tc>
                  <a:txBody>
                    <a:bodyPr/>
                    <a:lstStyle/>
                    <a:p>
                      <a:pPr algn="ctr"/>
                      <a:r>
                        <a:rPr lang="en-US" sz="1400" dirty="0">
                          <a:latin typeface="Times New Roman" pitchFamily="18" charset="0"/>
                          <a:cs typeface="Times New Roman" pitchFamily="18" charset="0"/>
                        </a:rPr>
                        <a:t>22</a:t>
                      </a:r>
                    </a:p>
                  </a:txBody>
                  <a:tcPr>
                    <a:lnL w="9525" cap="flat" cmpd="sng" algn="ctr">
                      <a:solidFill>
                        <a:schemeClr val="bg1"/>
                      </a:solidFill>
                      <a:prstDash val="solid"/>
                      <a:round/>
                      <a:headEnd type="none" w="med" len="med"/>
                      <a:tailEnd type="none" w="med" len="med"/>
                    </a:lnL>
                  </a:tcPr>
                </a:tc>
                <a:tc>
                  <a:txBody>
                    <a:bodyPr/>
                    <a:lstStyle/>
                    <a:p>
                      <a:pPr algn="ctr"/>
                      <a:r>
                        <a:rPr lang="en-US" sz="1400" dirty="0">
                          <a:latin typeface="Times New Roman" pitchFamily="18" charset="0"/>
                          <a:cs typeface="Times New Roman" pitchFamily="18" charset="0"/>
                        </a:rPr>
                        <a:t>33</a:t>
                      </a:r>
                    </a:p>
                  </a:txBody>
                  <a:tcPr/>
                </a:tc>
                <a:tc>
                  <a:txBody>
                    <a:bodyPr/>
                    <a:lstStyle/>
                    <a:p>
                      <a:pPr algn="ctr"/>
                      <a:r>
                        <a:rPr lang="en-US" sz="1400" dirty="0">
                          <a:latin typeface="Times New Roman" pitchFamily="18" charset="0"/>
                          <a:cs typeface="Times New Roman" pitchFamily="18" charset="0"/>
                        </a:rPr>
                        <a:t>33</a:t>
                      </a:r>
                    </a:p>
                  </a:txBody>
                  <a:tcPr/>
                </a:tc>
                <a:tc>
                  <a:txBody>
                    <a:bodyPr/>
                    <a:lstStyle/>
                    <a:p>
                      <a:pPr algn="ctr"/>
                      <a:endParaRPr lang="en-US" sz="1400" dirty="0">
                        <a:latin typeface="Times New Roman" pitchFamily="18" charset="0"/>
                        <a:cs typeface="Times New Roman" pitchFamily="18" charset="0"/>
                      </a:endParaRPr>
                    </a:p>
                  </a:txBody>
                  <a:tcPr/>
                </a:tc>
                <a:extLst>
                  <a:ext uri="{0D108BD9-81ED-4DB2-BD59-A6C34878D82A}">
                    <a16:rowId xmlns="" xmlns:a16="http://schemas.microsoft.com/office/drawing/2014/main" val="10005"/>
                  </a:ext>
                </a:extLst>
              </a:tr>
              <a:tr h="383390">
                <a:tc>
                  <a:txBody>
                    <a:bodyPr/>
                    <a:lstStyle/>
                    <a:p>
                      <a:r>
                        <a:rPr lang="en-US" sz="1400" dirty="0">
                          <a:latin typeface="Times New Roman" pitchFamily="18" charset="0"/>
                          <a:cs typeface="Times New Roman" pitchFamily="18" charset="0"/>
                        </a:rPr>
                        <a:t>5.</a:t>
                      </a:r>
                    </a:p>
                  </a:txBody>
                  <a:tcPr/>
                </a:tc>
                <a:tc>
                  <a:txBody>
                    <a:bodyPr/>
                    <a:lstStyle/>
                    <a:p>
                      <a:pPr algn="l"/>
                      <a:r>
                        <a:rPr lang="en-US" sz="1400" dirty="0">
                          <a:latin typeface="Times New Roman" pitchFamily="18" charset="0"/>
                          <a:cs typeface="Times New Roman" pitchFamily="18" charset="0"/>
                        </a:rPr>
                        <a:t>Record</a:t>
                      </a:r>
                      <a:r>
                        <a:rPr lang="en-US" sz="1400" baseline="0" dirty="0">
                          <a:latin typeface="Times New Roman" pitchFamily="18" charset="0"/>
                          <a:cs typeface="Times New Roman" pitchFamily="18" charset="0"/>
                        </a:rPr>
                        <a:t> Room</a:t>
                      </a:r>
                      <a:endParaRPr lang="en-US" sz="1400" dirty="0">
                        <a:latin typeface="Times New Roman" pitchFamily="18" charset="0"/>
                        <a:cs typeface="Times New Roman" pitchFamily="18" charset="0"/>
                      </a:endParaRPr>
                    </a:p>
                  </a:txBody>
                  <a:tcPr/>
                </a:tc>
                <a:tc>
                  <a:txBody>
                    <a:bodyPr/>
                    <a:lstStyle/>
                    <a:p>
                      <a:pPr algn="ctr"/>
                      <a:r>
                        <a:rPr lang="en-US" sz="1400" dirty="0">
                          <a:latin typeface="Times New Roman" pitchFamily="18" charset="0"/>
                          <a:cs typeface="Times New Roman" pitchFamily="18" charset="0"/>
                        </a:rPr>
                        <a:t>*</a:t>
                      </a:r>
                    </a:p>
                  </a:txBody>
                  <a:tcPr>
                    <a:lnR w="9525" cap="flat" cmpd="sng" algn="ctr">
                      <a:solidFill>
                        <a:schemeClr val="bg1"/>
                      </a:solidFill>
                      <a:prstDash val="solid"/>
                      <a:round/>
                      <a:headEnd type="none" w="med" len="med"/>
                      <a:tailEnd type="none" w="med" len="med"/>
                    </a:lnR>
                  </a:tcPr>
                </a:tc>
                <a:tc>
                  <a:txBody>
                    <a:bodyPr/>
                    <a:lstStyle/>
                    <a:p>
                      <a:pPr algn="ctr"/>
                      <a:r>
                        <a:rPr lang="en-US" sz="1400" dirty="0">
                          <a:latin typeface="Times New Roman" pitchFamily="18" charset="0"/>
                          <a:cs typeface="Times New Roman" pitchFamily="18" charset="0"/>
                        </a:rPr>
                        <a:t>*</a:t>
                      </a:r>
                    </a:p>
                  </a:txBody>
                  <a:tcPr>
                    <a:lnL w="9525" cap="flat" cmpd="sng" algn="ctr">
                      <a:solidFill>
                        <a:schemeClr val="bg1"/>
                      </a:solidFill>
                      <a:prstDash val="solid"/>
                      <a:round/>
                      <a:headEnd type="none" w="med" len="med"/>
                      <a:tailEnd type="none" w="med" len="med"/>
                    </a:lnL>
                  </a:tcPr>
                </a:tc>
                <a:tc>
                  <a:txBody>
                    <a:bodyPr/>
                    <a:lstStyle/>
                    <a:p>
                      <a:pPr algn="ctr"/>
                      <a:r>
                        <a:rPr lang="en-US" sz="1400" dirty="0">
                          <a:latin typeface="Times New Roman" pitchFamily="18" charset="0"/>
                          <a:cs typeface="Times New Roman" pitchFamily="18" charset="0"/>
                        </a:rPr>
                        <a:t>*</a:t>
                      </a:r>
                    </a:p>
                  </a:txBody>
                  <a:tcPr/>
                </a:tc>
                <a:tc>
                  <a:txBody>
                    <a:bodyPr/>
                    <a:lstStyle/>
                    <a:p>
                      <a:pPr algn="ctr"/>
                      <a:r>
                        <a:rPr lang="en-US" sz="1400" dirty="0">
                          <a:latin typeface="Times New Roman" pitchFamily="18" charset="0"/>
                          <a:cs typeface="Times New Roman" pitchFamily="18" charset="0"/>
                        </a:rPr>
                        <a:t>*</a:t>
                      </a:r>
                    </a:p>
                  </a:txBody>
                  <a:tcPr/>
                </a:tc>
                <a:tc>
                  <a:txBody>
                    <a:bodyPr/>
                    <a:lstStyle/>
                    <a:p>
                      <a:pPr algn="ctr"/>
                      <a:r>
                        <a:rPr lang="en-US" sz="1400" dirty="0">
                          <a:latin typeface="Times New Roman" pitchFamily="18" charset="0"/>
                          <a:cs typeface="Times New Roman" pitchFamily="18" charset="0"/>
                        </a:rPr>
                        <a:t>* 25% </a:t>
                      </a:r>
                      <a:r>
                        <a:rPr lang="en-US" sz="1400" baseline="0" dirty="0">
                          <a:latin typeface="Times New Roman" pitchFamily="18" charset="0"/>
                          <a:cs typeface="Times New Roman" pitchFamily="18" charset="0"/>
                        </a:rPr>
                        <a:t> of the area for current records &amp; 30 % of the area for old records (for </a:t>
                      </a:r>
                      <a:r>
                        <a:rPr lang="en-US" sz="1400" baseline="0" dirty="0" err="1">
                          <a:latin typeface="Times New Roman" pitchFamily="18" charset="0"/>
                          <a:cs typeface="Times New Roman" pitchFamily="18" charset="0"/>
                        </a:rPr>
                        <a:t>gazetted</a:t>
                      </a:r>
                      <a:r>
                        <a:rPr lang="en-US" sz="1400" baseline="0" dirty="0">
                          <a:latin typeface="Times New Roman" pitchFamily="18" charset="0"/>
                          <a:cs typeface="Times New Roman" pitchFamily="18" charset="0"/>
                        </a:rPr>
                        <a:t> &amp; non-</a:t>
                      </a:r>
                      <a:r>
                        <a:rPr lang="en-US" sz="1400" baseline="0" dirty="0" err="1">
                          <a:latin typeface="Times New Roman" pitchFamily="18" charset="0"/>
                          <a:cs typeface="Times New Roman" pitchFamily="18" charset="0"/>
                        </a:rPr>
                        <a:t>gazetted</a:t>
                      </a:r>
                      <a:r>
                        <a:rPr lang="en-US" sz="1400" baseline="0" dirty="0">
                          <a:latin typeface="Times New Roman" pitchFamily="18" charset="0"/>
                          <a:cs typeface="Times New Roman" pitchFamily="18" charset="0"/>
                        </a:rPr>
                        <a:t> staff)</a:t>
                      </a:r>
                      <a:endParaRPr lang="en-US" sz="1400" dirty="0">
                        <a:latin typeface="Times New Roman" pitchFamily="18" charset="0"/>
                        <a:cs typeface="Times New Roman" pitchFamily="18" charset="0"/>
                      </a:endParaRPr>
                    </a:p>
                  </a:txBody>
                  <a:tcPr/>
                </a:tc>
                <a:extLst>
                  <a:ext uri="{0D108BD9-81ED-4DB2-BD59-A6C34878D82A}">
                    <a16:rowId xmlns="" xmlns:a16="http://schemas.microsoft.com/office/drawing/2014/main" val="10006"/>
                  </a:ext>
                </a:extLst>
              </a:tr>
              <a:tr h="383390">
                <a:tc>
                  <a:txBody>
                    <a:bodyPr/>
                    <a:lstStyle/>
                    <a:p>
                      <a:r>
                        <a:rPr lang="en-US" sz="1400" dirty="0">
                          <a:latin typeface="Times New Roman" pitchFamily="18" charset="0"/>
                          <a:cs typeface="Times New Roman" pitchFamily="18" charset="0"/>
                        </a:rPr>
                        <a:t>6.</a:t>
                      </a:r>
                    </a:p>
                  </a:txBody>
                  <a:tcPr/>
                </a:tc>
                <a:tc>
                  <a:txBody>
                    <a:bodyPr/>
                    <a:lstStyle/>
                    <a:p>
                      <a:pPr algn="l"/>
                      <a:r>
                        <a:rPr lang="en-US" sz="1400" dirty="0">
                          <a:latin typeface="Times New Roman" pitchFamily="18" charset="0"/>
                          <a:cs typeface="Times New Roman" pitchFamily="18" charset="0"/>
                        </a:rPr>
                        <a:t>Telecommunication Centre</a:t>
                      </a:r>
                    </a:p>
                    <a:p>
                      <a:pPr marL="342900" indent="-342900" algn="l">
                        <a:buAutoNum type="alphaLcParenR"/>
                      </a:pPr>
                      <a:r>
                        <a:rPr lang="en-US" sz="1400" dirty="0">
                          <a:latin typeface="Times New Roman" pitchFamily="18" charset="0"/>
                          <a:cs typeface="Times New Roman" pitchFamily="18" charset="0"/>
                        </a:rPr>
                        <a:t>Telephone</a:t>
                      </a:r>
                      <a:r>
                        <a:rPr lang="en-US" sz="1400" baseline="0" dirty="0">
                          <a:latin typeface="Times New Roman" pitchFamily="18" charset="0"/>
                          <a:cs typeface="Times New Roman" pitchFamily="18" charset="0"/>
                        </a:rPr>
                        <a:t> Exchange </a:t>
                      </a:r>
                    </a:p>
                    <a:p>
                      <a:pPr marL="342900" indent="-342900" algn="l">
                        <a:buAutoNum type="alphaLcParenR"/>
                      </a:pPr>
                      <a:r>
                        <a:rPr lang="en-US" sz="1400" baseline="0" dirty="0">
                          <a:latin typeface="Times New Roman" pitchFamily="18" charset="0"/>
                          <a:cs typeface="Times New Roman" pitchFamily="18" charset="0"/>
                        </a:rPr>
                        <a:t>Wireless control</a:t>
                      </a:r>
                      <a:endParaRPr lang="en-US" sz="1400" dirty="0">
                        <a:latin typeface="Times New Roman" pitchFamily="18" charset="0"/>
                        <a:cs typeface="Times New Roman" pitchFamily="18" charset="0"/>
                      </a:endParaRPr>
                    </a:p>
                  </a:txBody>
                  <a:tcPr/>
                </a:tc>
                <a:tc>
                  <a:txBody>
                    <a:bodyPr/>
                    <a:lstStyle/>
                    <a:p>
                      <a:pPr algn="ctr"/>
                      <a:endParaRPr lang="en-US" sz="1400" dirty="0">
                        <a:latin typeface="Times New Roman" pitchFamily="18" charset="0"/>
                        <a:cs typeface="Times New Roman" pitchFamily="18" charset="0"/>
                      </a:endParaRPr>
                    </a:p>
                    <a:p>
                      <a:pPr algn="ctr"/>
                      <a:endParaRPr lang="en-US" sz="1400" dirty="0">
                        <a:latin typeface="Times New Roman" pitchFamily="18" charset="0"/>
                        <a:cs typeface="Times New Roman" pitchFamily="18" charset="0"/>
                      </a:endParaRPr>
                    </a:p>
                    <a:p>
                      <a:pPr algn="ctr"/>
                      <a:r>
                        <a:rPr lang="en-US" sz="1400" dirty="0">
                          <a:latin typeface="Times New Roman" pitchFamily="18" charset="0"/>
                          <a:cs typeface="Times New Roman" pitchFamily="18" charset="0"/>
                        </a:rPr>
                        <a:t>-</a:t>
                      </a:r>
                    </a:p>
                    <a:p>
                      <a:pPr algn="ctr"/>
                      <a:endParaRPr lang="en-US" sz="1400" dirty="0">
                        <a:latin typeface="Times New Roman" pitchFamily="18" charset="0"/>
                        <a:cs typeface="Times New Roman" pitchFamily="18" charset="0"/>
                      </a:endParaRPr>
                    </a:p>
                    <a:p>
                      <a:pPr algn="ctr"/>
                      <a:endParaRPr lang="en-US" sz="1400" dirty="0">
                        <a:latin typeface="Times New Roman" pitchFamily="18" charset="0"/>
                        <a:cs typeface="Times New Roman" pitchFamily="18" charset="0"/>
                      </a:endParaRPr>
                    </a:p>
                    <a:p>
                      <a:pPr algn="ctr"/>
                      <a:r>
                        <a:rPr lang="en-US" sz="1400" dirty="0">
                          <a:latin typeface="Times New Roman" pitchFamily="18" charset="0"/>
                          <a:cs typeface="Times New Roman" pitchFamily="18" charset="0"/>
                        </a:rPr>
                        <a:t>-</a:t>
                      </a:r>
                    </a:p>
                  </a:txBody>
                  <a:tcPr>
                    <a:lnR w="9525" cap="flat" cmpd="sng" algn="ctr">
                      <a:solidFill>
                        <a:schemeClr val="bg1"/>
                      </a:solidFill>
                      <a:prstDash val="solid"/>
                      <a:round/>
                      <a:headEnd type="none" w="med" len="med"/>
                      <a:tailEnd type="none" w="med" len="med"/>
                    </a:lnR>
                  </a:tcPr>
                </a:tc>
                <a:tc>
                  <a:txBody>
                    <a:bodyPr/>
                    <a:lstStyle/>
                    <a:p>
                      <a:pPr algn="ctr"/>
                      <a:endParaRPr lang="en-US" sz="1400" dirty="0">
                        <a:latin typeface="Times New Roman" pitchFamily="18" charset="0"/>
                        <a:cs typeface="Times New Roman" pitchFamily="18" charset="0"/>
                      </a:endParaRPr>
                    </a:p>
                    <a:p>
                      <a:pPr algn="ctr"/>
                      <a:endParaRPr lang="en-US" sz="1400" dirty="0">
                        <a:latin typeface="Times New Roman" pitchFamily="18" charset="0"/>
                        <a:cs typeface="Times New Roman" pitchFamily="18" charset="0"/>
                      </a:endParaRPr>
                    </a:p>
                    <a:p>
                      <a:pPr algn="ctr"/>
                      <a:r>
                        <a:rPr lang="en-US" sz="1400" dirty="0">
                          <a:latin typeface="Times New Roman" pitchFamily="18" charset="0"/>
                          <a:cs typeface="Times New Roman" pitchFamily="18" charset="0"/>
                        </a:rPr>
                        <a:t>22</a:t>
                      </a:r>
                    </a:p>
                    <a:p>
                      <a:pPr algn="ctr"/>
                      <a:endParaRPr lang="en-US" sz="1400" dirty="0">
                        <a:latin typeface="Times New Roman" pitchFamily="18" charset="0"/>
                        <a:cs typeface="Times New Roman" pitchFamily="18" charset="0"/>
                      </a:endParaRPr>
                    </a:p>
                    <a:p>
                      <a:pPr algn="ctr"/>
                      <a:endParaRPr lang="en-US" sz="1400" dirty="0">
                        <a:latin typeface="Times New Roman" pitchFamily="18" charset="0"/>
                        <a:cs typeface="Times New Roman" pitchFamily="18" charset="0"/>
                      </a:endParaRPr>
                    </a:p>
                    <a:p>
                      <a:pPr algn="ctr"/>
                      <a:r>
                        <a:rPr lang="en-US" sz="1400" dirty="0">
                          <a:latin typeface="Times New Roman" pitchFamily="18" charset="0"/>
                          <a:cs typeface="Times New Roman" pitchFamily="18" charset="0"/>
                        </a:rPr>
                        <a:t>55</a:t>
                      </a:r>
                    </a:p>
                  </a:txBody>
                  <a:tcPr>
                    <a:lnL w="9525" cap="flat" cmpd="sng" algn="ctr">
                      <a:solidFill>
                        <a:schemeClr val="bg1"/>
                      </a:solidFill>
                      <a:prstDash val="solid"/>
                      <a:round/>
                      <a:headEnd type="none" w="med" len="med"/>
                      <a:tailEnd type="none" w="med" len="med"/>
                    </a:lnL>
                  </a:tcPr>
                </a:tc>
                <a:tc>
                  <a:txBody>
                    <a:bodyPr/>
                    <a:lstStyle/>
                    <a:p>
                      <a:pPr algn="ctr"/>
                      <a:endParaRPr lang="en-US" sz="1400" dirty="0">
                        <a:latin typeface="Times New Roman" pitchFamily="18" charset="0"/>
                        <a:cs typeface="Times New Roman" pitchFamily="18" charset="0"/>
                      </a:endParaRPr>
                    </a:p>
                    <a:p>
                      <a:pPr algn="ctr"/>
                      <a:endParaRPr lang="en-US" sz="1400" dirty="0">
                        <a:latin typeface="Times New Roman" pitchFamily="18" charset="0"/>
                        <a:cs typeface="Times New Roman" pitchFamily="18" charset="0"/>
                      </a:endParaRPr>
                    </a:p>
                    <a:p>
                      <a:pPr algn="ctr"/>
                      <a:r>
                        <a:rPr lang="en-US" sz="1400" dirty="0">
                          <a:latin typeface="Times New Roman" pitchFamily="18" charset="0"/>
                          <a:cs typeface="Times New Roman" pitchFamily="18" charset="0"/>
                        </a:rPr>
                        <a:t>22</a:t>
                      </a:r>
                    </a:p>
                    <a:p>
                      <a:pPr algn="ctr"/>
                      <a:endParaRPr lang="en-US" sz="1400" dirty="0">
                        <a:latin typeface="Times New Roman" pitchFamily="18" charset="0"/>
                        <a:cs typeface="Times New Roman" pitchFamily="18" charset="0"/>
                      </a:endParaRPr>
                    </a:p>
                    <a:p>
                      <a:pPr algn="ctr"/>
                      <a:endParaRPr lang="en-US" sz="1400" dirty="0">
                        <a:latin typeface="Times New Roman" pitchFamily="18" charset="0"/>
                        <a:cs typeface="Times New Roman" pitchFamily="18" charset="0"/>
                      </a:endParaRPr>
                    </a:p>
                    <a:p>
                      <a:pPr algn="ctr"/>
                      <a:r>
                        <a:rPr lang="en-US" sz="1400" dirty="0">
                          <a:latin typeface="Times New Roman" pitchFamily="18" charset="0"/>
                          <a:cs typeface="Times New Roman" pitchFamily="18" charset="0"/>
                        </a:rPr>
                        <a:t>66</a:t>
                      </a:r>
                    </a:p>
                  </a:txBody>
                  <a:tcPr/>
                </a:tc>
                <a:tc>
                  <a:txBody>
                    <a:bodyPr/>
                    <a:lstStyle/>
                    <a:p>
                      <a:pPr algn="ctr"/>
                      <a:endParaRPr lang="en-US" sz="1400" dirty="0">
                        <a:latin typeface="Times New Roman" pitchFamily="18" charset="0"/>
                        <a:cs typeface="Times New Roman" pitchFamily="18" charset="0"/>
                      </a:endParaRPr>
                    </a:p>
                    <a:p>
                      <a:pPr algn="ctr"/>
                      <a:endParaRPr lang="en-US" sz="1400" dirty="0">
                        <a:latin typeface="Times New Roman" pitchFamily="18" charset="0"/>
                        <a:cs typeface="Times New Roman" pitchFamily="18" charset="0"/>
                      </a:endParaRPr>
                    </a:p>
                    <a:p>
                      <a:pPr algn="ctr"/>
                      <a:r>
                        <a:rPr lang="en-US" sz="1400" dirty="0">
                          <a:latin typeface="Times New Roman" pitchFamily="18" charset="0"/>
                          <a:cs typeface="Times New Roman" pitchFamily="18" charset="0"/>
                        </a:rPr>
                        <a:t>22</a:t>
                      </a:r>
                    </a:p>
                    <a:p>
                      <a:pPr algn="ctr"/>
                      <a:endParaRPr lang="en-US" sz="1400" dirty="0">
                        <a:latin typeface="Times New Roman" pitchFamily="18" charset="0"/>
                        <a:cs typeface="Times New Roman" pitchFamily="18" charset="0"/>
                      </a:endParaRPr>
                    </a:p>
                    <a:p>
                      <a:pPr algn="ctr"/>
                      <a:endParaRPr lang="en-US" sz="1400" dirty="0">
                        <a:latin typeface="Times New Roman" pitchFamily="18" charset="0"/>
                        <a:cs typeface="Times New Roman" pitchFamily="18" charset="0"/>
                      </a:endParaRPr>
                    </a:p>
                    <a:p>
                      <a:pPr algn="ctr"/>
                      <a:r>
                        <a:rPr lang="en-US" sz="1400" dirty="0">
                          <a:latin typeface="Times New Roman" pitchFamily="18" charset="0"/>
                          <a:cs typeface="Times New Roman" pitchFamily="18" charset="0"/>
                        </a:rPr>
                        <a:t>66</a:t>
                      </a:r>
                    </a:p>
                  </a:txBody>
                  <a:tcPr/>
                </a:tc>
                <a:tc>
                  <a:txBody>
                    <a:bodyPr/>
                    <a:lstStyle/>
                    <a:p>
                      <a:pPr algn="ctr"/>
                      <a:endParaRPr lang="en-US" sz="1400" dirty="0">
                        <a:latin typeface="Times New Roman" pitchFamily="18" charset="0"/>
                        <a:cs typeface="Times New Roman" pitchFamily="18" charset="0"/>
                      </a:endParaRPr>
                    </a:p>
                  </a:txBody>
                  <a:tcPr/>
                </a:tc>
                <a:extLst>
                  <a:ext uri="{0D108BD9-81ED-4DB2-BD59-A6C34878D82A}">
                    <a16:rowId xmlns="" xmlns:a16="http://schemas.microsoft.com/office/drawing/2014/main" val="10007"/>
                  </a:ext>
                </a:extLst>
              </a:tr>
            </a:tbl>
          </a:graphicData>
        </a:graphic>
      </p:graphicFrame>
    </p:spTree>
    <p:extLst>
      <p:ext uri="{BB962C8B-B14F-4D97-AF65-F5344CB8AC3E}">
        <p14:creationId xmlns="" xmlns:p14="http://schemas.microsoft.com/office/powerpoint/2010/main" val="35459421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23CEB4-6EF9-4195-A26B-553EEB5C4970}"/>
              </a:ext>
            </a:extLst>
          </p:cNvPr>
          <p:cNvSpPr>
            <a:spLocks noGrp="1"/>
          </p:cNvSpPr>
          <p:nvPr>
            <p:ph type="title"/>
          </p:nvPr>
        </p:nvSpPr>
        <p:spPr/>
        <p:txBody>
          <a:bodyPr/>
          <a:lstStyle/>
          <a:p>
            <a:r>
              <a:rPr lang="en-US" dirty="0">
                <a:solidFill>
                  <a:schemeClr val="accent1">
                    <a:lumMod val="75000"/>
                  </a:schemeClr>
                </a:solidFill>
              </a:rPr>
              <a:t>PURCHASE OF LAND</a:t>
            </a:r>
            <a:endParaRPr lang="en-US" dirty="0"/>
          </a:p>
        </p:txBody>
      </p:sp>
      <p:sp>
        <p:nvSpPr>
          <p:cNvPr id="3" name="Content Placeholder 2">
            <a:extLst>
              <a:ext uri="{FF2B5EF4-FFF2-40B4-BE49-F238E27FC236}">
                <a16:creationId xmlns="" xmlns:a16="http://schemas.microsoft.com/office/drawing/2014/main" id="{7FC8B564-1B0F-4695-918E-87B5BF97A3D1}"/>
              </a:ext>
            </a:extLst>
          </p:cNvPr>
          <p:cNvSpPr>
            <a:spLocks noGrp="1"/>
          </p:cNvSpPr>
          <p:nvPr>
            <p:ph sz="quarter" idx="1"/>
          </p:nvPr>
        </p:nvSpPr>
        <p:spPr/>
        <p:txBody>
          <a:bodyPr/>
          <a:lstStyle/>
          <a:p>
            <a:pPr algn="just"/>
            <a:r>
              <a:rPr lang="en-US" sz="2400" dirty="0"/>
              <a:t>Preference should be given to purchase/acquisition of land from Central Government agencies such as </a:t>
            </a:r>
            <a:r>
              <a:rPr lang="en-US" sz="2400" smtClean="0"/>
              <a:t>MoUD</a:t>
            </a:r>
            <a:r>
              <a:rPr lang="en-US" sz="2400" dirty="0" smtClean="0"/>
              <a:t>, </a:t>
            </a:r>
            <a:r>
              <a:rPr lang="en-US" sz="2400" dirty="0"/>
              <a:t>the Directorate of Estates/ Central Public Works Department (CPWD) and thereafter to State Government/Local authorities/Development authorities/Public Sector Undertaking (PSUs) etc. </a:t>
            </a:r>
          </a:p>
          <a:p>
            <a:pPr algn="just"/>
            <a:r>
              <a:rPr lang="en-US" sz="2400" dirty="0"/>
              <a:t>In case, land is not available with CPWD then non availability certificate from CPWD should be taken.</a:t>
            </a:r>
          </a:p>
          <a:p>
            <a:endParaRPr lang="en-US" dirty="0"/>
          </a:p>
        </p:txBody>
      </p:sp>
    </p:spTree>
    <p:extLst>
      <p:ext uri="{BB962C8B-B14F-4D97-AF65-F5344CB8AC3E}">
        <p14:creationId xmlns="" xmlns:p14="http://schemas.microsoft.com/office/powerpoint/2010/main" val="35274509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37198AC-72D9-4691-9E59-5D54A3E22A78}"/>
              </a:ext>
            </a:extLst>
          </p:cNvPr>
          <p:cNvSpPr>
            <a:spLocks noGrp="1"/>
          </p:cNvSpPr>
          <p:nvPr>
            <p:ph type="title"/>
          </p:nvPr>
        </p:nvSpPr>
        <p:spPr/>
        <p:txBody>
          <a:bodyPr/>
          <a:lstStyle/>
          <a:p>
            <a:r>
              <a:rPr lang="en-US" dirty="0">
                <a:solidFill>
                  <a:schemeClr val="accent1">
                    <a:lumMod val="75000"/>
                  </a:schemeClr>
                </a:solidFill>
              </a:rPr>
              <a:t>PURCHASE OF LAND – Documents to be submitted</a:t>
            </a:r>
            <a:endParaRPr lang="en-US" dirty="0"/>
          </a:p>
        </p:txBody>
      </p:sp>
      <p:sp>
        <p:nvSpPr>
          <p:cNvPr id="3" name="Content Placeholder 2">
            <a:extLst>
              <a:ext uri="{FF2B5EF4-FFF2-40B4-BE49-F238E27FC236}">
                <a16:creationId xmlns="" xmlns:a16="http://schemas.microsoft.com/office/drawing/2014/main" id="{3BAE988C-C916-4AF4-8CD5-0CC86D943290}"/>
              </a:ext>
            </a:extLst>
          </p:cNvPr>
          <p:cNvSpPr>
            <a:spLocks noGrp="1"/>
          </p:cNvSpPr>
          <p:nvPr>
            <p:ph sz="quarter" idx="1"/>
          </p:nvPr>
        </p:nvSpPr>
        <p:spPr/>
        <p:txBody>
          <a:bodyPr>
            <a:normAutofit fontScale="92500" lnSpcReduction="20000"/>
          </a:bodyPr>
          <a:lstStyle/>
          <a:p>
            <a:pPr lvl="0" algn="just"/>
            <a:r>
              <a:rPr lang="en-US" sz="2400" dirty="0"/>
              <a:t>Certificate of non-availability of Central Government land/Building issued by Estates/CPWD.</a:t>
            </a:r>
            <a:endParaRPr lang="en-IN" sz="2400" dirty="0"/>
          </a:p>
          <a:p>
            <a:pPr lvl="0" algn="just"/>
            <a:r>
              <a:rPr lang="en-US" sz="2400" dirty="0"/>
              <a:t>Minimum requirement of land Certificate from CPWD.</a:t>
            </a:r>
            <a:endParaRPr lang="en-IN" sz="2400" dirty="0"/>
          </a:p>
          <a:p>
            <a:pPr lvl="0" algn="just"/>
            <a:r>
              <a:rPr lang="en-US" sz="2400" dirty="0"/>
              <a:t>Suitability of land Certificate from CPWD.</a:t>
            </a:r>
            <a:endParaRPr lang="en-IN" sz="2400" dirty="0"/>
          </a:p>
          <a:p>
            <a:pPr lvl="0" algn="just"/>
            <a:r>
              <a:rPr lang="en-US" sz="2400" dirty="0"/>
              <a:t>Non-Encumbrance Certificate from State Government.</a:t>
            </a:r>
            <a:endParaRPr lang="en-IN" sz="2400" dirty="0"/>
          </a:p>
          <a:p>
            <a:pPr lvl="0" algn="just"/>
            <a:r>
              <a:rPr lang="en-US" sz="2400" dirty="0"/>
              <a:t>Reasonableness of price certificate from MOUD/CPWD/State Government.</a:t>
            </a:r>
            <a:endParaRPr lang="en-IN" sz="2400" dirty="0"/>
          </a:p>
          <a:p>
            <a:pPr lvl="0" algn="just"/>
            <a:r>
              <a:rPr lang="en-US" sz="2400" dirty="0"/>
              <a:t>Undertaking from seller that the price is final and there shall be no enhancement in price either retrospectively or prospectively.</a:t>
            </a:r>
            <a:endParaRPr lang="en-IN" sz="2400" dirty="0"/>
          </a:p>
          <a:p>
            <a:pPr lvl="0" algn="just"/>
            <a:r>
              <a:rPr lang="en-US" sz="2400" dirty="0"/>
              <a:t>Letter of offer with terms and conditions from land owning agencies.</a:t>
            </a:r>
            <a:endParaRPr lang="en-IN" sz="2400" dirty="0"/>
          </a:p>
          <a:p>
            <a:pPr lvl="0" algn="just"/>
            <a:r>
              <a:rPr lang="en-US" sz="2400" dirty="0"/>
              <a:t>Layout plan of land certified by CPWD.</a:t>
            </a:r>
            <a:endParaRPr lang="en-IN" sz="2400" dirty="0"/>
          </a:p>
          <a:p>
            <a:pPr algn="just"/>
            <a:endParaRPr lang="en-US" dirty="0"/>
          </a:p>
        </p:txBody>
      </p:sp>
    </p:spTree>
    <p:extLst>
      <p:ext uri="{BB962C8B-B14F-4D97-AF65-F5344CB8AC3E}">
        <p14:creationId xmlns="" xmlns:p14="http://schemas.microsoft.com/office/powerpoint/2010/main" val="13120962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A2D52E5-3054-41B9-82A9-C2419BB83275}"/>
              </a:ext>
            </a:extLst>
          </p:cNvPr>
          <p:cNvSpPr>
            <a:spLocks noGrp="1"/>
          </p:cNvSpPr>
          <p:nvPr>
            <p:ph type="title"/>
          </p:nvPr>
        </p:nvSpPr>
        <p:spPr/>
        <p:txBody>
          <a:bodyPr/>
          <a:lstStyle/>
          <a:p>
            <a:r>
              <a:rPr lang="en-US" dirty="0">
                <a:solidFill>
                  <a:schemeClr val="accent1">
                    <a:lumMod val="75000"/>
                  </a:schemeClr>
                </a:solidFill>
              </a:rPr>
              <a:t>PURCHASE OF LAND</a:t>
            </a:r>
            <a:endParaRPr lang="en-US" dirty="0"/>
          </a:p>
        </p:txBody>
      </p:sp>
      <p:sp>
        <p:nvSpPr>
          <p:cNvPr id="3" name="Content Placeholder 2">
            <a:extLst>
              <a:ext uri="{FF2B5EF4-FFF2-40B4-BE49-F238E27FC236}">
                <a16:creationId xmlns="" xmlns:a16="http://schemas.microsoft.com/office/drawing/2014/main" id="{E5DA82DE-8DDD-4A6F-BE69-69726030BF50}"/>
              </a:ext>
            </a:extLst>
          </p:cNvPr>
          <p:cNvSpPr>
            <a:spLocks noGrp="1"/>
          </p:cNvSpPr>
          <p:nvPr>
            <p:ph sz="quarter" idx="1"/>
          </p:nvPr>
        </p:nvSpPr>
        <p:spPr/>
        <p:txBody>
          <a:bodyPr/>
          <a:lstStyle/>
          <a:p>
            <a:pPr algn="just"/>
            <a:r>
              <a:rPr lang="en-IN" sz="2400" dirty="0"/>
              <a:t>A comprehensive proposal giving detailed justification for purchase of land in Part A &amp; C (Annexure 2.11). </a:t>
            </a:r>
          </a:p>
          <a:p>
            <a:pPr algn="just"/>
            <a:r>
              <a:rPr lang="en-IN" sz="2400" dirty="0"/>
              <a:t>Details/documents required as per check-list (Annexure 2.12(a))</a:t>
            </a:r>
          </a:p>
          <a:p>
            <a:pPr algn="just"/>
            <a:r>
              <a:rPr lang="en-IN" sz="2400" dirty="0"/>
              <a:t>If required, Delegated Investment Board Memorandum – proposal over involving expenditure over Rs.100 Crore and </a:t>
            </a:r>
            <a:r>
              <a:rPr lang="en-IN" sz="2400" dirty="0" err="1"/>
              <a:t>upto</a:t>
            </a:r>
            <a:r>
              <a:rPr lang="en-IN" sz="2400" dirty="0"/>
              <a:t> 500 Crore   Memorandum as applicable. </a:t>
            </a:r>
          </a:p>
          <a:p>
            <a:pPr algn="just"/>
            <a:r>
              <a:rPr lang="en-IN" sz="2400" dirty="0"/>
              <a:t>Public Investment Board Memorandum - proposal over involving expenditure beyond Rs. 500 Crore (Annexure 2.14) </a:t>
            </a:r>
          </a:p>
          <a:p>
            <a:endParaRPr lang="en-US" dirty="0"/>
          </a:p>
        </p:txBody>
      </p:sp>
    </p:spTree>
    <p:extLst>
      <p:ext uri="{BB962C8B-B14F-4D97-AF65-F5344CB8AC3E}">
        <p14:creationId xmlns="" xmlns:p14="http://schemas.microsoft.com/office/powerpoint/2010/main" val="3624346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F72974E-6161-4D29-BAF9-4C0AE73F401B}"/>
              </a:ext>
            </a:extLst>
          </p:cNvPr>
          <p:cNvSpPr>
            <a:spLocks noGrp="1"/>
          </p:cNvSpPr>
          <p:nvPr>
            <p:ph type="title"/>
          </p:nvPr>
        </p:nvSpPr>
        <p:spPr/>
        <p:txBody>
          <a:bodyPr/>
          <a:lstStyle/>
          <a:p>
            <a:r>
              <a:rPr lang="en-US" dirty="0">
                <a:solidFill>
                  <a:schemeClr val="accent1">
                    <a:lumMod val="75000"/>
                  </a:schemeClr>
                </a:solidFill>
              </a:rPr>
              <a:t>PURCHASE OF LAND</a:t>
            </a:r>
            <a:endParaRPr lang="en-US" dirty="0"/>
          </a:p>
        </p:txBody>
      </p:sp>
      <p:sp>
        <p:nvSpPr>
          <p:cNvPr id="3" name="Content Placeholder 2">
            <a:extLst>
              <a:ext uri="{FF2B5EF4-FFF2-40B4-BE49-F238E27FC236}">
                <a16:creationId xmlns="" xmlns:a16="http://schemas.microsoft.com/office/drawing/2014/main" id="{EED30734-4254-4F62-82BD-206D62505BA5}"/>
              </a:ext>
            </a:extLst>
          </p:cNvPr>
          <p:cNvSpPr>
            <a:spLocks noGrp="1"/>
          </p:cNvSpPr>
          <p:nvPr>
            <p:ph sz="quarter" idx="1"/>
          </p:nvPr>
        </p:nvSpPr>
        <p:spPr/>
        <p:txBody>
          <a:bodyPr>
            <a:normAutofit fontScale="92500" lnSpcReduction="10000"/>
          </a:bodyPr>
          <a:lstStyle/>
          <a:p>
            <a:pPr lvl="0" algn="just"/>
            <a:r>
              <a:rPr lang="en-US" sz="2400" dirty="0"/>
              <a:t>Detailed justification for proposal.</a:t>
            </a:r>
            <a:endParaRPr lang="en-IN" sz="2400" dirty="0"/>
          </a:p>
          <a:p>
            <a:pPr lvl="0" algn="just"/>
            <a:r>
              <a:rPr lang="en-US" sz="2400" dirty="0"/>
              <a:t>Sanctioned strength and working strength post-wise and as per eligibility for different types of quarters.</a:t>
            </a:r>
            <a:endParaRPr lang="en-IN" sz="2400" dirty="0"/>
          </a:p>
          <a:p>
            <a:pPr lvl="0" algn="just"/>
            <a:r>
              <a:rPr lang="en-US" sz="2400" dirty="0"/>
              <a:t>Calculation of office space as per prescribed norms and staff strength.</a:t>
            </a:r>
            <a:endParaRPr lang="en-IN" sz="2400" dirty="0"/>
          </a:p>
          <a:p>
            <a:pPr lvl="0" algn="just"/>
            <a:r>
              <a:rPr lang="en-US" sz="2400" dirty="0"/>
              <a:t>Number and type of quarters already available.</a:t>
            </a:r>
            <a:endParaRPr lang="en-IN" sz="2400" dirty="0"/>
          </a:p>
          <a:p>
            <a:pPr lvl="0" algn="just"/>
            <a:r>
              <a:rPr lang="en-US" sz="2400" dirty="0"/>
              <a:t>Details of Demand Survey conducted among staff to ascertain the demand for residential quarters along with abstract for type-wise demand ascertained.</a:t>
            </a:r>
            <a:endParaRPr lang="en-IN" sz="2400" dirty="0"/>
          </a:p>
          <a:p>
            <a:pPr lvl="0" algn="just"/>
            <a:r>
              <a:rPr lang="en-US" sz="2400" dirty="0"/>
              <a:t>Calculation of type-wise requirement of residential quarters as per Annexure-XI.</a:t>
            </a:r>
            <a:endParaRPr lang="en-IN" sz="2400" dirty="0"/>
          </a:p>
          <a:p>
            <a:pPr lvl="0" algn="just"/>
            <a:r>
              <a:rPr lang="en-US" sz="2400" dirty="0"/>
              <a:t>Built up office accommodation available both owned and hired.</a:t>
            </a:r>
            <a:endParaRPr lang="en-IN" sz="2400" dirty="0"/>
          </a:p>
          <a:p>
            <a:pPr lvl="0" algn="just"/>
            <a:r>
              <a:rPr lang="en-US" sz="2400" dirty="0"/>
              <a:t>Monthly rent being paid for rented premises.</a:t>
            </a:r>
            <a:endParaRPr lang="en-IN" sz="2400" dirty="0"/>
          </a:p>
          <a:p>
            <a:pPr algn="just"/>
            <a:endParaRPr lang="en-US" dirty="0"/>
          </a:p>
        </p:txBody>
      </p:sp>
    </p:spTree>
    <p:extLst>
      <p:ext uri="{BB962C8B-B14F-4D97-AF65-F5344CB8AC3E}">
        <p14:creationId xmlns="" xmlns:p14="http://schemas.microsoft.com/office/powerpoint/2010/main" val="1105756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1CD64B8-D3BA-4779-8D26-483760B4D8EA}"/>
              </a:ext>
            </a:extLst>
          </p:cNvPr>
          <p:cNvSpPr>
            <a:spLocks noGrp="1"/>
          </p:cNvSpPr>
          <p:nvPr>
            <p:ph type="title"/>
          </p:nvPr>
        </p:nvSpPr>
        <p:spPr/>
        <p:txBody>
          <a:bodyPr/>
          <a:lstStyle/>
          <a:p>
            <a:r>
              <a:rPr lang="en-US" dirty="0">
                <a:solidFill>
                  <a:schemeClr val="accent1">
                    <a:lumMod val="75000"/>
                  </a:schemeClr>
                </a:solidFill>
              </a:rPr>
              <a:t>PURCHASE OF LAND</a:t>
            </a:r>
            <a:endParaRPr lang="en-US" dirty="0"/>
          </a:p>
        </p:txBody>
      </p:sp>
      <p:sp>
        <p:nvSpPr>
          <p:cNvPr id="3" name="Content Placeholder 2">
            <a:extLst>
              <a:ext uri="{FF2B5EF4-FFF2-40B4-BE49-F238E27FC236}">
                <a16:creationId xmlns="" xmlns:a16="http://schemas.microsoft.com/office/drawing/2014/main" id="{F9D5E435-2F5F-4B92-9087-69E03298280D}"/>
              </a:ext>
            </a:extLst>
          </p:cNvPr>
          <p:cNvSpPr>
            <a:spLocks noGrp="1"/>
          </p:cNvSpPr>
          <p:nvPr>
            <p:ph sz="quarter" idx="1"/>
          </p:nvPr>
        </p:nvSpPr>
        <p:spPr/>
        <p:txBody>
          <a:bodyPr>
            <a:normAutofit fontScale="77500" lnSpcReduction="20000"/>
          </a:bodyPr>
          <a:lstStyle/>
          <a:p>
            <a:pPr lvl="0" algn="just"/>
            <a:r>
              <a:rPr lang="en-US" sz="2400" dirty="0"/>
              <a:t>Land already available and lying vacant/unutilized.</a:t>
            </a:r>
            <a:endParaRPr lang="en-IN" sz="2400" dirty="0"/>
          </a:p>
          <a:p>
            <a:pPr lvl="0" algn="just"/>
            <a:r>
              <a:rPr lang="en-US" sz="2400" dirty="0"/>
              <a:t>Mode of acquisition such as outright purchase or on lease basis etc.  In case of lease, details of lease tenure, ground rent/lease rent and terms and conditions of lease may be furnished.</a:t>
            </a:r>
            <a:endParaRPr lang="en-IN" sz="2400" dirty="0"/>
          </a:p>
          <a:p>
            <a:pPr lvl="0" algn="just"/>
            <a:r>
              <a:rPr lang="en-US" sz="2400" dirty="0"/>
              <a:t>Cost of acquisition of land including registration charges, stamp duty, ground rent etc.</a:t>
            </a:r>
            <a:endParaRPr lang="en-IN" sz="2400" dirty="0"/>
          </a:p>
          <a:p>
            <a:pPr lvl="0" algn="just"/>
            <a:r>
              <a:rPr lang="en-US" sz="2400" dirty="0"/>
              <a:t>Details of recurring cost, if any.</a:t>
            </a:r>
            <a:endParaRPr lang="en-IN" sz="2400" dirty="0"/>
          </a:p>
          <a:p>
            <a:pPr lvl="0" algn="just"/>
            <a:r>
              <a:rPr lang="en-US" sz="2400" dirty="0"/>
              <a:t>Total amount for which a/a, e/s is being sought.</a:t>
            </a:r>
            <a:endParaRPr lang="en-IN" sz="2400" dirty="0"/>
          </a:p>
          <a:p>
            <a:pPr lvl="0" algn="just"/>
            <a:r>
              <a:rPr lang="en-US" sz="2400" dirty="0"/>
              <a:t>Availability of Budget and major/minor head under which sanction required.</a:t>
            </a:r>
            <a:endParaRPr lang="en-IN" sz="2400" dirty="0"/>
          </a:p>
          <a:p>
            <a:pPr lvl="0" algn="just"/>
            <a:r>
              <a:rPr lang="en-US" sz="2400" dirty="0"/>
              <a:t>Revenue targets and collections for last five years and potential for next 10-20 years.</a:t>
            </a:r>
            <a:endParaRPr lang="en-IN" sz="2400" dirty="0"/>
          </a:p>
          <a:p>
            <a:pPr lvl="0" algn="just"/>
            <a:r>
              <a:rPr lang="en-US" sz="2400" dirty="0"/>
              <a:t>Immovable assets (Land/Buildings) of the Dept. at the station- both owned and hired.</a:t>
            </a:r>
            <a:endParaRPr lang="en-IN" sz="2400" dirty="0"/>
          </a:p>
          <a:p>
            <a:pPr lvl="0" algn="just"/>
            <a:r>
              <a:rPr lang="en-US" sz="2400" dirty="0"/>
              <a:t>Cost Benefit analysis.</a:t>
            </a:r>
            <a:endParaRPr lang="en-IN" sz="2400" dirty="0"/>
          </a:p>
          <a:p>
            <a:pPr lvl="0" algn="just"/>
            <a:r>
              <a:rPr lang="en-US" sz="2400" dirty="0"/>
              <a:t>Zonal </a:t>
            </a:r>
            <a:r>
              <a:rPr lang="en-US" sz="2400" dirty="0" err="1"/>
              <a:t>Pr</a:t>
            </a:r>
            <a:r>
              <a:rPr lang="en-US" sz="2400" dirty="0"/>
              <a:t> CC/CC Approval.</a:t>
            </a:r>
            <a:endParaRPr lang="en-IN" sz="2400" dirty="0"/>
          </a:p>
          <a:p>
            <a:endParaRPr lang="en-US" dirty="0"/>
          </a:p>
        </p:txBody>
      </p:sp>
    </p:spTree>
    <p:extLst>
      <p:ext uri="{BB962C8B-B14F-4D97-AF65-F5344CB8AC3E}">
        <p14:creationId xmlns="" xmlns:p14="http://schemas.microsoft.com/office/powerpoint/2010/main" val="16355248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0F35BB-DA42-42FC-A9CA-4F1C4245C1EA}"/>
              </a:ext>
            </a:extLst>
          </p:cNvPr>
          <p:cNvSpPr>
            <a:spLocks noGrp="1"/>
          </p:cNvSpPr>
          <p:nvPr>
            <p:ph type="title"/>
          </p:nvPr>
        </p:nvSpPr>
        <p:spPr>
          <a:xfrm>
            <a:off x="76200" y="274638"/>
            <a:ext cx="8534400" cy="715962"/>
          </a:xfrm>
        </p:spPr>
        <p:txBody>
          <a:bodyPr>
            <a:normAutofit/>
          </a:bodyPr>
          <a:lstStyle/>
          <a:p>
            <a:r>
              <a:rPr lang="en-US" sz="2800" b="1" dirty="0">
                <a:solidFill>
                  <a:schemeClr val="accent1">
                    <a:lumMod val="75000"/>
                  </a:schemeClr>
                </a:solidFill>
              </a:rPr>
              <a:t>DEFICIENCIES IN PROPOSALS RECEIVED</a:t>
            </a:r>
          </a:p>
        </p:txBody>
      </p:sp>
      <p:sp>
        <p:nvSpPr>
          <p:cNvPr id="3" name="Content Placeholder 2">
            <a:extLst>
              <a:ext uri="{FF2B5EF4-FFF2-40B4-BE49-F238E27FC236}">
                <a16:creationId xmlns="" xmlns:a16="http://schemas.microsoft.com/office/drawing/2014/main" id="{CE445A3F-D519-4F6F-B356-16900B153C08}"/>
              </a:ext>
            </a:extLst>
          </p:cNvPr>
          <p:cNvSpPr>
            <a:spLocks noGrp="1"/>
          </p:cNvSpPr>
          <p:nvPr>
            <p:ph sz="quarter" idx="1"/>
          </p:nvPr>
        </p:nvSpPr>
        <p:spPr/>
        <p:txBody>
          <a:bodyPr>
            <a:normAutofit fontScale="85000" lnSpcReduction="20000"/>
          </a:bodyPr>
          <a:lstStyle/>
          <a:p>
            <a:pPr algn="just">
              <a:buFont typeface="Wingdings" panose="05000000000000000000" pitchFamily="2" charset="2"/>
              <a:buChar char="v"/>
            </a:pPr>
            <a:r>
              <a:rPr lang="en-IN" dirty="0"/>
              <a:t>A</a:t>
            </a:r>
            <a:r>
              <a:rPr lang="en-IN" sz="2400" dirty="0"/>
              <a:t>uthentic translation of documents in local language.</a:t>
            </a:r>
          </a:p>
          <a:p>
            <a:pPr algn="just">
              <a:buFont typeface="Wingdings" panose="05000000000000000000" pitchFamily="2" charset="2"/>
              <a:buChar char="v"/>
            </a:pPr>
            <a:r>
              <a:rPr lang="en-IN" sz="2400" dirty="0"/>
              <a:t>Uniform units of measurement.</a:t>
            </a:r>
          </a:p>
          <a:p>
            <a:pPr algn="just">
              <a:buFont typeface="Wingdings" panose="05000000000000000000" pitchFamily="2" charset="2"/>
              <a:buChar char="v"/>
            </a:pPr>
            <a:r>
              <a:rPr lang="en-US" sz="2400" dirty="0"/>
              <a:t>Incomplete Check- List. </a:t>
            </a:r>
            <a:endParaRPr lang="en-IN" sz="2400" dirty="0"/>
          </a:p>
          <a:p>
            <a:pPr algn="just">
              <a:buFont typeface="Wingdings" panose="05000000000000000000" pitchFamily="2" charset="2"/>
              <a:buChar char="v"/>
            </a:pPr>
            <a:r>
              <a:rPr lang="en-IN" sz="2400" dirty="0"/>
              <a:t>Signature of each staff member and officers must be taken on Demand Survey.</a:t>
            </a:r>
          </a:p>
          <a:p>
            <a:pPr algn="just">
              <a:buFont typeface="Wingdings" panose="05000000000000000000" pitchFamily="2" charset="2"/>
              <a:buChar char="v"/>
            </a:pPr>
            <a:r>
              <a:rPr lang="en-IN" sz="2400" dirty="0"/>
              <a:t> Validity of offer must be clearly mentioned.</a:t>
            </a:r>
          </a:p>
          <a:p>
            <a:pPr algn="just">
              <a:buFont typeface="Wingdings" panose="05000000000000000000" pitchFamily="2" charset="2"/>
              <a:buChar char="v"/>
            </a:pPr>
            <a:r>
              <a:rPr lang="en-IN" sz="2400" dirty="0"/>
              <a:t> Terms and Conditions of offer must be clearly mentioned.</a:t>
            </a:r>
          </a:p>
          <a:p>
            <a:pPr algn="just">
              <a:buFont typeface="Wingdings" panose="05000000000000000000" pitchFamily="2" charset="2"/>
              <a:buChar char="v"/>
            </a:pPr>
            <a:r>
              <a:rPr lang="en-IN" sz="2400" dirty="0"/>
              <a:t>If the land is on lease basis, its terms/period along with the rate of lease premium payable should be incorporative in the offer letter / sale/lease deed.</a:t>
            </a:r>
          </a:p>
          <a:p>
            <a:pPr algn="just">
              <a:buFont typeface="Wingdings" panose="05000000000000000000" pitchFamily="2" charset="2"/>
              <a:buChar char="v"/>
            </a:pPr>
            <a:r>
              <a:rPr lang="en-IN" sz="2400" dirty="0"/>
              <a:t>Payments schedule should be mentioned clearly in the offer letter/agreement.</a:t>
            </a:r>
          </a:p>
          <a:p>
            <a:pPr algn="just">
              <a:buFont typeface="Wingdings" panose="05000000000000000000" pitchFamily="2" charset="2"/>
              <a:buChar char="v"/>
            </a:pPr>
            <a:r>
              <a:rPr lang="en-IN" sz="2400" dirty="0"/>
              <a:t>Where the funds are to be provided from CBIC grants, the fund requirement should be projected well in advance so that necessary provision can be made in the DDG of the concerned financial year.</a:t>
            </a:r>
          </a:p>
          <a:p>
            <a:pPr marL="0" indent="0">
              <a:buNone/>
            </a:pPr>
            <a:endParaRPr lang="en-IN" dirty="0"/>
          </a:p>
          <a:p>
            <a:endParaRPr lang="en-US" dirty="0"/>
          </a:p>
        </p:txBody>
      </p:sp>
    </p:spTree>
    <p:extLst>
      <p:ext uri="{BB962C8B-B14F-4D97-AF65-F5344CB8AC3E}">
        <p14:creationId xmlns="" xmlns:p14="http://schemas.microsoft.com/office/powerpoint/2010/main" val="20440523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A5F78ED-3F8B-44DB-A76E-EEAE8FC7F48E}"/>
              </a:ext>
            </a:extLst>
          </p:cNvPr>
          <p:cNvSpPr>
            <a:spLocks noGrp="1"/>
          </p:cNvSpPr>
          <p:nvPr>
            <p:ph type="title"/>
          </p:nvPr>
        </p:nvSpPr>
        <p:spPr>
          <a:xfrm>
            <a:off x="457200" y="274638"/>
            <a:ext cx="7467600" cy="1020762"/>
          </a:xfrm>
        </p:spPr>
        <p:txBody>
          <a:bodyPr/>
          <a:lstStyle/>
          <a:p>
            <a:r>
              <a:rPr lang="en-US" b="1" dirty="0">
                <a:solidFill>
                  <a:schemeClr val="accent1">
                    <a:lumMod val="75000"/>
                  </a:schemeClr>
                </a:solidFill>
              </a:rPr>
              <a:t>POST ACQUISITION OF LAND</a:t>
            </a:r>
          </a:p>
        </p:txBody>
      </p:sp>
      <p:sp>
        <p:nvSpPr>
          <p:cNvPr id="3" name="Content Placeholder 2">
            <a:extLst>
              <a:ext uri="{FF2B5EF4-FFF2-40B4-BE49-F238E27FC236}">
                <a16:creationId xmlns="" xmlns:a16="http://schemas.microsoft.com/office/drawing/2014/main" id="{0E76ABB5-1B30-42FE-81F1-36E593C76C78}"/>
              </a:ext>
            </a:extLst>
          </p:cNvPr>
          <p:cNvSpPr>
            <a:spLocks noGrp="1"/>
          </p:cNvSpPr>
          <p:nvPr>
            <p:ph sz="quarter" idx="1"/>
          </p:nvPr>
        </p:nvSpPr>
        <p:spPr/>
        <p:txBody>
          <a:bodyPr>
            <a:normAutofit fontScale="92500"/>
          </a:bodyPr>
          <a:lstStyle/>
          <a:p>
            <a:pPr marL="0" indent="0" algn="just">
              <a:buNone/>
            </a:pPr>
            <a:r>
              <a:rPr lang="en-US" sz="2400" dirty="0"/>
              <a:t> (I) </a:t>
            </a:r>
            <a:r>
              <a:rPr lang="en-US" sz="2400" b="1" dirty="0"/>
              <a:t>Transfer of title on purchase of land:</a:t>
            </a:r>
            <a:r>
              <a:rPr lang="en-US" sz="2400" dirty="0"/>
              <a:t>  Department should get a clear legal title. The conveyance deed should be legally vetted by the Branch Secretariat of the Ministry of Law before execution.</a:t>
            </a:r>
          </a:p>
          <a:p>
            <a:pPr marL="0" indent="0" algn="just">
              <a:buNone/>
            </a:pPr>
            <a:r>
              <a:rPr lang="en-US" sz="2400" dirty="0"/>
              <a:t>(II) </a:t>
            </a:r>
            <a:r>
              <a:rPr lang="en-US" sz="2400" b="1" dirty="0"/>
              <a:t>Safety/Security of the property:</a:t>
            </a:r>
            <a:r>
              <a:rPr lang="en-US" sz="2400" dirty="0"/>
              <a:t> On acquisition of land, immediate necessary action should be initiated for securing the land by way of construction of boundary wall etc./putting up Notice Boards etc. to avoid the risk of encroachment thereon.</a:t>
            </a:r>
          </a:p>
          <a:p>
            <a:pPr marL="0" indent="0" algn="just">
              <a:buNone/>
            </a:pPr>
            <a:r>
              <a:rPr lang="en-US" sz="2400" dirty="0"/>
              <a:t>(III) </a:t>
            </a:r>
            <a:r>
              <a:rPr lang="en-US" sz="2400" b="1" dirty="0"/>
              <a:t>Proposal for Construction:</a:t>
            </a:r>
            <a:r>
              <a:rPr lang="en-US" sz="2400" dirty="0"/>
              <a:t> The proposal for construction of office building/residential quarters should be initiated on priority by the Commissionerate after acquisition of land.</a:t>
            </a:r>
            <a:endParaRPr lang="en-IN" sz="2400" dirty="0"/>
          </a:p>
          <a:p>
            <a:endParaRPr lang="en-US" dirty="0"/>
          </a:p>
        </p:txBody>
      </p:sp>
    </p:spTree>
    <p:extLst>
      <p:ext uri="{BB962C8B-B14F-4D97-AF65-F5344CB8AC3E}">
        <p14:creationId xmlns="" xmlns:p14="http://schemas.microsoft.com/office/powerpoint/2010/main" val="18530143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1447800"/>
            <a:ext cx="7772400" cy="2362200"/>
          </a:xfrm>
        </p:spPr>
        <p:txBody>
          <a:bodyPr>
            <a:normAutofit/>
          </a:bodyPr>
          <a:lstStyle/>
          <a:p>
            <a:pPr algn="ctr"/>
            <a:r>
              <a:rPr lang="en-US" dirty="0">
                <a:solidFill>
                  <a:schemeClr val="accent1">
                    <a:lumMod val="75000"/>
                  </a:schemeClr>
                </a:solidFill>
              </a:rPr>
              <a:t>CONSTRUCTION OF OFFICE BUILDINGS &amp; RESIDENTIAL QUARTERS</a:t>
            </a:r>
          </a:p>
        </p:txBody>
      </p:sp>
    </p:spTree>
    <p:extLst>
      <p:ext uri="{BB962C8B-B14F-4D97-AF65-F5344CB8AC3E}">
        <p14:creationId xmlns="" xmlns:p14="http://schemas.microsoft.com/office/powerpoint/2010/main" val="4245058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381000"/>
            <a:ext cx="8229600" cy="1066800"/>
          </a:xfrm>
        </p:spPr>
        <p:txBody>
          <a:bodyPr>
            <a:normAutofit fontScale="90000"/>
          </a:bodyPr>
          <a:lstStyle/>
          <a:p>
            <a:r>
              <a:rPr lang="en-US" b="1" dirty="0"/>
              <a:t>	</a:t>
            </a:r>
            <a:r>
              <a:rPr lang="en-US" dirty="0"/>
              <a:t/>
            </a:r>
            <a:br>
              <a:rPr lang="en-US" dirty="0"/>
            </a:br>
            <a:r>
              <a:rPr lang="en-US" sz="3600" dirty="0"/>
              <a:t> </a:t>
            </a:r>
            <a:br>
              <a:rPr lang="en-US" sz="3600" dirty="0"/>
            </a:br>
            <a:r>
              <a:rPr lang="en-US" sz="3600" dirty="0"/>
              <a:t/>
            </a:r>
            <a:br>
              <a:rPr lang="en-US" sz="3600" dirty="0"/>
            </a:br>
            <a:r>
              <a:rPr lang="en-US" sz="3600" b="1" dirty="0">
                <a:latin typeface="Arial" pitchFamily="34" charset="0"/>
                <a:cs typeface="Arial" pitchFamily="34" charset="0"/>
              </a:rPr>
              <a:t>STEPS FOR PREPARATION OF PROPOSAL BY FIELD FORMATIONS</a:t>
            </a:r>
            <a:r>
              <a:rPr lang="en-US" sz="3100" b="1" dirty="0">
                <a:latin typeface="Arial" pitchFamily="34" charset="0"/>
                <a:cs typeface="Arial" pitchFamily="34" charset="0"/>
              </a:rPr>
              <a:t/>
            </a:r>
            <a:br>
              <a:rPr lang="en-US" sz="3100" b="1" dirty="0">
                <a:latin typeface="Arial" pitchFamily="34" charset="0"/>
                <a:cs typeface="Arial" pitchFamily="34" charset="0"/>
              </a:rPr>
            </a:br>
            <a:r>
              <a:rPr lang="en-US" sz="3100" b="1" dirty="0">
                <a:latin typeface="Arial" pitchFamily="34" charset="0"/>
                <a:cs typeface="Arial" pitchFamily="34" charset="0"/>
              </a:rPr>
              <a:t/>
            </a:r>
            <a:br>
              <a:rPr lang="en-US" sz="3100" b="1" dirty="0">
                <a:latin typeface="Arial" pitchFamily="34" charset="0"/>
                <a:cs typeface="Arial" pitchFamily="34" charset="0"/>
              </a:rPr>
            </a:br>
            <a:r>
              <a:rPr lang="en-US" sz="3100" dirty="0">
                <a:latin typeface="Arial" pitchFamily="34" charset="0"/>
                <a:cs typeface="Arial" pitchFamily="34" charset="0"/>
              </a:rPr>
              <a:t/>
            </a:r>
            <a:br>
              <a:rPr lang="en-US" sz="3100" dirty="0">
                <a:latin typeface="Arial" pitchFamily="34" charset="0"/>
                <a:cs typeface="Arial" pitchFamily="34" charset="0"/>
              </a:rPr>
            </a:br>
            <a:r>
              <a:rPr lang="en-US" sz="3100" dirty="0">
                <a:latin typeface="Arial" pitchFamily="34" charset="0"/>
                <a:cs typeface="Arial" pitchFamily="34" charset="0"/>
              </a:rPr>
              <a:t/>
            </a:r>
            <a:br>
              <a:rPr lang="en-US" sz="3100" dirty="0">
                <a:latin typeface="Arial" pitchFamily="34" charset="0"/>
                <a:cs typeface="Arial" pitchFamily="34" charset="0"/>
              </a:rPr>
            </a:br>
            <a:endParaRPr lang="en-US" sz="3100" dirty="0">
              <a:latin typeface="Arial" pitchFamily="34" charset="0"/>
              <a:cs typeface="Arial" pitchFamily="34" charset="0"/>
            </a:endParaRPr>
          </a:p>
        </p:txBody>
      </p:sp>
      <p:sp>
        <p:nvSpPr>
          <p:cNvPr id="3" name="Content Placeholder 2"/>
          <p:cNvSpPr>
            <a:spLocks noGrp="1"/>
          </p:cNvSpPr>
          <p:nvPr>
            <p:ph sz="quarter" idx="1"/>
          </p:nvPr>
        </p:nvSpPr>
        <p:spPr>
          <a:xfrm>
            <a:off x="457200" y="1447800"/>
            <a:ext cx="7467600" cy="4873752"/>
          </a:xfrm>
        </p:spPr>
        <p:txBody>
          <a:bodyPr>
            <a:normAutofit lnSpcReduction="10000"/>
          </a:bodyPr>
          <a:lstStyle/>
          <a:p>
            <a:pPr algn="just">
              <a:buNone/>
            </a:pPr>
            <a:endParaRPr lang="en-US" sz="1800" dirty="0"/>
          </a:p>
          <a:p>
            <a:pPr algn="just">
              <a:spcBef>
                <a:spcPts val="0"/>
              </a:spcBef>
              <a:buNone/>
            </a:pPr>
            <a:r>
              <a:rPr lang="en-US" sz="1800" dirty="0"/>
              <a:t>	</a:t>
            </a:r>
            <a:r>
              <a:rPr lang="en-US" sz="1800" b="1" dirty="0"/>
              <a:t>1.</a:t>
            </a:r>
            <a:r>
              <a:rPr lang="en-US" sz="1800" dirty="0"/>
              <a:t>	</a:t>
            </a:r>
            <a:r>
              <a:rPr lang="en-US" sz="1800" b="1" dirty="0"/>
              <a:t>Determination of space requirements</a:t>
            </a:r>
            <a:r>
              <a:rPr lang="en-US" sz="1800" dirty="0"/>
              <a:t> - As per the norms     prescribed in the Infrastructure Manual, 2015.</a:t>
            </a:r>
          </a:p>
          <a:p>
            <a:pPr algn="just">
              <a:spcBef>
                <a:spcPts val="0"/>
              </a:spcBef>
              <a:buNone/>
            </a:pPr>
            <a:endParaRPr lang="en-US" sz="1800" dirty="0"/>
          </a:p>
          <a:p>
            <a:pPr algn="just">
              <a:spcBef>
                <a:spcPts val="0"/>
              </a:spcBef>
              <a:buNone/>
            </a:pPr>
            <a:r>
              <a:rPr lang="en-US" sz="1800" dirty="0"/>
              <a:t>	</a:t>
            </a:r>
            <a:r>
              <a:rPr lang="en-US" sz="1800" b="1" dirty="0"/>
              <a:t>2.    </a:t>
            </a:r>
            <a:r>
              <a:rPr lang="en-US" sz="1800" dirty="0"/>
              <a:t>Submission of the space requirements to the </a:t>
            </a:r>
            <a:r>
              <a:rPr lang="en-US" sz="1800" b="1" dirty="0"/>
              <a:t>Construction 	Agency.</a:t>
            </a:r>
          </a:p>
          <a:p>
            <a:pPr algn="just">
              <a:spcBef>
                <a:spcPts val="0"/>
              </a:spcBef>
              <a:buNone/>
            </a:pPr>
            <a:endParaRPr lang="en-US" sz="1800" b="1" dirty="0"/>
          </a:p>
          <a:p>
            <a:pPr algn="just">
              <a:spcBef>
                <a:spcPts val="0"/>
              </a:spcBef>
              <a:buNone/>
            </a:pPr>
            <a:r>
              <a:rPr lang="en-US" sz="1800" b="1" dirty="0"/>
              <a:t>	3.	</a:t>
            </a:r>
            <a:r>
              <a:rPr lang="en-US" sz="1800" dirty="0"/>
              <a:t>Obtaining </a:t>
            </a:r>
            <a:r>
              <a:rPr lang="en-US" sz="1800" b="1" dirty="0"/>
              <a:t>P.E., Drawings and layouts</a:t>
            </a:r>
            <a:r>
              <a:rPr lang="en-US" sz="1800" dirty="0"/>
              <a:t> with other relevant documents for the proposed building from the Agency.</a:t>
            </a:r>
          </a:p>
          <a:p>
            <a:pPr algn="just">
              <a:spcBef>
                <a:spcPts val="0"/>
              </a:spcBef>
              <a:buNone/>
            </a:pPr>
            <a:endParaRPr lang="en-US" sz="1800" dirty="0"/>
          </a:p>
          <a:p>
            <a:pPr algn="just">
              <a:spcBef>
                <a:spcPts val="0"/>
              </a:spcBef>
              <a:buNone/>
            </a:pPr>
            <a:r>
              <a:rPr lang="en-US" sz="1800" b="1" dirty="0"/>
              <a:t>	4. 	</a:t>
            </a:r>
            <a:r>
              <a:rPr lang="en-US" sz="1800" dirty="0"/>
              <a:t>Preparation of a </a:t>
            </a:r>
            <a:r>
              <a:rPr lang="en-US" sz="1800" b="1" dirty="0"/>
              <a:t>comprehensive proposal</a:t>
            </a:r>
            <a:r>
              <a:rPr lang="en-US" sz="1800" dirty="0"/>
              <a:t> along with necessary </a:t>
            </a:r>
            <a:r>
              <a:rPr lang="en-US" sz="1800" dirty="0" smtClean="0"/>
              <a:t>information </a:t>
            </a:r>
            <a:r>
              <a:rPr lang="en-US" sz="1800" dirty="0"/>
              <a:t>as per </a:t>
            </a:r>
            <a:r>
              <a:rPr lang="en-US" sz="1800" i="1" dirty="0"/>
              <a:t>Manual on Infrastructure 2015 </a:t>
            </a:r>
            <a:r>
              <a:rPr lang="en-US" sz="1800" dirty="0"/>
              <a:t>and forwarding to I&amp;W  Wing of DGHRD.</a:t>
            </a:r>
          </a:p>
          <a:p>
            <a:pPr algn="just">
              <a:spcBef>
                <a:spcPts val="0"/>
              </a:spcBef>
              <a:buNone/>
            </a:pPr>
            <a:endParaRPr lang="en-US" sz="1800" dirty="0"/>
          </a:p>
          <a:p>
            <a:pPr algn="just">
              <a:spcBef>
                <a:spcPts val="0"/>
              </a:spcBef>
              <a:buNone/>
            </a:pPr>
            <a:r>
              <a:rPr lang="en-US" sz="1800" b="1" dirty="0"/>
              <a:t>	5.	Sending reply to </a:t>
            </a:r>
            <a:r>
              <a:rPr lang="en-US" sz="1800" dirty="0"/>
              <a:t>observations made by DGHRD or IFU/Ministry.</a:t>
            </a:r>
          </a:p>
          <a:p>
            <a:pPr algn="just">
              <a:spcBef>
                <a:spcPts val="0"/>
              </a:spcBef>
              <a:buNone/>
            </a:pPr>
            <a:endParaRPr lang="en-US" sz="1800" dirty="0"/>
          </a:p>
          <a:p>
            <a:pPr algn="just">
              <a:spcBef>
                <a:spcPts val="0"/>
              </a:spcBef>
              <a:buNone/>
            </a:pPr>
            <a:r>
              <a:rPr lang="en-US" sz="1800" dirty="0"/>
              <a:t>	</a:t>
            </a:r>
            <a:r>
              <a:rPr lang="en-US" sz="1800" b="1" dirty="0"/>
              <a:t>6.	Monitoring</a:t>
            </a:r>
            <a:r>
              <a:rPr lang="en-US" sz="1800" dirty="0"/>
              <a:t> the Construction process after receiving A/a and 	E/s (</a:t>
            </a:r>
            <a:r>
              <a:rPr lang="en-US" sz="1800" b="1" dirty="0"/>
              <a:t>constituting a Works Committee). </a:t>
            </a:r>
          </a:p>
        </p:txBody>
      </p:sp>
      <p:sp>
        <p:nvSpPr>
          <p:cNvPr id="4" name="TextBox 3"/>
          <p:cNvSpPr txBox="1"/>
          <p:nvPr/>
        </p:nvSpPr>
        <p:spPr>
          <a:xfrm>
            <a:off x="685800" y="533400"/>
            <a:ext cx="6858000" cy="584775"/>
          </a:xfrm>
          <a:prstGeom prst="rect">
            <a:avLst/>
          </a:prstGeom>
          <a:noFill/>
        </p:spPr>
        <p:txBody>
          <a:bodyPr wrap="square" rtlCol="0">
            <a:spAutoFit/>
          </a:bodyPr>
          <a:lstStyle/>
          <a:p>
            <a:r>
              <a:rPr lang="en-US" sz="3200" b="1" dirty="0">
                <a:solidFill>
                  <a:schemeClr val="accent3">
                    <a:lumMod val="75000"/>
                  </a:schemeClr>
                </a:solidFill>
              </a:rPr>
              <a:t>CONSTRUCTION PROJECTS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1143000"/>
          </a:xfrm>
        </p:spPr>
        <p:txBody>
          <a:bodyPr>
            <a:normAutofit/>
          </a:bodyPr>
          <a:lstStyle/>
          <a:p>
            <a:r>
              <a:rPr lang="en-US" sz="2800" b="1" dirty="0">
                <a:solidFill>
                  <a:schemeClr val="accent3">
                    <a:lumMod val="75000"/>
                  </a:schemeClr>
                </a:solidFill>
              </a:rPr>
              <a:t>OTHER NECESSARY INFORMATION</a:t>
            </a:r>
          </a:p>
        </p:txBody>
      </p:sp>
      <p:sp>
        <p:nvSpPr>
          <p:cNvPr id="3" name="Content Placeholder 2"/>
          <p:cNvSpPr>
            <a:spLocks noGrp="1"/>
          </p:cNvSpPr>
          <p:nvPr>
            <p:ph sz="quarter" idx="1"/>
          </p:nvPr>
        </p:nvSpPr>
        <p:spPr/>
        <p:txBody>
          <a:bodyPr>
            <a:normAutofit/>
          </a:bodyPr>
          <a:lstStyle/>
          <a:p>
            <a:pPr algn="just"/>
            <a:r>
              <a:rPr lang="en-US" sz="2400" dirty="0"/>
              <a:t>Information as per Part A and Part C of the instructions issued by the Ministry (Annex 2.11 of </a:t>
            </a:r>
            <a:r>
              <a:rPr lang="en-US" sz="2400" i="1" dirty="0"/>
              <a:t>Infrastructure Manual</a:t>
            </a:r>
            <a:r>
              <a:rPr lang="en-US" sz="2400" dirty="0"/>
              <a:t>).</a:t>
            </a:r>
          </a:p>
          <a:p>
            <a:pPr algn="just"/>
            <a:r>
              <a:rPr lang="en-US" sz="2400" dirty="0"/>
              <a:t>General Information as per the </a:t>
            </a:r>
            <a:r>
              <a:rPr lang="en-US" sz="2400" i="1" dirty="0"/>
              <a:t>Infrastructure Manual.</a:t>
            </a:r>
          </a:p>
          <a:p>
            <a:pPr algn="just"/>
            <a:r>
              <a:rPr lang="en-US" sz="2400" dirty="0"/>
              <a:t>Information related to Guest house.</a:t>
            </a:r>
          </a:p>
          <a:p>
            <a:pPr algn="just"/>
            <a:r>
              <a:rPr lang="en-US" sz="2400" dirty="0"/>
              <a:t>Information pertaining to construction of boundary wall.</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457200"/>
          </a:xfrm>
        </p:spPr>
        <p:txBody>
          <a:bodyPr>
            <a:normAutofit/>
          </a:bodyPr>
          <a:lstStyle/>
          <a:p>
            <a:r>
              <a:rPr lang="en-US" sz="2000" b="1" dirty="0">
                <a:solidFill>
                  <a:schemeClr val="accent1">
                    <a:lumMod val="75000"/>
                  </a:schemeClr>
                </a:solidFill>
                <a:latin typeface="Arial" pitchFamily="34" charset="0"/>
                <a:cs typeface="Arial" pitchFamily="34" charset="0"/>
              </a:rPr>
              <a:t>Check List for Infrastructure Proposal prescribed by IFU</a:t>
            </a:r>
            <a:endParaRPr lang="en-US" sz="2000" dirty="0">
              <a:solidFill>
                <a:schemeClr val="accent1">
                  <a:lumMod val="75000"/>
                </a:schemeClr>
              </a:solidFill>
              <a:latin typeface="Arial" pitchFamily="34" charset="0"/>
              <a:cs typeface="Arial" pitchFamily="34" charset="0"/>
            </a:endParaRPr>
          </a:p>
        </p:txBody>
      </p:sp>
      <p:graphicFrame>
        <p:nvGraphicFramePr>
          <p:cNvPr id="3" name="Table 2"/>
          <p:cNvGraphicFramePr>
            <a:graphicFrameLocks noGrp="1"/>
          </p:cNvGraphicFramePr>
          <p:nvPr/>
        </p:nvGraphicFramePr>
        <p:xfrm>
          <a:off x="228600" y="609594"/>
          <a:ext cx="8686800" cy="5756003"/>
        </p:xfrm>
        <a:graphic>
          <a:graphicData uri="http://schemas.openxmlformats.org/drawingml/2006/table">
            <a:tbl>
              <a:tblPr/>
              <a:tblGrid>
                <a:gridCol w="381000">
                  <a:extLst>
                    <a:ext uri="{9D8B030D-6E8A-4147-A177-3AD203B41FA5}">
                      <a16:colId xmlns="" xmlns:a16="http://schemas.microsoft.com/office/drawing/2014/main" val="20000"/>
                    </a:ext>
                  </a:extLst>
                </a:gridCol>
                <a:gridCol w="7467600">
                  <a:extLst>
                    <a:ext uri="{9D8B030D-6E8A-4147-A177-3AD203B41FA5}">
                      <a16:colId xmlns="" xmlns:a16="http://schemas.microsoft.com/office/drawing/2014/main" val="20001"/>
                    </a:ext>
                  </a:extLst>
                </a:gridCol>
                <a:gridCol w="838200">
                  <a:extLst>
                    <a:ext uri="{9D8B030D-6E8A-4147-A177-3AD203B41FA5}">
                      <a16:colId xmlns="" xmlns:a16="http://schemas.microsoft.com/office/drawing/2014/main" val="20002"/>
                    </a:ext>
                  </a:extLst>
                </a:gridCol>
              </a:tblGrid>
              <a:tr h="449729">
                <a:tc>
                  <a:txBody>
                    <a:bodyPr/>
                    <a:lstStyle/>
                    <a:p>
                      <a:pPr marL="0" marR="0" algn="ctr">
                        <a:lnSpc>
                          <a:spcPct val="115000"/>
                        </a:lnSpc>
                        <a:spcBef>
                          <a:spcPts val="0"/>
                        </a:spcBef>
                        <a:spcAft>
                          <a:spcPts val="0"/>
                        </a:spcAft>
                      </a:pPr>
                      <a:r>
                        <a:rPr lang="en-US" sz="1400" b="1" dirty="0">
                          <a:latin typeface="Arial" pitchFamily="34" charset="0"/>
                          <a:ea typeface="Times New Roman"/>
                          <a:cs typeface="Arial" pitchFamily="34" charset="0"/>
                        </a:rPr>
                        <a:t>S. No.</a:t>
                      </a:r>
                      <a:endParaRPr lang="en-US" sz="1400" dirty="0">
                        <a:latin typeface="Arial" pitchFamily="34" charset="0"/>
                        <a:ea typeface="Times New Roman"/>
                        <a:cs typeface="Arial" pitchFamily="34" charset="0"/>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b="1" dirty="0">
                          <a:latin typeface="Arial" pitchFamily="34" charset="0"/>
                          <a:ea typeface="Times New Roman"/>
                          <a:cs typeface="Arial" pitchFamily="34" charset="0"/>
                        </a:rPr>
                        <a:t>Subject</a:t>
                      </a:r>
                      <a:endParaRPr lang="en-US" sz="1400" dirty="0">
                        <a:latin typeface="Arial" pitchFamily="34" charset="0"/>
                        <a:ea typeface="Times New Roman"/>
                        <a:cs typeface="Arial" pitchFamily="34" charset="0"/>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b="1">
                          <a:latin typeface="Arial" pitchFamily="34" charset="0"/>
                          <a:ea typeface="Times New Roman"/>
                          <a:cs typeface="Arial" pitchFamily="34" charset="0"/>
                        </a:rPr>
                        <a:t>Remarks</a:t>
                      </a:r>
                      <a:endParaRPr lang="en-US" sz="1400">
                        <a:latin typeface="Arial" pitchFamily="34" charset="0"/>
                        <a:ea typeface="Times New Roman"/>
                        <a:cs typeface="Arial" pitchFamily="34" charset="0"/>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r h="280869">
                <a:tc>
                  <a:txBody>
                    <a:bodyPr/>
                    <a:lstStyle/>
                    <a:p>
                      <a:pPr marL="0" marR="0" algn="just">
                        <a:lnSpc>
                          <a:spcPct val="115000"/>
                        </a:lnSpc>
                        <a:spcBef>
                          <a:spcPts val="0"/>
                        </a:spcBef>
                        <a:spcAft>
                          <a:spcPts val="0"/>
                        </a:spcAft>
                      </a:pPr>
                      <a:r>
                        <a:rPr lang="en-US" sz="1400">
                          <a:latin typeface="Arial" pitchFamily="34" charset="0"/>
                          <a:ea typeface="Times New Roman"/>
                          <a:cs typeface="Arial" pitchFamily="34" charset="0"/>
                        </a:rPr>
                        <a:t>1</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Available area (Land in </a:t>
                      </a:r>
                      <a:r>
                        <a:rPr lang="en-US" sz="1400" dirty="0" err="1">
                          <a:latin typeface="Arial" pitchFamily="34" charset="0"/>
                          <a:ea typeface="Times New Roman"/>
                          <a:cs typeface="Arial" pitchFamily="34" charset="0"/>
                        </a:rPr>
                        <a:t>sq.mtrs</a:t>
                      </a:r>
                      <a:r>
                        <a:rPr lang="en-US" sz="1400" dirty="0">
                          <a:latin typeface="Arial" pitchFamily="34" charset="0"/>
                          <a:ea typeface="Times New Roman"/>
                          <a:cs typeface="Arial" pitchFamily="34" charset="0"/>
                        </a:rPr>
                        <a:t>.)</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IN" sz="1400">
                        <a:latin typeface="Arial" pitchFamily="34" charset="0"/>
                        <a:ea typeface="Times New Roman"/>
                        <a:cs typeface="Arial" pitchFamily="34" charset="0"/>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280869">
                <a:tc>
                  <a:txBody>
                    <a:bodyPr/>
                    <a:lstStyle/>
                    <a:p>
                      <a:pPr marL="0" marR="0" algn="just">
                        <a:lnSpc>
                          <a:spcPct val="115000"/>
                        </a:lnSpc>
                        <a:spcBef>
                          <a:spcPts val="0"/>
                        </a:spcBef>
                        <a:spcAft>
                          <a:spcPts val="0"/>
                        </a:spcAft>
                      </a:pPr>
                      <a:r>
                        <a:rPr lang="en-US" sz="1400">
                          <a:latin typeface="Arial" pitchFamily="34" charset="0"/>
                          <a:ea typeface="Times New Roman"/>
                          <a:cs typeface="Arial" pitchFamily="34" charset="0"/>
                        </a:rPr>
                        <a:t>2</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Encumbrances if any (Enclose certificate from concerned District/Local Authority) </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IN" sz="1400">
                        <a:latin typeface="Arial" pitchFamily="34" charset="0"/>
                        <a:ea typeface="Times New Roman"/>
                        <a:cs typeface="Arial" pitchFamily="34" charset="0"/>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r h="543929">
                <a:tc>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3</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Date of Administrative Approval /expenditure sanction for the cost of the land </a:t>
                      </a:r>
                    </a:p>
                    <a:p>
                      <a:pPr marL="0" marR="0" algn="just">
                        <a:lnSpc>
                          <a:spcPct val="115000"/>
                        </a:lnSpc>
                        <a:spcBef>
                          <a:spcPts val="0"/>
                        </a:spcBef>
                        <a:spcAft>
                          <a:spcPts val="0"/>
                        </a:spcAft>
                      </a:pPr>
                      <a:r>
                        <a:rPr lang="en-US" sz="1400" dirty="0">
                          <a:latin typeface="Arial" pitchFamily="34" charset="0"/>
                          <a:ea typeface="Times New Roman"/>
                          <a:cs typeface="Arial" pitchFamily="34" charset="0"/>
                        </a:rPr>
                        <a:t>( copy of Ministry’s  letter to be enclosed )</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IN" sz="1400">
                        <a:latin typeface="Arial" pitchFamily="34" charset="0"/>
                        <a:ea typeface="Times New Roman"/>
                        <a:cs typeface="Arial" pitchFamily="34" charset="0"/>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r h="280869">
                <a:tc>
                  <a:txBody>
                    <a:bodyPr/>
                    <a:lstStyle/>
                    <a:p>
                      <a:pPr marL="0" marR="0" algn="just">
                        <a:lnSpc>
                          <a:spcPct val="115000"/>
                        </a:lnSpc>
                        <a:spcBef>
                          <a:spcPts val="0"/>
                        </a:spcBef>
                        <a:spcAft>
                          <a:spcPts val="0"/>
                        </a:spcAft>
                      </a:pPr>
                      <a:r>
                        <a:rPr lang="en-US" sz="1400">
                          <a:latin typeface="Arial" pitchFamily="34" charset="0"/>
                          <a:ea typeface="Times New Roman"/>
                          <a:cs typeface="Arial" pitchFamily="34" charset="0"/>
                        </a:rPr>
                        <a:t>4</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Date of possession of the land </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IN" sz="1400">
                        <a:latin typeface="Arial" pitchFamily="34" charset="0"/>
                        <a:ea typeface="Times New Roman"/>
                        <a:cs typeface="Arial" pitchFamily="34" charset="0"/>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4"/>
                  </a:ext>
                </a:extLst>
              </a:tr>
              <a:tr h="280869">
                <a:tc>
                  <a:txBody>
                    <a:bodyPr/>
                    <a:lstStyle/>
                    <a:p>
                      <a:pPr marL="0" marR="0" algn="just">
                        <a:lnSpc>
                          <a:spcPct val="115000"/>
                        </a:lnSpc>
                        <a:spcBef>
                          <a:spcPts val="0"/>
                        </a:spcBef>
                        <a:spcAft>
                          <a:spcPts val="0"/>
                        </a:spcAft>
                      </a:pPr>
                      <a:r>
                        <a:rPr lang="en-US" sz="1400">
                          <a:latin typeface="Arial" pitchFamily="34" charset="0"/>
                          <a:ea typeface="Times New Roman"/>
                          <a:cs typeface="Arial" pitchFamily="34" charset="0"/>
                        </a:rPr>
                        <a:t>5</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Sanctioned strength at the station (category –wise as on date ) </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IN" sz="1400">
                        <a:latin typeface="Arial" pitchFamily="34" charset="0"/>
                        <a:ea typeface="Times New Roman"/>
                        <a:cs typeface="Arial" pitchFamily="34" charset="0"/>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5"/>
                  </a:ext>
                </a:extLst>
              </a:tr>
              <a:tr h="280869">
                <a:tc>
                  <a:txBody>
                    <a:bodyPr/>
                    <a:lstStyle/>
                    <a:p>
                      <a:pPr marL="0" marR="0" algn="just">
                        <a:lnSpc>
                          <a:spcPct val="115000"/>
                        </a:lnSpc>
                        <a:spcBef>
                          <a:spcPts val="0"/>
                        </a:spcBef>
                        <a:spcAft>
                          <a:spcPts val="0"/>
                        </a:spcAft>
                      </a:pPr>
                      <a:r>
                        <a:rPr lang="en-US" sz="1400">
                          <a:latin typeface="Arial" pitchFamily="34" charset="0"/>
                          <a:ea typeface="Times New Roman"/>
                          <a:cs typeface="Arial" pitchFamily="34" charset="0"/>
                        </a:rPr>
                        <a:t>6</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Working  strength at the station (category –wise as on date ) </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IN" sz="1400">
                        <a:latin typeface="Arial" pitchFamily="34" charset="0"/>
                        <a:ea typeface="Times New Roman"/>
                        <a:cs typeface="Arial" pitchFamily="34" charset="0"/>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6"/>
                  </a:ext>
                </a:extLst>
              </a:tr>
              <a:tr h="280869">
                <a:tc>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7</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Requirement of quarter (worksheet as per the Table to be attached </a:t>
                      </a:r>
                      <a:r>
                        <a:rPr lang="en-US" sz="1400" b="1" dirty="0">
                          <a:latin typeface="Arial" pitchFamily="34" charset="0"/>
                          <a:ea typeface="Times New Roman"/>
                          <a:cs typeface="Arial" pitchFamily="34" charset="0"/>
                        </a:rPr>
                        <a:t>(Annexure –2.8)</a:t>
                      </a:r>
                      <a:endParaRPr lang="en-US" sz="1400" dirty="0">
                        <a:latin typeface="Arial" pitchFamily="34" charset="0"/>
                        <a:ea typeface="Times New Roman"/>
                        <a:cs typeface="Arial" pitchFamily="34" charset="0"/>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IN" sz="1400">
                        <a:latin typeface="Arial" pitchFamily="34" charset="0"/>
                        <a:ea typeface="Times New Roman"/>
                        <a:cs typeface="Arial" pitchFamily="34" charset="0"/>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7"/>
                  </a:ext>
                </a:extLst>
              </a:tr>
              <a:tr h="543929">
                <a:tc>
                  <a:txBody>
                    <a:bodyPr/>
                    <a:lstStyle/>
                    <a:p>
                      <a:pPr marL="0" marR="0" algn="just">
                        <a:lnSpc>
                          <a:spcPct val="115000"/>
                        </a:lnSpc>
                        <a:spcBef>
                          <a:spcPts val="0"/>
                        </a:spcBef>
                        <a:spcAft>
                          <a:spcPts val="0"/>
                        </a:spcAft>
                      </a:pPr>
                      <a:r>
                        <a:rPr lang="en-US" sz="1400">
                          <a:latin typeface="Arial" pitchFamily="34" charset="0"/>
                          <a:ea typeface="Times New Roman"/>
                          <a:cs typeface="Arial" pitchFamily="34" charset="0"/>
                        </a:rPr>
                        <a:t>8</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Requirement of office space to be worked out on the basis of the sanctioned strength  and as per the prescribed norms(work sheet to be enclosed )</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tabLst>
                          <a:tab pos="1952625" algn="l"/>
                        </a:tabLst>
                      </a:pPr>
                      <a:endParaRPr lang="en-IN" sz="1400">
                        <a:latin typeface="Arial" pitchFamily="34" charset="0"/>
                        <a:ea typeface="Times New Roman"/>
                        <a:cs typeface="Arial" pitchFamily="34" charset="0"/>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8"/>
                  </a:ext>
                </a:extLst>
              </a:tr>
              <a:tr h="280869">
                <a:tc>
                  <a:txBody>
                    <a:bodyPr/>
                    <a:lstStyle/>
                    <a:p>
                      <a:pPr marL="0" marR="0" algn="just">
                        <a:lnSpc>
                          <a:spcPct val="115000"/>
                        </a:lnSpc>
                        <a:spcBef>
                          <a:spcPts val="0"/>
                        </a:spcBef>
                        <a:spcAft>
                          <a:spcPts val="0"/>
                        </a:spcAft>
                      </a:pPr>
                      <a:r>
                        <a:rPr lang="en-US" sz="1400">
                          <a:latin typeface="Arial" pitchFamily="34" charset="0"/>
                          <a:ea typeface="Times New Roman"/>
                          <a:cs typeface="Arial" pitchFamily="34" charset="0"/>
                        </a:rPr>
                        <a:t>9</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Deviation if any from the norms /reasons thereof </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IN" sz="1400">
                        <a:latin typeface="Arial" pitchFamily="34" charset="0"/>
                        <a:ea typeface="Times New Roman"/>
                        <a:cs typeface="Arial" pitchFamily="34" charset="0"/>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9"/>
                  </a:ext>
                </a:extLst>
              </a:tr>
              <a:tr h="543929">
                <a:tc>
                  <a:txBody>
                    <a:bodyPr/>
                    <a:lstStyle/>
                    <a:p>
                      <a:pPr marL="0" marR="0" algn="just">
                        <a:lnSpc>
                          <a:spcPct val="115000"/>
                        </a:lnSpc>
                        <a:spcBef>
                          <a:spcPts val="0"/>
                        </a:spcBef>
                        <a:spcAft>
                          <a:spcPts val="0"/>
                        </a:spcAft>
                      </a:pPr>
                      <a:r>
                        <a:rPr lang="en-US" sz="1400">
                          <a:latin typeface="Arial" pitchFamily="34" charset="0"/>
                          <a:ea typeface="Times New Roman"/>
                          <a:cs typeface="Arial" pitchFamily="34" charset="0"/>
                        </a:rPr>
                        <a:t>10</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Lease rent /Ground rent and other one time (Non-Recurring) /Recurring payment to local authority.</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IN" sz="1400">
                        <a:latin typeface="Arial" pitchFamily="34" charset="0"/>
                        <a:ea typeface="Times New Roman"/>
                        <a:cs typeface="Arial" pitchFamily="34" charset="0"/>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0"/>
                  </a:ext>
                </a:extLst>
              </a:tr>
              <a:tr h="543929">
                <a:tc>
                  <a:txBody>
                    <a:bodyPr/>
                    <a:lstStyle/>
                    <a:p>
                      <a:pPr marL="0" marR="0" algn="just">
                        <a:lnSpc>
                          <a:spcPct val="115000"/>
                        </a:lnSpc>
                        <a:spcBef>
                          <a:spcPts val="0"/>
                        </a:spcBef>
                        <a:spcAft>
                          <a:spcPts val="0"/>
                        </a:spcAft>
                      </a:pPr>
                      <a:r>
                        <a:rPr lang="en-US" sz="1400">
                          <a:latin typeface="Arial" pitchFamily="34" charset="0"/>
                          <a:ea typeface="Times New Roman"/>
                          <a:cs typeface="Arial" pitchFamily="34" charset="0"/>
                        </a:rPr>
                        <a:t>11</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a:latin typeface="Arial" pitchFamily="34" charset="0"/>
                          <a:ea typeface="Times New Roman"/>
                          <a:cs typeface="Arial" pitchFamily="34" charset="0"/>
                        </a:rPr>
                        <a:t>Particulars of administrative approval of construction (copy of Ministry’s  letter to be enclosed )</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IN" sz="1400">
                        <a:latin typeface="Arial" pitchFamily="34" charset="0"/>
                        <a:ea typeface="Times New Roman"/>
                        <a:cs typeface="Arial" pitchFamily="34" charset="0"/>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1"/>
                  </a:ext>
                </a:extLst>
              </a:tr>
              <a:tr h="280869">
                <a:tc>
                  <a:txBody>
                    <a:bodyPr/>
                    <a:lstStyle/>
                    <a:p>
                      <a:pPr marL="0" marR="0" algn="just">
                        <a:lnSpc>
                          <a:spcPct val="115000"/>
                        </a:lnSpc>
                        <a:spcBef>
                          <a:spcPts val="0"/>
                        </a:spcBef>
                        <a:spcAft>
                          <a:spcPts val="0"/>
                        </a:spcAft>
                      </a:pPr>
                      <a:r>
                        <a:rPr lang="en-US" sz="1400">
                          <a:latin typeface="Arial" pitchFamily="34" charset="0"/>
                          <a:ea typeface="Times New Roman"/>
                          <a:cs typeface="Arial" pitchFamily="34" charset="0"/>
                        </a:rPr>
                        <a:t>12</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Non construction fee and other charges payable for delay of construction.</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IN" sz="1400">
                        <a:latin typeface="Arial" pitchFamily="34" charset="0"/>
                        <a:ea typeface="Times New Roman"/>
                        <a:cs typeface="Arial" pitchFamily="34" charset="0"/>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2"/>
                  </a:ext>
                </a:extLst>
              </a:tr>
              <a:tr h="280869">
                <a:tc>
                  <a:txBody>
                    <a:bodyPr/>
                    <a:lstStyle/>
                    <a:p>
                      <a:pPr marL="0" marR="0" algn="just">
                        <a:lnSpc>
                          <a:spcPct val="115000"/>
                        </a:lnSpc>
                        <a:spcBef>
                          <a:spcPts val="0"/>
                        </a:spcBef>
                        <a:spcAft>
                          <a:spcPts val="0"/>
                        </a:spcAft>
                      </a:pPr>
                      <a:r>
                        <a:rPr lang="en-US" sz="1400">
                          <a:latin typeface="Arial" pitchFamily="34" charset="0"/>
                          <a:ea typeface="Times New Roman"/>
                          <a:cs typeface="Arial" pitchFamily="34" charset="0"/>
                        </a:rPr>
                        <a:t>13</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b="1" dirty="0">
                          <a:latin typeface="Arial" pitchFamily="34" charset="0"/>
                          <a:ea typeface="Times New Roman"/>
                          <a:cs typeface="Arial" pitchFamily="34" charset="0"/>
                        </a:rPr>
                        <a:t>Cost of construction </a:t>
                      </a:r>
                      <a:r>
                        <a:rPr lang="en-US" sz="1400" b="1" dirty="0">
                          <a:solidFill>
                            <a:schemeClr val="accent3">
                              <a:lumMod val="75000"/>
                            </a:schemeClr>
                          </a:solidFill>
                          <a:latin typeface="Arial" pitchFamily="34" charset="0"/>
                          <a:ea typeface="Times New Roman"/>
                          <a:cs typeface="Arial" pitchFamily="34" charset="0"/>
                        </a:rPr>
                        <a:t>(Preliminary estimate prepared by CPWD to be enclosed).</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IN" sz="1400">
                        <a:latin typeface="Arial" pitchFamily="34" charset="0"/>
                        <a:ea typeface="Times New Roman"/>
                        <a:cs typeface="Arial" pitchFamily="34" charset="0"/>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3"/>
                  </a:ext>
                </a:extLst>
              </a:tr>
              <a:tr h="280869">
                <a:tc>
                  <a:txBody>
                    <a:bodyPr/>
                    <a:lstStyle/>
                    <a:p>
                      <a:pPr marL="0" marR="0" algn="just">
                        <a:lnSpc>
                          <a:spcPct val="115000"/>
                        </a:lnSpc>
                        <a:spcBef>
                          <a:spcPts val="0"/>
                        </a:spcBef>
                        <a:spcAft>
                          <a:spcPts val="0"/>
                        </a:spcAft>
                      </a:pPr>
                      <a:r>
                        <a:rPr lang="en-US" sz="1400">
                          <a:latin typeface="Arial" pitchFamily="34" charset="0"/>
                          <a:ea typeface="Times New Roman"/>
                          <a:cs typeface="Arial" pitchFamily="34" charset="0"/>
                        </a:rPr>
                        <a:t>14</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Plan of building (drawing/layout plan of the building to be attached in duplicate). </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IN" sz="1400">
                        <a:latin typeface="Arial" pitchFamily="34" charset="0"/>
                        <a:ea typeface="Times New Roman"/>
                        <a:cs typeface="Arial" pitchFamily="34" charset="0"/>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4"/>
                  </a:ext>
                </a:extLst>
              </a:tr>
              <a:tr h="280869">
                <a:tc>
                  <a:txBody>
                    <a:bodyPr/>
                    <a:lstStyle/>
                    <a:p>
                      <a:pPr marL="0" marR="0" algn="just">
                        <a:lnSpc>
                          <a:spcPct val="115000"/>
                        </a:lnSpc>
                        <a:spcBef>
                          <a:spcPts val="0"/>
                        </a:spcBef>
                        <a:spcAft>
                          <a:spcPts val="0"/>
                        </a:spcAft>
                      </a:pPr>
                      <a:r>
                        <a:rPr lang="en-US" sz="1400">
                          <a:latin typeface="Arial" pitchFamily="34" charset="0"/>
                          <a:ea typeface="Times New Roman"/>
                          <a:cs typeface="Arial" pitchFamily="34" charset="0"/>
                        </a:rPr>
                        <a:t>15</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Date of completion as per estimate. </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IN" sz="1400" dirty="0">
                        <a:latin typeface="Arial" pitchFamily="34" charset="0"/>
                        <a:ea typeface="Times New Roman"/>
                        <a:cs typeface="Arial" pitchFamily="34" charset="0"/>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5"/>
                  </a:ext>
                </a:extLst>
              </a:tr>
            </a:tbl>
          </a:graphicData>
        </a:graphic>
      </p:graphicFrame>
      <p:sp>
        <p:nvSpPr>
          <p:cNvPr id="44033" name="Text Box 12"/>
          <p:cNvSpPr txBox="1">
            <a:spLocks noChangeArrowheads="1"/>
          </p:cNvSpPr>
          <p:nvPr/>
        </p:nvSpPr>
        <p:spPr bwMode="auto">
          <a:xfrm>
            <a:off x="-469900" y="44450"/>
            <a:ext cx="314325" cy="257175"/>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 xmlns:p14="http://schemas.microsoft.com/office/powerpoint/2010/main" val="2088419514"/>
              </p:ext>
            </p:extLst>
          </p:nvPr>
        </p:nvGraphicFramePr>
        <p:xfrm>
          <a:off x="152400" y="685800"/>
          <a:ext cx="8534400" cy="6050208"/>
        </p:xfrm>
        <a:graphic>
          <a:graphicData uri="http://schemas.openxmlformats.org/drawingml/2006/table">
            <a:tbl>
              <a:tblPr/>
              <a:tblGrid>
                <a:gridCol w="328247">
                  <a:extLst>
                    <a:ext uri="{9D8B030D-6E8A-4147-A177-3AD203B41FA5}">
                      <a16:colId xmlns="" xmlns:a16="http://schemas.microsoft.com/office/drawing/2014/main" val="20000"/>
                    </a:ext>
                  </a:extLst>
                </a:gridCol>
                <a:gridCol w="7672753">
                  <a:extLst>
                    <a:ext uri="{9D8B030D-6E8A-4147-A177-3AD203B41FA5}">
                      <a16:colId xmlns="" xmlns:a16="http://schemas.microsoft.com/office/drawing/2014/main" val="20001"/>
                    </a:ext>
                  </a:extLst>
                </a:gridCol>
                <a:gridCol w="533400">
                  <a:extLst>
                    <a:ext uri="{9D8B030D-6E8A-4147-A177-3AD203B41FA5}">
                      <a16:colId xmlns="" xmlns:a16="http://schemas.microsoft.com/office/drawing/2014/main" val="20002"/>
                    </a:ext>
                  </a:extLst>
                </a:gridCol>
              </a:tblGrid>
              <a:tr h="241563">
                <a:tc>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16</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b="1" dirty="0">
                          <a:latin typeface="Arial" pitchFamily="34" charset="0"/>
                          <a:ea typeface="Times New Roman"/>
                          <a:cs typeface="Arial" pitchFamily="34" charset="0"/>
                        </a:rPr>
                        <a:t>Budget availability and phasing of expenditure year-wise</a:t>
                      </a:r>
                      <a:r>
                        <a:rPr lang="en-US" sz="1400" dirty="0">
                          <a:latin typeface="Arial" pitchFamily="34" charset="0"/>
                          <a:ea typeface="Times New Roman"/>
                          <a:cs typeface="Arial" pitchFamily="34" charset="0"/>
                        </a:rPr>
                        <a:t>.</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IN" sz="1400" dirty="0">
                        <a:latin typeface="Times New Roman"/>
                        <a:ea typeface="Times New Roman"/>
                        <a:cs typeface="Mangal"/>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r h="241563">
                <a:tc>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17</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Ongoing works at the place/ station.</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IN" sz="1400">
                        <a:latin typeface="Times New Roman"/>
                        <a:ea typeface="Times New Roman"/>
                        <a:cs typeface="Mangal"/>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241563">
                <a:tc>
                  <a:txBody>
                    <a:bodyPr/>
                    <a:lstStyle/>
                    <a:p>
                      <a:pPr marL="0" marR="0" algn="just">
                        <a:lnSpc>
                          <a:spcPct val="115000"/>
                        </a:lnSpc>
                        <a:spcBef>
                          <a:spcPts val="0"/>
                        </a:spcBef>
                        <a:spcAft>
                          <a:spcPts val="0"/>
                        </a:spcAft>
                      </a:pPr>
                      <a:r>
                        <a:rPr lang="en-US" sz="1400">
                          <a:latin typeface="Arial" pitchFamily="34" charset="0"/>
                          <a:ea typeface="Times New Roman"/>
                          <a:cs typeface="Arial" pitchFamily="34" charset="0"/>
                        </a:rPr>
                        <a:t>18</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Commitment of any other work by CPWD.</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IN" sz="1400">
                        <a:latin typeface="Times New Roman"/>
                        <a:ea typeface="Times New Roman"/>
                        <a:cs typeface="Mangal"/>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r h="765322">
                <a:tc>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19</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In case the proposed accommodation is residential accommodation, whether willingness of the officers/staff has been obtained. (Report of </a:t>
                      </a:r>
                      <a:r>
                        <a:rPr lang="en-US" sz="1400" b="1" dirty="0">
                          <a:latin typeface="Arial" pitchFamily="34" charset="0"/>
                          <a:ea typeface="Times New Roman"/>
                          <a:cs typeface="Arial" pitchFamily="34" charset="0"/>
                        </a:rPr>
                        <a:t>demand survey </a:t>
                      </a:r>
                      <a:r>
                        <a:rPr lang="en-US" sz="1400" dirty="0">
                          <a:latin typeface="Arial" pitchFamily="34" charset="0"/>
                          <a:ea typeface="Times New Roman"/>
                          <a:cs typeface="Arial" pitchFamily="34" charset="0"/>
                        </a:rPr>
                        <a:t>duly signed by eligible officer showing their willingness/ non-willingness are to be enclosed).</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IN" sz="1400">
                        <a:latin typeface="Times New Roman"/>
                        <a:ea typeface="Times New Roman"/>
                        <a:cs typeface="Mangal"/>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r h="247135">
                <a:tc>
                  <a:txBody>
                    <a:bodyPr/>
                    <a:lstStyle/>
                    <a:p>
                      <a:pPr marL="0" marR="0" algn="just">
                        <a:lnSpc>
                          <a:spcPct val="115000"/>
                        </a:lnSpc>
                        <a:spcBef>
                          <a:spcPts val="0"/>
                        </a:spcBef>
                        <a:spcAft>
                          <a:spcPts val="0"/>
                        </a:spcAft>
                      </a:pPr>
                      <a:r>
                        <a:rPr lang="en-US" sz="1400">
                          <a:latin typeface="Arial" pitchFamily="34" charset="0"/>
                          <a:ea typeface="Times New Roman"/>
                          <a:cs typeface="Arial" pitchFamily="34" charset="0"/>
                        </a:rPr>
                        <a:t>20</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Revenue collection (last five Financial Year wise).</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US" sz="1400">
                        <a:latin typeface="Calibri"/>
                        <a:ea typeface="Times New Roman"/>
                        <a:cs typeface="Mangal"/>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4"/>
                  </a:ext>
                </a:extLst>
              </a:tr>
              <a:tr h="502763">
                <a:tc>
                  <a:txBody>
                    <a:bodyPr/>
                    <a:lstStyle/>
                    <a:p>
                      <a:pPr marL="0" marR="0" algn="just">
                        <a:lnSpc>
                          <a:spcPct val="115000"/>
                        </a:lnSpc>
                        <a:spcBef>
                          <a:spcPts val="0"/>
                        </a:spcBef>
                        <a:spcAft>
                          <a:spcPts val="0"/>
                        </a:spcAft>
                      </a:pPr>
                      <a:r>
                        <a:rPr lang="en-US" sz="1400">
                          <a:latin typeface="Arial" pitchFamily="34" charset="0"/>
                          <a:ea typeface="Times New Roman"/>
                          <a:cs typeface="Arial" pitchFamily="34" charset="0"/>
                        </a:rPr>
                        <a:t>21</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Anti-smuggling/ Anti evasion formations-Value of seized goods, confiscated goods, sale proceeds etc. during last five years are to be provided.</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IN" sz="1400">
                        <a:latin typeface="Times New Roman"/>
                        <a:ea typeface="Times New Roman"/>
                        <a:cs typeface="Mangal"/>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5"/>
                  </a:ext>
                </a:extLst>
              </a:tr>
              <a:tr h="502763">
                <a:tc>
                  <a:txBody>
                    <a:bodyPr/>
                    <a:lstStyle/>
                    <a:p>
                      <a:pPr marL="0" marR="0" algn="just">
                        <a:lnSpc>
                          <a:spcPct val="115000"/>
                        </a:lnSpc>
                        <a:spcBef>
                          <a:spcPts val="0"/>
                        </a:spcBef>
                        <a:spcAft>
                          <a:spcPts val="0"/>
                        </a:spcAft>
                      </a:pPr>
                      <a:r>
                        <a:rPr lang="en-US" sz="1400">
                          <a:latin typeface="Arial" pitchFamily="34" charset="0"/>
                          <a:ea typeface="Times New Roman"/>
                          <a:cs typeface="Arial" pitchFamily="34" charset="0"/>
                        </a:rPr>
                        <a:t>22</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Statement of all immovable assets (Land and Building of CBEC, both owned and hired, to establish the necessity of fresh requirement is to be furnished)</a:t>
                      </a:r>
                      <a:r>
                        <a:rPr lang="en-US" sz="1400" b="1" dirty="0">
                          <a:latin typeface="Arial" pitchFamily="34" charset="0"/>
                          <a:ea typeface="Times New Roman"/>
                          <a:cs typeface="Arial" pitchFamily="34" charset="0"/>
                        </a:rPr>
                        <a:t>.</a:t>
                      </a:r>
                      <a:endParaRPr lang="en-US" sz="1400" dirty="0">
                        <a:latin typeface="Arial" pitchFamily="34" charset="0"/>
                        <a:ea typeface="Times New Roman"/>
                        <a:cs typeface="Arial" pitchFamily="34" charset="0"/>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tabLst>
                          <a:tab pos="752475" algn="l"/>
                        </a:tabLst>
                      </a:pPr>
                      <a:endParaRPr lang="en-IN" sz="1400">
                        <a:latin typeface="Times New Roman"/>
                        <a:ea typeface="Times New Roman"/>
                        <a:cs typeface="Mangal"/>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6"/>
                  </a:ext>
                </a:extLst>
              </a:tr>
              <a:tr h="502763">
                <a:tc>
                  <a:txBody>
                    <a:bodyPr/>
                    <a:lstStyle/>
                    <a:p>
                      <a:pPr marL="0" marR="0" algn="just">
                        <a:lnSpc>
                          <a:spcPct val="115000"/>
                        </a:lnSpc>
                        <a:spcBef>
                          <a:spcPts val="0"/>
                        </a:spcBef>
                        <a:spcAft>
                          <a:spcPts val="0"/>
                        </a:spcAft>
                      </a:pPr>
                      <a:r>
                        <a:rPr lang="en-US" sz="1400">
                          <a:latin typeface="Arial" pitchFamily="34" charset="0"/>
                          <a:ea typeface="Times New Roman"/>
                          <a:cs typeface="Arial" pitchFamily="34" charset="0"/>
                        </a:rPr>
                        <a:t>23</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b="1" dirty="0">
                          <a:latin typeface="Arial" pitchFamily="34" charset="0"/>
                          <a:ea typeface="Times New Roman"/>
                          <a:cs typeface="Arial" pitchFamily="34" charset="0"/>
                        </a:rPr>
                        <a:t>Reason for gap, if any, between taking possession of land and initiating the proposal for construction.</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IN" sz="1400">
                        <a:latin typeface="Times New Roman"/>
                        <a:ea typeface="Times New Roman"/>
                        <a:cs typeface="Mangal"/>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7"/>
                  </a:ext>
                </a:extLst>
              </a:tr>
              <a:tr h="241563">
                <a:tc>
                  <a:txBody>
                    <a:bodyPr/>
                    <a:lstStyle/>
                    <a:p>
                      <a:pPr marL="0" marR="0" algn="just">
                        <a:lnSpc>
                          <a:spcPct val="115000"/>
                        </a:lnSpc>
                        <a:spcBef>
                          <a:spcPts val="0"/>
                        </a:spcBef>
                        <a:spcAft>
                          <a:spcPts val="0"/>
                        </a:spcAft>
                      </a:pPr>
                      <a:r>
                        <a:rPr lang="en-US" sz="1400">
                          <a:latin typeface="Arial" pitchFamily="34" charset="0"/>
                          <a:ea typeface="Times New Roman"/>
                          <a:cs typeface="Arial" pitchFamily="34" charset="0"/>
                        </a:rPr>
                        <a:t>24</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Reasonableness of the cost of the land already purchased may be confirmed</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IN" sz="1400">
                        <a:latin typeface="Times New Roman"/>
                        <a:ea typeface="Times New Roman"/>
                        <a:cs typeface="Mangal"/>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8"/>
                  </a:ext>
                </a:extLst>
              </a:tr>
              <a:tr h="241563">
                <a:tc>
                  <a:txBody>
                    <a:bodyPr/>
                    <a:lstStyle/>
                    <a:p>
                      <a:pPr marL="0" marR="0" algn="just">
                        <a:lnSpc>
                          <a:spcPct val="115000"/>
                        </a:lnSpc>
                        <a:spcBef>
                          <a:spcPts val="0"/>
                        </a:spcBef>
                        <a:spcAft>
                          <a:spcPts val="0"/>
                        </a:spcAft>
                      </a:pPr>
                      <a:r>
                        <a:rPr lang="en-US" sz="1400">
                          <a:latin typeface="Arial" pitchFamily="34" charset="0"/>
                          <a:ea typeface="Times New Roman"/>
                          <a:cs typeface="Arial" pitchFamily="34" charset="0"/>
                        </a:rPr>
                        <a:t>25</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b="1" dirty="0">
                          <a:latin typeface="Arial" pitchFamily="34" charset="0"/>
                          <a:ea typeface="Times New Roman"/>
                          <a:cs typeface="Arial" pitchFamily="34" charset="0"/>
                        </a:rPr>
                        <a:t>Cost economics of hire </a:t>
                      </a:r>
                      <a:r>
                        <a:rPr lang="en-US" sz="1400" b="1" dirty="0" err="1">
                          <a:latin typeface="Arial" pitchFamily="34" charset="0"/>
                          <a:ea typeface="Times New Roman"/>
                          <a:cs typeface="Arial" pitchFamily="34" charset="0"/>
                        </a:rPr>
                        <a:t>vs</a:t>
                      </a:r>
                      <a:r>
                        <a:rPr lang="en-US" sz="1400" b="1" dirty="0">
                          <a:latin typeface="Arial" pitchFamily="34" charset="0"/>
                          <a:ea typeface="Times New Roman"/>
                          <a:cs typeface="Arial" pitchFamily="34" charset="0"/>
                        </a:rPr>
                        <a:t> construction may be worked out in detail.</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IN" sz="1400">
                        <a:latin typeface="Times New Roman"/>
                        <a:ea typeface="Times New Roman"/>
                        <a:cs typeface="Mangal"/>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9"/>
                  </a:ext>
                </a:extLst>
              </a:tr>
              <a:tr h="241563">
                <a:tc>
                  <a:txBody>
                    <a:bodyPr/>
                    <a:lstStyle/>
                    <a:p>
                      <a:pPr marL="0" marR="0" algn="just">
                        <a:lnSpc>
                          <a:spcPct val="115000"/>
                        </a:lnSpc>
                        <a:spcBef>
                          <a:spcPts val="0"/>
                        </a:spcBef>
                        <a:spcAft>
                          <a:spcPts val="0"/>
                        </a:spcAft>
                      </a:pPr>
                      <a:r>
                        <a:rPr lang="en-US" sz="1400">
                          <a:latin typeface="Arial" pitchFamily="34" charset="0"/>
                          <a:ea typeface="Times New Roman"/>
                          <a:cs typeface="Arial" pitchFamily="34" charset="0"/>
                        </a:rPr>
                        <a:t>26</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It may be confirmed whether economic cost analysis of building </a:t>
                      </a:r>
                      <a:r>
                        <a:rPr lang="en-US" sz="1400" dirty="0" err="1">
                          <a:latin typeface="Arial" pitchFamily="34" charset="0"/>
                          <a:ea typeface="Times New Roman"/>
                          <a:cs typeface="Arial" pitchFamily="34" charset="0"/>
                        </a:rPr>
                        <a:t>vs</a:t>
                      </a:r>
                      <a:r>
                        <a:rPr lang="en-US" sz="1400" dirty="0">
                          <a:latin typeface="Arial" pitchFamily="34" charset="0"/>
                          <a:ea typeface="Times New Roman"/>
                          <a:cs typeface="Arial" pitchFamily="34" charset="0"/>
                        </a:rPr>
                        <a:t> hire supports the proposal.</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IN" sz="1400">
                        <a:latin typeface="Times New Roman"/>
                        <a:ea typeface="Times New Roman"/>
                        <a:cs typeface="Mangal"/>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0"/>
                  </a:ext>
                </a:extLst>
              </a:tr>
              <a:tr h="388458">
                <a:tc>
                  <a:txBody>
                    <a:bodyPr/>
                    <a:lstStyle/>
                    <a:p>
                      <a:pPr marL="0" marR="0" algn="just">
                        <a:lnSpc>
                          <a:spcPct val="115000"/>
                        </a:lnSpc>
                        <a:spcBef>
                          <a:spcPts val="0"/>
                        </a:spcBef>
                        <a:spcAft>
                          <a:spcPts val="0"/>
                        </a:spcAft>
                      </a:pPr>
                      <a:r>
                        <a:rPr lang="en-US" sz="1400">
                          <a:latin typeface="Arial" pitchFamily="34" charset="0"/>
                          <a:ea typeface="Times New Roman"/>
                          <a:cs typeface="Arial" pitchFamily="34" charset="0"/>
                        </a:rPr>
                        <a:t>27</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Total saving in the form of HRA from staff/ officers once the proposed quarters are constructed.</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IN" sz="1400">
                        <a:latin typeface="Times New Roman"/>
                        <a:ea typeface="Times New Roman"/>
                        <a:cs typeface="Mangal"/>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1"/>
                  </a:ext>
                </a:extLst>
              </a:tr>
              <a:tr h="241563">
                <a:tc>
                  <a:txBody>
                    <a:bodyPr/>
                    <a:lstStyle/>
                    <a:p>
                      <a:pPr marL="0" marR="0" algn="just">
                        <a:lnSpc>
                          <a:spcPct val="115000"/>
                        </a:lnSpc>
                        <a:spcBef>
                          <a:spcPts val="0"/>
                        </a:spcBef>
                        <a:spcAft>
                          <a:spcPts val="0"/>
                        </a:spcAft>
                      </a:pPr>
                      <a:r>
                        <a:rPr lang="en-US" sz="1400">
                          <a:latin typeface="Arial" pitchFamily="34" charset="0"/>
                          <a:ea typeface="Times New Roman"/>
                          <a:cs typeface="Arial" pitchFamily="34" charset="0"/>
                        </a:rPr>
                        <a:t>28</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b="1" dirty="0">
                          <a:latin typeface="Arial" pitchFamily="34" charset="0"/>
                          <a:ea typeface="Times New Roman"/>
                          <a:cs typeface="Arial" pitchFamily="34" charset="0"/>
                        </a:rPr>
                        <a:t>The validity and date of the CPWD estimates be clarified.</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IN" sz="1400">
                        <a:latin typeface="Times New Roman"/>
                        <a:ea typeface="Times New Roman"/>
                        <a:cs typeface="Mangal"/>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2"/>
                  </a:ext>
                </a:extLst>
              </a:tr>
              <a:tr h="241563">
                <a:tc>
                  <a:txBody>
                    <a:bodyPr/>
                    <a:lstStyle/>
                    <a:p>
                      <a:pPr marL="0" marR="0" algn="just">
                        <a:lnSpc>
                          <a:spcPct val="115000"/>
                        </a:lnSpc>
                        <a:spcBef>
                          <a:spcPts val="0"/>
                        </a:spcBef>
                        <a:spcAft>
                          <a:spcPts val="0"/>
                        </a:spcAft>
                      </a:pPr>
                      <a:r>
                        <a:rPr lang="en-US" sz="1400">
                          <a:latin typeface="Arial" pitchFamily="34" charset="0"/>
                          <a:ea typeface="Times New Roman"/>
                          <a:cs typeface="Arial" pitchFamily="34" charset="0"/>
                        </a:rPr>
                        <a:t>29</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Agency responsible for day to day/annual maintenance of the building after its construction?.</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IN" sz="1400">
                        <a:latin typeface="Times New Roman"/>
                        <a:ea typeface="Times New Roman"/>
                        <a:cs typeface="Mangal"/>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3"/>
                  </a:ext>
                </a:extLst>
              </a:tr>
              <a:tr h="388458">
                <a:tc>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30</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What is the expenditure likely to be incurred on day to day /annual maintenance of the building?</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IN" sz="1400">
                        <a:latin typeface="Times New Roman"/>
                        <a:ea typeface="Times New Roman"/>
                        <a:cs typeface="Mangal"/>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4"/>
                  </a:ext>
                </a:extLst>
              </a:tr>
              <a:tr h="789634">
                <a:tc>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31</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Information in SFC memorandum or CNE Memorandum may also be furnished. Format of SFC memorandum as per </a:t>
                      </a:r>
                      <a:r>
                        <a:rPr lang="en-US" sz="1400" b="1" dirty="0">
                          <a:latin typeface="Arial" pitchFamily="34" charset="0"/>
                          <a:ea typeface="Times New Roman"/>
                          <a:cs typeface="Arial" pitchFamily="34" charset="0"/>
                        </a:rPr>
                        <a:t>(Annexure 2.14(a))</a:t>
                      </a:r>
                      <a:r>
                        <a:rPr lang="en-US" sz="1400" dirty="0">
                          <a:latin typeface="Arial" pitchFamily="34" charset="0"/>
                          <a:ea typeface="Times New Roman"/>
                          <a:cs typeface="Arial" pitchFamily="34" charset="0"/>
                        </a:rPr>
                        <a:t> and CNE Memorandum as per (</a:t>
                      </a:r>
                      <a:r>
                        <a:rPr lang="en-US" sz="1400" b="1" dirty="0">
                          <a:latin typeface="Arial" pitchFamily="34" charset="0"/>
                          <a:ea typeface="Times New Roman"/>
                          <a:cs typeface="Arial" pitchFamily="34" charset="0"/>
                        </a:rPr>
                        <a:t>Annexure 2.14(b)).</a:t>
                      </a:r>
                      <a:endParaRPr lang="en-US" sz="1400" dirty="0">
                        <a:latin typeface="Arial" pitchFamily="34" charset="0"/>
                        <a:ea typeface="Times New Roman"/>
                        <a:cs typeface="Arial" pitchFamily="34" charset="0"/>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IN" sz="1400" dirty="0">
                        <a:latin typeface="Times New Roman"/>
                        <a:ea typeface="Times New Roman"/>
                        <a:cs typeface="Mangal"/>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15"/>
                  </a:ext>
                </a:extLst>
              </a:tr>
            </a:tbl>
          </a:graphicData>
        </a:graphic>
      </p:graphicFrame>
      <p:sp>
        <p:nvSpPr>
          <p:cNvPr id="3" name="Title 1"/>
          <p:cNvSpPr txBox="1">
            <a:spLocks/>
          </p:cNvSpPr>
          <p:nvPr/>
        </p:nvSpPr>
        <p:spPr>
          <a:xfrm>
            <a:off x="381000" y="152400"/>
            <a:ext cx="8229600" cy="457200"/>
          </a:xfrm>
          <a:prstGeom prst="rect">
            <a:avLst/>
          </a:prstGeom>
        </p:spPr>
        <p:txBody>
          <a:bodyP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none" spc="0" normalizeH="0" baseline="0" noProof="0" dirty="0">
                <a:ln>
                  <a:noFill/>
                </a:ln>
                <a:solidFill>
                  <a:schemeClr val="accent1">
                    <a:lumMod val="75000"/>
                  </a:schemeClr>
                </a:solidFill>
                <a:effectLst>
                  <a:outerShdw blurRad="50000" dist="30000" dir="5400000" algn="tl" rotWithShape="0">
                    <a:srgbClr val="000000">
                      <a:alpha val="30000"/>
                    </a:srgbClr>
                  </a:outerShdw>
                </a:effectLst>
                <a:uLnTx/>
                <a:uFillTx/>
                <a:latin typeface="Arial" pitchFamily="34" charset="0"/>
                <a:ea typeface="+mj-ea"/>
                <a:cs typeface="Arial" pitchFamily="34" charset="0"/>
              </a:rPr>
              <a:t>Check List for Infrastructure Proposal prescribed by IFU</a:t>
            </a:r>
            <a:endParaRPr kumimoji="0" lang="en-US" sz="2000" b="0" i="0" u="none" strike="noStrike" kern="1200" cap="none" spc="0" normalizeH="0" baseline="0" noProof="0" dirty="0">
              <a:ln>
                <a:noFill/>
              </a:ln>
              <a:solidFill>
                <a:schemeClr val="accent1">
                  <a:lumMod val="75000"/>
                </a:schemeClr>
              </a:solidFill>
              <a:effectLst>
                <a:outerShdw blurRad="50000" dist="30000" dir="5400000" algn="tl" rotWithShape="0">
                  <a:srgbClr val="000000">
                    <a:alpha val="30000"/>
                  </a:srgbClr>
                </a:outerShdw>
              </a:effectLst>
              <a:uLnTx/>
              <a:uFillTx/>
              <a:latin typeface="Arial" pitchFamily="34" charset="0"/>
              <a:ea typeface="+mj-ea"/>
              <a:cs typeface="Arial"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 xmlns:p14="http://schemas.microsoft.com/office/powerpoint/2010/main" val="2468777682"/>
              </p:ext>
            </p:extLst>
          </p:nvPr>
        </p:nvGraphicFramePr>
        <p:xfrm>
          <a:off x="381000" y="1066800"/>
          <a:ext cx="8382000" cy="5593080"/>
        </p:xfrm>
        <a:graphic>
          <a:graphicData uri="http://schemas.openxmlformats.org/drawingml/2006/table">
            <a:tbl>
              <a:tblPr/>
              <a:tblGrid>
                <a:gridCol w="407144">
                  <a:extLst>
                    <a:ext uri="{9D8B030D-6E8A-4147-A177-3AD203B41FA5}">
                      <a16:colId xmlns="" xmlns:a16="http://schemas.microsoft.com/office/drawing/2014/main" val="20000"/>
                    </a:ext>
                  </a:extLst>
                </a:gridCol>
                <a:gridCol w="7289056">
                  <a:extLst>
                    <a:ext uri="{9D8B030D-6E8A-4147-A177-3AD203B41FA5}">
                      <a16:colId xmlns="" xmlns:a16="http://schemas.microsoft.com/office/drawing/2014/main" val="20001"/>
                    </a:ext>
                  </a:extLst>
                </a:gridCol>
                <a:gridCol w="685800">
                  <a:extLst>
                    <a:ext uri="{9D8B030D-6E8A-4147-A177-3AD203B41FA5}">
                      <a16:colId xmlns="" xmlns:a16="http://schemas.microsoft.com/office/drawing/2014/main" val="20002"/>
                    </a:ext>
                  </a:extLst>
                </a:gridCol>
              </a:tblGrid>
              <a:tr h="1463040">
                <a:tc>
                  <a:txBody>
                    <a:bodyPr/>
                    <a:lstStyle/>
                    <a:p>
                      <a:pPr marL="0" marR="0" algn="just">
                        <a:lnSpc>
                          <a:spcPct val="115000"/>
                        </a:lnSpc>
                        <a:spcBef>
                          <a:spcPts val="0"/>
                        </a:spcBef>
                        <a:spcAft>
                          <a:spcPts val="0"/>
                        </a:spcAft>
                      </a:pPr>
                      <a:r>
                        <a:rPr lang="en-US" sz="2000" dirty="0">
                          <a:latin typeface="Arial" pitchFamily="34" charset="0"/>
                          <a:ea typeface="Times New Roman"/>
                          <a:cs typeface="Arial" pitchFamily="34" charset="0"/>
                        </a:rPr>
                        <a:t>32</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2000" dirty="0">
                          <a:latin typeface="Arial" pitchFamily="34" charset="0"/>
                          <a:ea typeface="Times New Roman"/>
                          <a:cs typeface="Arial" pitchFamily="34" charset="0"/>
                        </a:rPr>
                        <a:t>Whether the proposed office building is IT (Infrastructure Technology) friendly i.e. whether requirements for Consolidation project for Computerization have been accounted for and whether the Directorate of Systems consulted for any specific requirements.</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US" sz="1400" dirty="0">
                        <a:latin typeface="Calibri"/>
                        <a:ea typeface="Times New Roman"/>
                        <a:cs typeface="Mangal"/>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r h="975360">
                <a:tc>
                  <a:txBody>
                    <a:bodyPr/>
                    <a:lstStyle/>
                    <a:p>
                      <a:pPr marL="0" marR="0" algn="just">
                        <a:lnSpc>
                          <a:spcPct val="115000"/>
                        </a:lnSpc>
                        <a:spcBef>
                          <a:spcPts val="0"/>
                        </a:spcBef>
                        <a:spcAft>
                          <a:spcPts val="0"/>
                        </a:spcAft>
                      </a:pPr>
                      <a:r>
                        <a:rPr lang="en-US" sz="2000" dirty="0">
                          <a:latin typeface="Arial" pitchFamily="34" charset="0"/>
                          <a:ea typeface="Times New Roman"/>
                          <a:cs typeface="Arial" pitchFamily="34" charset="0"/>
                        </a:rPr>
                        <a:t>33</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US" sz="2000" dirty="0">
                          <a:latin typeface="Arial" pitchFamily="34" charset="0"/>
                          <a:ea typeface="Times New Roman"/>
                          <a:cs typeface="Arial" pitchFamily="34" charset="0"/>
                        </a:rPr>
                        <a:t>Budget Head under which expenditure should be accounted (Information to be obtained from CPWD).</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endParaRPr lang="en-US" sz="1400" dirty="0">
                        <a:latin typeface="Calibri"/>
                        <a:ea typeface="Times New Roman"/>
                        <a:cs typeface="Mangal"/>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975360">
                <a:tc>
                  <a:txBody>
                    <a:bodyPr/>
                    <a:lstStyle/>
                    <a:p>
                      <a:pPr marL="0" marR="0" algn="just">
                        <a:lnSpc>
                          <a:spcPct val="115000"/>
                        </a:lnSpc>
                        <a:spcBef>
                          <a:spcPts val="0"/>
                        </a:spcBef>
                        <a:spcAft>
                          <a:spcPts val="0"/>
                        </a:spcAft>
                      </a:pPr>
                      <a:endParaRPr lang="en-US" sz="2000" dirty="0">
                        <a:latin typeface="Arial" pitchFamily="34" charset="0"/>
                        <a:ea typeface="Times New Roman"/>
                        <a:cs typeface="Arial" pitchFamily="34" charset="0"/>
                      </a:endParaRPr>
                    </a:p>
                    <a:p>
                      <a:pPr>
                        <a:lnSpc>
                          <a:spcPct val="115000"/>
                        </a:lnSpc>
                      </a:pPr>
                      <a:r>
                        <a:rPr lang="en-US" sz="2000" dirty="0">
                          <a:latin typeface="Arial" pitchFamily="34" charset="0"/>
                          <a:cs typeface="Arial" pitchFamily="34" charset="0"/>
                        </a:rPr>
                        <a:t>34 </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2000" b="1" dirty="0">
                          <a:latin typeface="Arial" pitchFamily="34" charset="0"/>
                          <a:ea typeface="Times New Roman"/>
                          <a:cs typeface="Arial" pitchFamily="34" charset="0"/>
                        </a:rPr>
                        <a:t>Cost of construction per sq. ft.</a:t>
                      </a:r>
                      <a:r>
                        <a:rPr lang="en-US" sz="2000" dirty="0">
                          <a:latin typeface="Arial" pitchFamily="34" charset="0"/>
                          <a:ea typeface="Times New Roman"/>
                          <a:cs typeface="Arial" pitchFamily="34" charset="0"/>
                        </a:rPr>
                        <a:t> of super area/carpet area/plinth area/ covered area to be mentioned</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endParaRPr lang="en-US" sz="1400" dirty="0">
                        <a:latin typeface="Calibri"/>
                        <a:ea typeface="Times New Roman"/>
                        <a:cs typeface="Mangal"/>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02"/>
                  </a:ext>
                </a:extLst>
              </a:tr>
              <a:tr h="487680">
                <a:tc>
                  <a:txBody>
                    <a:bodyPr/>
                    <a:lstStyle/>
                    <a:p>
                      <a:pPr marL="0" marR="0" algn="just">
                        <a:lnSpc>
                          <a:spcPct val="115000"/>
                        </a:lnSpc>
                        <a:spcBef>
                          <a:spcPts val="0"/>
                        </a:spcBef>
                        <a:spcAft>
                          <a:spcPts val="0"/>
                        </a:spcAft>
                      </a:pPr>
                      <a:r>
                        <a:rPr lang="en-US" sz="2000" dirty="0">
                          <a:latin typeface="Arial" pitchFamily="34" charset="0"/>
                          <a:ea typeface="Times New Roman"/>
                          <a:cs typeface="Arial" pitchFamily="34" charset="0"/>
                        </a:rPr>
                        <a:t>35</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2000" dirty="0">
                          <a:latin typeface="Arial" pitchFamily="34" charset="0"/>
                          <a:ea typeface="Times New Roman"/>
                          <a:cs typeface="Arial" pitchFamily="34" charset="0"/>
                        </a:rPr>
                        <a:t>Permissible FAR/FSI available on the plot to be mentioned</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endParaRPr lang="en-US" sz="1400" dirty="0">
                        <a:latin typeface="Calibri"/>
                        <a:ea typeface="Times New Roman"/>
                        <a:cs typeface="Mangal"/>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487680">
                <a:tc>
                  <a:txBody>
                    <a:bodyPr/>
                    <a:lstStyle/>
                    <a:p>
                      <a:pPr marL="0" marR="0" algn="just">
                        <a:lnSpc>
                          <a:spcPct val="115000"/>
                        </a:lnSpc>
                        <a:spcBef>
                          <a:spcPts val="0"/>
                        </a:spcBef>
                        <a:spcAft>
                          <a:spcPts val="0"/>
                        </a:spcAft>
                      </a:pPr>
                      <a:r>
                        <a:rPr lang="en-US" sz="2000" dirty="0">
                          <a:latin typeface="Arial" pitchFamily="34" charset="0"/>
                          <a:ea typeface="Times New Roman"/>
                          <a:cs typeface="Arial" pitchFamily="34" charset="0"/>
                        </a:rPr>
                        <a:t>36</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2000" dirty="0">
                          <a:latin typeface="Arial" pitchFamily="34" charset="0"/>
                          <a:ea typeface="Times New Roman"/>
                          <a:cs typeface="Arial" pitchFamily="34" charset="0"/>
                        </a:rPr>
                        <a:t>Certificate from the appointed agency regarding the </a:t>
                      </a:r>
                      <a:r>
                        <a:rPr lang="en-US" sz="2000" b="1" dirty="0">
                          <a:latin typeface="Arial" pitchFamily="34" charset="0"/>
                          <a:ea typeface="Times New Roman"/>
                          <a:cs typeface="Arial" pitchFamily="34" charset="0"/>
                        </a:rPr>
                        <a:t>GRIHA norms</a:t>
                      </a:r>
                      <a:r>
                        <a:rPr lang="en-US" sz="2000" dirty="0">
                          <a:latin typeface="Arial" pitchFamily="34" charset="0"/>
                          <a:ea typeface="Times New Roman"/>
                          <a:cs typeface="Arial" pitchFamily="34" charset="0"/>
                        </a:rPr>
                        <a:t> to be obtained</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endParaRPr lang="en-US" sz="1400" dirty="0">
                        <a:latin typeface="Calibri"/>
                        <a:ea typeface="Times New Roman"/>
                        <a:cs typeface="Mangal"/>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04"/>
                  </a:ext>
                </a:extLst>
              </a:tr>
              <a:tr h="487680">
                <a:tc>
                  <a:txBody>
                    <a:bodyPr/>
                    <a:lstStyle/>
                    <a:p>
                      <a:pPr marL="0" marR="0" algn="just">
                        <a:lnSpc>
                          <a:spcPct val="115000"/>
                        </a:lnSpc>
                        <a:spcBef>
                          <a:spcPts val="0"/>
                        </a:spcBef>
                        <a:spcAft>
                          <a:spcPts val="0"/>
                        </a:spcAft>
                      </a:pPr>
                      <a:r>
                        <a:rPr lang="en-US" sz="2000" dirty="0">
                          <a:latin typeface="Arial" pitchFamily="34" charset="0"/>
                          <a:ea typeface="Times New Roman"/>
                          <a:cs typeface="Arial" pitchFamily="34" charset="0"/>
                        </a:rPr>
                        <a:t>37</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2000" dirty="0">
                          <a:latin typeface="Arial" pitchFamily="34" charset="0"/>
                          <a:ea typeface="Times New Roman"/>
                          <a:cs typeface="Arial" pitchFamily="34" charset="0"/>
                        </a:rPr>
                        <a:t>Measures regarding Disaster Management to be mentioned in the proposal</a:t>
                      </a: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endParaRPr lang="en-US" sz="1400" dirty="0">
                        <a:latin typeface="Calibri"/>
                        <a:ea typeface="Times New Roman"/>
                        <a:cs typeface="Mangal"/>
                      </a:endParaRPr>
                    </a:p>
                  </a:txBody>
                  <a:tcPr marL="13364" marR="1336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 xmlns:a16="http://schemas.microsoft.com/office/drawing/2014/main" val="10005"/>
                  </a:ext>
                </a:extLst>
              </a:tr>
            </a:tbl>
          </a:graphicData>
        </a:graphic>
      </p:graphicFrame>
      <p:sp>
        <p:nvSpPr>
          <p:cNvPr id="3" name="Title 1"/>
          <p:cNvSpPr txBox="1">
            <a:spLocks/>
          </p:cNvSpPr>
          <p:nvPr/>
        </p:nvSpPr>
        <p:spPr>
          <a:xfrm>
            <a:off x="457200" y="152400"/>
            <a:ext cx="8229600" cy="457200"/>
          </a:xfrm>
          <a:prstGeom prst="rect">
            <a:avLst/>
          </a:prstGeom>
        </p:spPr>
        <p:txBody>
          <a:bodyP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none" spc="0" normalizeH="0" baseline="0" noProof="0" dirty="0">
                <a:ln>
                  <a:noFill/>
                </a:ln>
                <a:solidFill>
                  <a:schemeClr val="accent1">
                    <a:lumMod val="75000"/>
                  </a:schemeClr>
                </a:solidFill>
                <a:effectLst>
                  <a:outerShdw blurRad="50000" dist="30000" dir="5400000" algn="tl" rotWithShape="0">
                    <a:srgbClr val="000000">
                      <a:alpha val="30000"/>
                    </a:srgbClr>
                  </a:outerShdw>
                </a:effectLst>
                <a:uLnTx/>
                <a:uFillTx/>
                <a:latin typeface="Arial" pitchFamily="34" charset="0"/>
                <a:ea typeface="+mj-ea"/>
                <a:cs typeface="Arial" pitchFamily="34" charset="0"/>
              </a:rPr>
              <a:t>Check List for Infrastructure Proposal prescribed by IFU</a:t>
            </a:r>
            <a:endParaRPr kumimoji="0" lang="en-US" sz="2000" b="0" i="0" u="none" strike="noStrike" kern="1200" cap="none" spc="0" normalizeH="0" baseline="0" noProof="0" dirty="0">
              <a:ln>
                <a:noFill/>
              </a:ln>
              <a:solidFill>
                <a:schemeClr val="accent1">
                  <a:lumMod val="75000"/>
                </a:schemeClr>
              </a:solidFill>
              <a:effectLst>
                <a:outerShdw blurRad="50000" dist="30000" dir="5400000" algn="tl" rotWithShape="0">
                  <a:srgbClr val="000000">
                    <a:alpha val="30000"/>
                  </a:srgbClr>
                </a:outerShdw>
              </a:effectLst>
              <a:uLnTx/>
              <a:uFillTx/>
              <a:latin typeface="Arial" pitchFamily="34" charset="0"/>
              <a:ea typeface="+mj-ea"/>
              <a:cs typeface="Arial"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0"/>
            <a:ext cx="8382000" cy="7663636"/>
          </a:xfrm>
          <a:prstGeom prst="rect">
            <a:avLst/>
          </a:prstGeom>
          <a:noFill/>
        </p:spPr>
        <p:txBody>
          <a:bodyPr wrap="square" rtlCol="0">
            <a:spAutoFit/>
          </a:bodyPr>
          <a:lstStyle/>
          <a:p>
            <a:pPr algn="just"/>
            <a:endParaRPr lang="en-US" sz="3200" dirty="0">
              <a:solidFill>
                <a:schemeClr val="accent3">
                  <a:lumMod val="75000"/>
                </a:schemeClr>
              </a:solidFill>
            </a:endParaRPr>
          </a:p>
          <a:p>
            <a:pPr algn="just"/>
            <a:r>
              <a:rPr lang="en-US" sz="3200" dirty="0">
                <a:solidFill>
                  <a:schemeClr val="accent3">
                    <a:lumMod val="75000"/>
                  </a:schemeClr>
                </a:solidFill>
              </a:rPr>
              <a:t>   ESSENTIAL COMPONENTS</a:t>
            </a:r>
          </a:p>
          <a:p>
            <a:pPr algn="just"/>
            <a:r>
              <a:rPr lang="en-US" sz="2800" dirty="0"/>
              <a:t>	</a:t>
            </a:r>
          </a:p>
          <a:p>
            <a:pPr algn="just">
              <a:buFont typeface="Arial" pitchFamily="34" charset="0"/>
              <a:buChar char="•"/>
            </a:pPr>
            <a:r>
              <a:rPr lang="en-US" sz="2800" dirty="0"/>
              <a:t>    </a:t>
            </a:r>
            <a:r>
              <a:rPr lang="en-US" sz="2400" dirty="0"/>
              <a:t>Proposed building with at least 3 star GRIHA </a:t>
            </a:r>
            <a:r>
              <a:rPr lang="en-US" sz="2400" dirty="0" smtClean="0"/>
              <a:t>(Green Rating for Integrated Habitat Assessment) rating</a:t>
            </a:r>
            <a:r>
              <a:rPr lang="en-US" sz="2400" dirty="0"/>
              <a:t>.</a:t>
            </a:r>
          </a:p>
          <a:p>
            <a:pPr algn="just"/>
            <a:endParaRPr lang="en-US" sz="2400" dirty="0"/>
          </a:p>
          <a:p>
            <a:pPr marL="520700" indent="-520700" algn="just">
              <a:buFont typeface="Arial" pitchFamily="34" charset="0"/>
              <a:buChar char="•"/>
            </a:pPr>
            <a:r>
              <a:rPr lang="en-US" sz="2400" dirty="0"/>
              <a:t>Provisions for rainwater harvesting, LEDs, fly ash bricks and PVC windows.</a:t>
            </a:r>
          </a:p>
          <a:p>
            <a:pPr marL="520700" indent="-520700" algn="just"/>
            <a:endParaRPr lang="en-US" sz="2400" dirty="0"/>
          </a:p>
          <a:p>
            <a:pPr marL="568325" indent="-568325" algn="just">
              <a:buFont typeface="Arial" pitchFamily="34" charset="0"/>
              <a:buChar char="•"/>
            </a:pPr>
            <a:r>
              <a:rPr lang="en-US" sz="2400" dirty="0"/>
              <a:t>Proposal of office/ residential building with boundary wall.</a:t>
            </a:r>
          </a:p>
          <a:p>
            <a:pPr algn="just"/>
            <a:endParaRPr lang="en-US" sz="2400" dirty="0"/>
          </a:p>
          <a:p>
            <a:pPr algn="just">
              <a:buFont typeface="Arial" pitchFamily="34" charset="0"/>
              <a:buChar char="•"/>
            </a:pPr>
            <a:r>
              <a:rPr lang="en-US" sz="2400" dirty="0"/>
              <a:t>     Focus on building a state of the art building.</a:t>
            </a:r>
          </a:p>
          <a:p>
            <a:pPr algn="just">
              <a:buFont typeface="Arial" pitchFamily="34" charset="0"/>
              <a:buChar char="•"/>
            </a:pPr>
            <a:endParaRPr lang="en-US" sz="2400" dirty="0"/>
          </a:p>
          <a:p>
            <a:pPr algn="just">
              <a:buFont typeface="Arial" pitchFamily="34" charset="0"/>
              <a:buChar char="•"/>
            </a:pPr>
            <a:r>
              <a:rPr lang="en-US" sz="2400" dirty="0"/>
              <a:t>     IT and senior citizens/specially </a:t>
            </a:r>
            <a:r>
              <a:rPr lang="en-US" sz="2400" dirty="0" err="1"/>
              <a:t>abled</a:t>
            </a:r>
            <a:r>
              <a:rPr lang="en-US" sz="2400" dirty="0"/>
              <a:t> friendly.</a:t>
            </a:r>
          </a:p>
          <a:p>
            <a:pPr algn="just">
              <a:buFont typeface="Arial" pitchFamily="34" charset="0"/>
              <a:buChar char="•"/>
            </a:pPr>
            <a:endParaRPr lang="en-US" sz="2400" dirty="0"/>
          </a:p>
          <a:p>
            <a:pPr algn="just">
              <a:buFont typeface="Arial" pitchFamily="34" charset="0"/>
              <a:buChar char="•"/>
            </a:pPr>
            <a:r>
              <a:rPr lang="en-US" sz="2400" dirty="0"/>
              <a:t>     Provision of Centralized Air Conditioning.</a:t>
            </a:r>
          </a:p>
          <a:p>
            <a:pPr algn="just">
              <a:buFont typeface="Arial" pitchFamily="34" charset="0"/>
              <a:buChar char="•"/>
            </a:pPr>
            <a:endParaRPr lang="en-US" sz="6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229600" cy="990600"/>
          </a:xfrm>
        </p:spPr>
        <p:txBody>
          <a:bodyPr>
            <a:normAutofit fontScale="90000"/>
          </a:bodyPr>
          <a:lstStyle/>
          <a:p>
            <a:pPr algn="ctr"/>
            <a:r>
              <a:rPr lang="en-US" sz="2400" b="1" dirty="0"/>
              <a:t>          </a:t>
            </a:r>
            <a:r>
              <a:rPr lang="en-US" sz="2400" b="1" dirty="0">
                <a:solidFill>
                  <a:schemeClr val="accent3">
                    <a:lumMod val="75000"/>
                  </a:schemeClr>
                </a:solidFill>
              </a:rPr>
              <a:t>Financial Powers/Approval Authorities</a:t>
            </a:r>
            <a:br>
              <a:rPr lang="en-US" sz="2400" b="1" dirty="0">
                <a:solidFill>
                  <a:schemeClr val="accent3">
                    <a:lumMod val="75000"/>
                  </a:schemeClr>
                </a:solidFill>
              </a:rPr>
            </a:br>
            <a:r>
              <a:rPr lang="en-US" sz="2400" b="1" dirty="0">
                <a:solidFill>
                  <a:schemeClr val="accent3">
                    <a:lumMod val="75000"/>
                  </a:schemeClr>
                </a:solidFill>
              </a:rPr>
              <a:t>        </a:t>
            </a:r>
            <a:r>
              <a:rPr lang="en-US" dirty="0">
                <a:solidFill>
                  <a:schemeClr val="accent3">
                    <a:lumMod val="75000"/>
                  </a:schemeClr>
                </a:solidFill>
              </a:rPr>
              <a:t/>
            </a:r>
            <a:br>
              <a:rPr lang="en-US" dirty="0">
                <a:solidFill>
                  <a:schemeClr val="accent3">
                    <a:lumMod val="75000"/>
                  </a:schemeClr>
                </a:solidFill>
              </a:rPr>
            </a:br>
            <a:r>
              <a:rPr lang="en-US" sz="1800" dirty="0">
                <a:solidFill>
                  <a:schemeClr val="accent3">
                    <a:lumMod val="75000"/>
                  </a:schemeClr>
                </a:solidFill>
              </a:rPr>
              <a:t> OM No.24(35)/PF-II/2012 dated 5</a:t>
            </a:r>
            <a:r>
              <a:rPr lang="en-US" sz="1800" baseline="30000" dirty="0">
                <a:solidFill>
                  <a:schemeClr val="accent3">
                    <a:lumMod val="75000"/>
                  </a:schemeClr>
                </a:solidFill>
              </a:rPr>
              <a:t>th</a:t>
            </a:r>
            <a:r>
              <a:rPr lang="en-US" sz="1800" dirty="0">
                <a:solidFill>
                  <a:schemeClr val="accent3">
                    <a:lumMod val="75000"/>
                  </a:schemeClr>
                </a:solidFill>
              </a:rPr>
              <a:t> August 2016</a:t>
            </a:r>
          </a:p>
        </p:txBody>
      </p:sp>
      <p:graphicFrame>
        <p:nvGraphicFramePr>
          <p:cNvPr id="3" name="Table 2"/>
          <p:cNvGraphicFramePr>
            <a:graphicFrameLocks noGrp="1"/>
          </p:cNvGraphicFramePr>
          <p:nvPr>
            <p:extLst>
              <p:ext uri="{D42A27DB-BD31-4B8C-83A1-F6EECF244321}">
                <p14:modId xmlns="" xmlns:p14="http://schemas.microsoft.com/office/powerpoint/2010/main" val="1623795792"/>
              </p:ext>
            </p:extLst>
          </p:nvPr>
        </p:nvGraphicFramePr>
        <p:xfrm>
          <a:off x="304800" y="1447800"/>
          <a:ext cx="7924800" cy="5257800"/>
        </p:xfrm>
        <a:graphic>
          <a:graphicData uri="http://schemas.openxmlformats.org/drawingml/2006/table">
            <a:tbl>
              <a:tblPr/>
              <a:tblGrid>
                <a:gridCol w="1396893">
                  <a:extLst>
                    <a:ext uri="{9D8B030D-6E8A-4147-A177-3AD203B41FA5}">
                      <a16:colId xmlns="" xmlns:a16="http://schemas.microsoft.com/office/drawing/2014/main" val="20000"/>
                    </a:ext>
                  </a:extLst>
                </a:gridCol>
                <a:gridCol w="2780563">
                  <a:extLst>
                    <a:ext uri="{9D8B030D-6E8A-4147-A177-3AD203B41FA5}">
                      <a16:colId xmlns="" xmlns:a16="http://schemas.microsoft.com/office/drawing/2014/main" val="20001"/>
                    </a:ext>
                  </a:extLst>
                </a:gridCol>
                <a:gridCol w="1873672">
                  <a:extLst>
                    <a:ext uri="{9D8B030D-6E8A-4147-A177-3AD203B41FA5}">
                      <a16:colId xmlns="" xmlns:a16="http://schemas.microsoft.com/office/drawing/2014/main" val="20002"/>
                    </a:ext>
                  </a:extLst>
                </a:gridCol>
                <a:gridCol w="1873672">
                  <a:extLst>
                    <a:ext uri="{9D8B030D-6E8A-4147-A177-3AD203B41FA5}">
                      <a16:colId xmlns="" xmlns:a16="http://schemas.microsoft.com/office/drawing/2014/main" val="20003"/>
                    </a:ext>
                  </a:extLst>
                </a:gridCol>
              </a:tblGrid>
              <a:tr h="419778">
                <a:tc gridSpan="2">
                  <a:txBody>
                    <a:bodyPr/>
                    <a:lstStyle/>
                    <a:p>
                      <a:pPr marL="0" marR="0" algn="ctr">
                        <a:lnSpc>
                          <a:spcPct val="115000"/>
                        </a:lnSpc>
                        <a:spcBef>
                          <a:spcPts val="0"/>
                        </a:spcBef>
                        <a:spcAft>
                          <a:spcPts val="0"/>
                        </a:spcAft>
                        <a:tabLst>
                          <a:tab pos="2347913" algn="l"/>
                        </a:tabLst>
                      </a:pPr>
                      <a:r>
                        <a:rPr lang="en-IN" sz="1400" b="1" dirty="0">
                          <a:latin typeface="Arial" pitchFamily="34" charset="0"/>
                          <a:ea typeface="Calibri"/>
                          <a:cs typeface="Arial" pitchFamily="34" charset="0"/>
                        </a:rPr>
                        <a:t>Scheme/Project Appraisal</a:t>
                      </a:r>
                      <a:endParaRPr lang="en-US" sz="1400" dirty="0">
                        <a:latin typeface="Arial" pitchFamily="34" charset="0"/>
                        <a:ea typeface="Times New Roman"/>
                        <a:cs typeface="Arial" pitchFamily="34" charset="0"/>
                      </a:endParaRPr>
                    </a:p>
                  </a:txBody>
                  <a:tcPr marL="51632" marR="516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marL="0" marR="0" algn="ctr">
                        <a:lnSpc>
                          <a:spcPct val="115000"/>
                        </a:lnSpc>
                        <a:spcBef>
                          <a:spcPts val="0"/>
                        </a:spcBef>
                        <a:spcAft>
                          <a:spcPts val="0"/>
                        </a:spcAft>
                      </a:pPr>
                      <a:r>
                        <a:rPr lang="en-IN" sz="1400" b="1">
                          <a:latin typeface="Arial" pitchFamily="34" charset="0"/>
                          <a:ea typeface="Calibri"/>
                          <a:cs typeface="Arial" pitchFamily="34" charset="0"/>
                        </a:rPr>
                        <a:t>Scheme/Project Approval</a:t>
                      </a:r>
                      <a:endParaRPr lang="en-US" sz="1400">
                        <a:latin typeface="Arial" pitchFamily="34" charset="0"/>
                        <a:ea typeface="Times New Roman"/>
                        <a:cs typeface="Arial" pitchFamily="34" charset="0"/>
                      </a:endParaRPr>
                    </a:p>
                  </a:txBody>
                  <a:tcPr marL="51632" marR="516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 xmlns:a16="http://schemas.microsoft.com/office/drawing/2014/main" val="10000"/>
                  </a:ext>
                </a:extLst>
              </a:tr>
              <a:tr h="347216">
                <a:tc>
                  <a:txBody>
                    <a:bodyPr/>
                    <a:lstStyle/>
                    <a:p>
                      <a:pPr marL="0" marR="0" algn="ctr">
                        <a:lnSpc>
                          <a:spcPct val="115000"/>
                        </a:lnSpc>
                        <a:spcBef>
                          <a:spcPts val="0"/>
                        </a:spcBef>
                        <a:spcAft>
                          <a:spcPts val="0"/>
                        </a:spcAft>
                      </a:pPr>
                      <a:r>
                        <a:rPr lang="en-IN" sz="1400" b="1">
                          <a:latin typeface="Arial" pitchFamily="34" charset="0"/>
                          <a:ea typeface="Calibri"/>
                          <a:cs typeface="Arial" pitchFamily="34" charset="0"/>
                        </a:rPr>
                        <a:t>Cost (Rs. Cr.)</a:t>
                      </a:r>
                      <a:endParaRPr lang="en-US" sz="1400">
                        <a:latin typeface="Arial" pitchFamily="34" charset="0"/>
                        <a:ea typeface="Times New Roman"/>
                        <a:cs typeface="Arial" pitchFamily="34" charset="0"/>
                      </a:endParaRPr>
                    </a:p>
                  </a:txBody>
                  <a:tcPr marL="51632" marR="516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IN" sz="1400" b="1" dirty="0">
                          <a:latin typeface="Arial" pitchFamily="34" charset="0"/>
                          <a:ea typeface="Calibri"/>
                          <a:cs typeface="Arial" pitchFamily="34" charset="0"/>
                        </a:rPr>
                        <a:t>Appraisal by</a:t>
                      </a:r>
                      <a:endParaRPr lang="en-US" sz="1400" dirty="0">
                        <a:latin typeface="Arial" pitchFamily="34" charset="0"/>
                        <a:ea typeface="Times New Roman"/>
                        <a:cs typeface="Arial" pitchFamily="34" charset="0"/>
                      </a:endParaRPr>
                    </a:p>
                  </a:txBody>
                  <a:tcPr marL="51632" marR="516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IN" sz="1400" b="1" dirty="0">
                          <a:latin typeface="Arial" pitchFamily="34" charset="0"/>
                          <a:ea typeface="Calibri"/>
                          <a:cs typeface="Arial" pitchFamily="34" charset="0"/>
                        </a:rPr>
                        <a:t>Cost (Rs. Cr.)</a:t>
                      </a:r>
                      <a:endParaRPr lang="en-US" sz="1400" dirty="0">
                        <a:latin typeface="Arial" pitchFamily="34" charset="0"/>
                        <a:ea typeface="Times New Roman"/>
                        <a:cs typeface="Arial" pitchFamily="34" charset="0"/>
                      </a:endParaRPr>
                    </a:p>
                  </a:txBody>
                  <a:tcPr marL="51632" marR="516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IN" sz="1400" b="1" dirty="0">
                          <a:latin typeface="Arial" pitchFamily="34" charset="0"/>
                          <a:ea typeface="Calibri"/>
                          <a:cs typeface="Arial" pitchFamily="34" charset="0"/>
                        </a:rPr>
                        <a:t>Approval by</a:t>
                      </a:r>
                      <a:endParaRPr lang="en-US" sz="1400" dirty="0">
                        <a:latin typeface="Arial" pitchFamily="34" charset="0"/>
                        <a:ea typeface="Times New Roman"/>
                        <a:cs typeface="Arial" pitchFamily="34" charset="0"/>
                      </a:endParaRPr>
                    </a:p>
                  </a:txBody>
                  <a:tcPr marL="51632" marR="516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785745">
                <a:tc>
                  <a:txBody>
                    <a:bodyPr/>
                    <a:lstStyle/>
                    <a:p>
                      <a:pPr marL="0" marR="0" algn="ctr">
                        <a:lnSpc>
                          <a:spcPct val="115000"/>
                        </a:lnSpc>
                        <a:spcBef>
                          <a:spcPts val="0"/>
                        </a:spcBef>
                        <a:spcAft>
                          <a:spcPts val="0"/>
                        </a:spcAft>
                      </a:pPr>
                      <a:r>
                        <a:rPr lang="en-IN" sz="1400">
                          <a:latin typeface="Arial" pitchFamily="34" charset="0"/>
                          <a:ea typeface="Calibri"/>
                          <a:cs typeface="Arial" pitchFamily="34" charset="0"/>
                        </a:rPr>
                        <a:t>Upto 100</a:t>
                      </a:r>
                      <a:endParaRPr lang="en-US" sz="1400">
                        <a:latin typeface="Arial" pitchFamily="34" charset="0"/>
                        <a:ea typeface="Times New Roman"/>
                        <a:cs typeface="Arial" pitchFamily="34" charset="0"/>
                      </a:endParaRPr>
                    </a:p>
                  </a:txBody>
                  <a:tcPr marL="51632" marR="516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IN" sz="1400" dirty="0">
                          <a:latin typeface="Arial" pitchFamily="34" charset="0"/>
                          <a:ea typeface="Calibri"/>
                          <a:cs typeface="Arial" pitchFamily="34" charset="0"/>
                        </a:rPr>
                        <a:t>The Financial Advisor</a:t>
                      </a:r>
                      <a:endParaRPr lang="en-US" sz="1400" dirty="0">
                        <a:latin typeface="Arial" pitchFamily="34" charset="0"/>
                        <a:ea typeface="Times New Roman"/>
                        <a:cs typeface="Arial" pitchFamily="34" charset="0"/>
                      </a:endParaRPr>
                    </a:p>
                  </a:txBody>
                  <a:tcPr marL="51632" marR="516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IN" sz="1400">
                          <a:latin typeface="Arial" pitchFamily="34" charset="0"/>
                          <a:ea typeface="Calibri"/>
                          <a:cs typeface="Arial" pitchFamily="34" charset="0"/>
                        </a:rPr>
                        <a:t>Upto 100</a:t>
                      </a:r>
                      <a:endParaRPr lang="en-US" sz="1400">
                        <a:latin typeface="Arial" pitchFamily="34" charset="0"/>
                        <a:ea typeface="Times New Roman"/>
                        <a:cs typeface="Arial" pitchFamily="34" charset="0"/>
                      </a:endParaRPr>
                    </a:p>
                  </a:txBody>
                  <a:tcPr marL="51632" marR="516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IN" sz="1400">
                          <a:latin typeface="Arial" pitchFamily="34" charset="0"/>
                          <a:ea typeface="Calibri"/>
                          <a:cs typeface="Arial" pitchFamily="34" charset="0"/>
                        </a:rPr>
                        <a:t>Secretary of the Administrative Department</a:t>
                      </a:r>
                      <a:endParaRPr lang="en-US" sz="1400">
                        <a:latin typeface="Arial" pitchFamily="34" charset="0"/>
                        <a:ea typeface="Times New Roman"/>
                        <a:cs typeface="Arial" pitchFamily="34" charset="0"/>
                      </a:endParaRPr>
                    </a:p>
                  </a:txBody>
                  <a:tcPr marL="51632" marR="516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r h="785745">
                <a:tc>
                  <a:txBody>
                    <a:bodyPr/>
                    <a:lstStyle/>
                    <a:p>
                      <a:pPr marL="0" marR="0" algn="ctr">
                        <a:lnSpc>
                          <a:spcPct val="115000"/>
                        </a:lnSpc>
                        <a:spcBef>
                          <a:spcPts val="0"/>
                        </a:spcBef>
                        <a:spcAft>
                          <a:spcPts val="0"/>
                        </a:spcAft>
                      </a:pPr>
                      <a:r>
                        <a:rPr lang="en-IN" sz="1400">
                          <a:latin typeface="Arial" pitchFamily="34" charset="0"/>
                          <a:ea typeface="Calibri"/>
                          <a:cs typeface="Arial" pitchFamily="34" charset="0"/>
                        </a:rPr>
                        <a:t>&gt; 100 &amp; upto 500</a:t>
                      </a:r>
                      <a:endParaRPr lang="en-US" sz="1400">
                        <a:latin typeface="Arial" pitchFamily="34" charset="0"/>
                        <a:ea typeface="Times New Roman"/>
                        <a:cs typeface="Arial" pitchFamily="34" charset="0"/>
                      </a:endParaRPr>
                    </a:p>
                  </a:txBody>
                  <a:tcPr marL="51632" marR="516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IN" sz="1400" dirty="0">
                          <a:latin typeface="Arial" pitchFamily="34" charset="0"/>
                          <a:ea typeface="Calibri"/>
                          <a:cs typeface="Arial" pitchFamily="34" charset="0"/>
                        </a:rPr>
                        <a:t>SFC/DIB Chaired by Secretary of the </a:t>
                      </a:r>
                      <a:r>
                        <a:rPr lang="en-IN" sz="1400" dirty="0" err="1">
                          <a:latin typeface="Arial" pitchFamily="34" charset="0"/>
                          <a:ea typeface="Calibri"/>
                          <a:cs typeface="Arial" pitchFamily="34" charset="0"/>
                        </a:rPr>
                        <a:t>Admn</a:t>
                      </a:r>
                      <a:r>
                        <a:rPr lang="en-IN" sz="1400" dirty="0">
                          <a:latin typeface="Arial" pitchFamily="34" charset="0"/>
                          <a:ea typeface="Calibri"/>
                          <a:cs typeface="Arial" pitchFamily="34" charset="0"/>
                        </a:rPr>
                        <a:t>. Department</a:t>
                      </a:r>
                      <a:endParaRPr lang="en-US" sz="1400" dirty="0">
                        <a:latin typeface="Arial" pitchFamily="34" charset="0"/>
                        <a:ea typeface="Times New Roman"/>
                        <a:cs typeface="Arial" pitchFamily="34" charset="0"/>
                      </a:endParaRPr>
                    </a:p>
                  </a:txBody>
                  <a:tcPr marL="51632" marR="516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IN" sz="1400" dirty="0">
                          <a:latin typeface="Arial" pitchFamily="34" charset="0"/>
                          <a:ea typeface="Calibri"/>
                          <a:cs typeface="Arial" pitchFamily="34" charset="0"/>
                        </a:rPr>
                        <a:t>&gt; 100 &amp; </a:t>
                      </a:r>
                      <a:r>
                        <a:rPr lang="en-IN" sz="1400" dirty="0" err="1">
                          <a:latin typeface="Arial" pitchFamily="34" charset="0"/>
                          <a:ea typeface="Calibri"/>
                          <a:cs typeface="Arial" pitchFamily="34" charset="0"/>
                        </a:rPr>
                        <a:t>upto</a:t>
                      </a:r>
                      <a:r>
                        <a:rPr lang="en-IN" sz="1400" dirty="0">
                          <a:latin typeface="Arial" pitchFamily="34" charset="0"/>
                          <a:ea typeface="Calibri"/>
                          <a:cs typeface="Arial" pitchFamily="34" charset="0"/>
                        </a:rPr>
                        <a:t> 500</a:t>
                      </a:r>
                      <a:endParaRPr lang="en-US" sz="1400" dirty="0">
                        <a:latin typeface="Arial" pitchFamily="34" charset="0"/>
                        <a:ea typeface="Times New Roman"/>
                        <a:cs typeface="Arial" pitchFamily="34" charset="0"/>
                      </a:endParaRPr>
                    </a:p>
                  </a:txBody>
                  <a:tcPr marL="51632" marR="516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IN" sz="1400">
                          <a:latin typeface="Arial" pitchFamily="34" charset="0"/>
                          <a:ea typeface="Calibri"/>
                          <a:cs typeface="Arial" pitchFamily="34" charset="0"/>
                        </a:rPr>
                        <a:t>Minister- in-charge of the Administrative Department</a:t>
                      </a:r>
                      <a:endParaRPr lang="en-US" sz="1400">
                        <a:latin typeface="Arial" pitchFamily="34" charset="0"/>
                        <a:ea typeface="Times New Roman"/>
                        <a:cs typeface="Arial" pitchFamily="34" charset="0"/>
                      </a:endParaRPr>
                    </a:p>
                  </a:txBody>
                  <a:tcPr marL="51632" marR="516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r h="1864006">
                <a:tc rowSpan="2">
                  <a:txBody>
                    <a:bodyPr/>
                    <a:lstStyle/>
                    <a:p>
                      <a:pPr marL="0" marR="0" algn="ctr">
                        <a:lnSpc>
                          <a:spcPct val="115000"/>
                        </a:lnSpc>
                        <a:spcBef>
                          <a:spcPts val="0"/>
                        </a:spcBef>
                        <a:spcAft>
                          <a:spcPts val="0"/>
                        </a:spcAft>
                      </a:pPr>
                      <a:endParaRPr lang="en-IN" sz="1400" dirty="0">
                        <a:latin typeface="Arial" pitchFamily="34" charset="0"/>
                        <a:ea typeface="Calibri"/>
                        <a:cs typeface="Arial" pitchFamily="34" charset="0"/>
                      </a:endParaRPr>
                    </a:p>
                    <a:p>
                      <a:pPr marL="0" marR="0" algn="ctr">
                        <a:lnSpc>
                          <a:spcPct val="115000"/>
                        </a:lnSpc>
                        <a:spcBef>
                          <a:spcPts val="0"/>
                        </a:spcBef>
                        <a:spcAft>
                          <a:spcPts val="0"/>
                        </a:spcAft>
                      </a:pPr>
                      <a:r>
                        <a:rPr lang="en-IN" sz="1400" dirty="0">
                          <a:latin typeface="Arial" pitchFamily="34" charset="0"/>
                          <a:ea typeface="Calibri"/>
                          <a:cs typeface="Arial" pitchFamily="34" charset="0"/>
                        </a:rPr>
                        <a:t>&gt; 500</a:t>
                      </a:r>
                      <a:endParaRPr lang="en-US" sz="1400" dirty="0">
                        <a:latin typeface="Arial" pitchFamily="34" charset="0"/>
                        <a:ea typeface="Times New Roman"/>
                        <a:cs typeface="Arial" pitchFamily="34" charset="0"/>
                      </a:endParaRPr>
                    </a:p>
                  </a:txBody>
                  <a:tcPr marL="51632" marR="516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gn="just">
                        <a:lnSpc>
                          <a:spcPct val="115000"/>
                        </a:lnSpc>
                        <a:spcBef>
                          <a:spcPts val="0"/>
                        </a:spcBef>
                        <a:spcAft>
                          <a:spcPts val="0"/>
                        </a:spcAft>
                      </a:pPr>
                      <a:endParaRPr lang="en-IN" sz="1400" dirty="0">
                        <a:latin typeface="Arial" pitchFamily="34" charset="0"/>
                        <a:ea typeface="Calibri"/>
                        <a:cs typeface="Arial" pitchFamily="34" charset="0"/>
                      </a:endParaRPr>
                    </a:p>
                    <a:p>
                      <a:pPr marL="0" marR="0" algn="just">
                        <a:lnSpc>
                          <a:spcPct val="115000"/>
                        </a:lnSpc>
                        <a:spcBef>
                          <a:spcPts val="0"/>
                        </a:spcBef>
                        <a:spcAft>
                          <a:spcPts val="0"/>
                        </a:spcAft>
                      </a:pPr>
                      <a:r>
                        <a:rPr lang="en-IN" sz="1400" dirty="0">
                          <a:latin typeface="Arial" pitchFamily="34" charset="0"/>
                          <a:ea typeface="Calibri"/>
                          <a:cs typeface="Arial" pitchFamily="34" charset="0"/>
                        </a:rPr>
                        <a:t>EFC/PIB Chaired by the Expenditure Secretary, except departments/schemes/projects for which special dispensation has been notified by the Competent Authority </a:t>
                      </a:r>
                      <a:endParaRPr lang="en-US" sz="1400" dirty="0">
                        <a:latin typeface="Arial" pitchFamily="34" charset="0"/>
                        <a:ea typeface="Times New Roman"/>
                        <a:cs typeface="Arial" pitchFamily="34" charset="0"/>
                      </a:endParaRPr>
                    </a:p>
                  </a:txBody>
                  <a:tcPr marL="51632" marR="516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IN" sz="1400" dirty="0">
                          <a:latin typeface="Arial" pitchFamily="34" charset="0"/>
                          <a:ea typeface="Calibri"/>
                          <a:cs typeface="Arial" pitchFamily="34" charset="0"/>
                        </a:rPr>
                        <a:t>&gt; 500 &amp; </a:t>
                      </a:r>
                      <a:r>
                        <a:rPr lang="en-IN" sz="1400" dirty="0" err="1">
                          <a:latin typeface="Arial" pitchFamily="34" charset="0"/>
                          <a:ea typeface="Calibri"/>
                          <a:cs typeface="Arial" pitchFamily="34" charset="0"/>
                        </a:rPr>
                        <a:t>upto</a:t>
                      </a:r>
                      <a:r>
                        <a:rPr lang="en-IN" sz="1400" dirty="0">
                          <a:latin typeface="Arial" pitchFamily="34" charset="0"/>
                          <a:ea typeface="Calibri"/>
                          <a:cs typeface="Arial" pitchFamily="34" charset="0"/>
                        </a:rPr>
                        <a:t> 1000</a:t>
                      </a:r>
                      <a:endParaRPr lang="en-US" sz="1400" dirty="0">
                        <a:latin typeface="Arial" pitchFamily="34" charset="0"/>
                        <a:ea typeface="Times New Roman"/>
                        <a:cs typeface="Arial" pitchFamily="34" charset="0"/>
                      </a:endParaRPr>
                    </a:p>
                  </a:txBody>
                  <a:tcPr marL="51632" marR="516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IN" sz="1400" dirty="0">
                          <a:latin typeface="Arial" pitchFamily="34" charset="0"/>
                          <a:ea typeface="Calibri"/>
                          <a:cs typeface="Arial" pitchFamily="34" charset="0"/>
                        </a:rPr>
                        <a:t>Minister-in-charge of the </a:t>
                      </a:r>
                      <a:r>
                        <a:rPr lang="en-IN" sz="1400" dirty="0" err="1">
                          <a:latin typeface="Arial" pitchFamily="34" charset="0"/>
                          <a:ea typeface="Calibri"/>
                          <a:cs typeface="Arial" pitchFamily="34" charset="0"/>
                        </a:rPr>
                        <a:t>Admn</a:t>
                      </a:r>
                      <a:r>
                        <a:rPr lang="en-IN" sz="1400" dirty="0">
                          <a:latin typeface="Arial" pitchFamily="34" charset="0"/>
                          <a:ea typeface="Calibri"/>
                          <a:cs typeface="Arial" pitchFamily="34" charset="0"/>
                        </a:rPr>
                        <a:t>. Dept. And Finance Minister, except where special powers have been delegated by the Finance Ministry.</a:t>
                      </a:r>
                      <a:endParaRPr lang="en-US" sz="1400" dirty="0">
                        <a:latin typeface="Arial" pitchFamily="34" charset="0"/>
                        <a:ea typeface="Times New Roman"/>
                        <a:cs typeface="Arial" pitchFamily="34" charset="0"/>
                      </a:endParaRPr>
                    </a:p>
                  </a:txBody>
                  <a:tcPr marL="51632" marR="516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4"/>
                  </a:ext>
                </a:extLst>
              </a:tr>
              <a:tr h="1055310">
                <a:tc vMerge="1">
                  <a:txBody>
                    <a:bodyPr/>
                    <a:lstStyle/>
                    <a:p>
                      <a:endParaRPr lang="en-US"/>
                    </a:p>
                  </a:txBody>
                  <a:tcPr/>
                </a:tc>
                <a:tc vMerge="1">
                  <a:txBody>
                    <a:bodyPr/>
                    <a:lstStyle/>
                    <a:p>
                      <a:endParaRPr lang="en-US"/>
                    </a:p>
                  </a:txBody>
                  <a:tcPr/>
                </a:tc>
                <a:tc>
                  <a:txBody>
                    <a:bodyPr/>
                    <a:lstStyle/>
                    <a:p>
                      <a:pPr marL="0" marR="0" algn="ctr">
                        <a:lnSpc>
                          <a:spcPct val="115000"/>
                        </a:lnSpc>
                        <a:spcBef>
                          <a:spcPts val="0"/>
                        </a:spcBef>
                        <a:spcAft>
                          <a:spcPts val="0"/>
                        </a:spcAft>
                      </a:pPr>
                      <a:r>
                        <a:rPr lang="en-IN" sz="1400" dirty="0">
                          <a:latin typeface="Arial" pitchFamily="34" charset="0"/>
                          <a:ea typeface="Calibri"/>
                          <a:cs typeface="Arial" pitchFamily="34" charset="0"/>
                        </a:rPr>
                        <a:t>&gt; 1000</a:t>
                      </a:r>
                      <a:endParaRPr lang="en-US" sz="1400" dirty="0">
                        <a:latin typeface="Arial" pitchFamily="34" charset="0"/>
                        <a:ea typeface="Times New Roman"/>
                        <a:cs typeface="Arial" pitchFamily="34" charset="0"/>
                      </a:endParaRPr>
                    </a:p>
                  </a:txBody>
                  <a:tcPr marL="51632" marR="516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IN" sz="1400" dirty="0">
                          <a:latin typeface="Arial" pitchFamily="34" charset="0"/>
                          <a:ea typeface="Calibri"/>
                          <a:cs typeface="Arial" pitchFamily="34" charset="0"/>
                        </a:rPr>
                        <a:t>Cabinet/Committee of the Cabinet concerned with the subject.</a:t>
                      </a:r>
                      <a:endParaRPr lang="en-US" sz="1400" dirty="0">
                        <a:latin typeface="Arial" pitchFamily="34" charset="0"/>
                        <a:ea typeface="Times New Roman"/>
                        <a:cs typeface="Arial" pitchFamily="34" charset="0"/>
                      </a:endParaRPr>
                    </a:p>
                  </a:txBody>
                  <a:tcPr marL="51632" marR="5163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5"/>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762000"/>
          </a:xfrm>
        </p:spPr>
        <p:txBody>
          <a:bodyPr>
            <a:normAutofit fontScale="90000"/>
          </a:bodyPr>
          <a:lstStyle/>
          <a:p>
            <a:r>
              <a:rPr lang="en-US" sz="2200" dirty="0">
                <a:latin typeface="Arial" pitchFamily="34" charset="0"/>
                <a:cs typeface="Arial" pitchFamily="34" charset="0"/>
              </a:rPr>
              <a:t/>
            </a:r>
            <a:br>
              <a:rPr lang="en-US" sz="2200" dirty="0">
                <a:latin typeface="Arial" pitchFamily="34" charset="0"/>
                <a:cs typeface="Arial" pitchFamily="34" charset="0"/>
              </a:rPr>
            </a:br>
            <a:r>
              <a:rPr lang="en-US" sz="2000" b="1" dirty="0"/>
              <a:t> </a:t>
            </a:r>
            <a:r>
              <a:rPr lang="en-US" sz="2000" b="1" dirty="0">
                <a:latin typeface="Arial" pitchFamily="34" charset="0"/>
                <a:cs typeface="Arial" pitchFamily="34" charset="0"/>
              </a:rPr>
              <a:t> </a:t>
            </a:r>
            <a:r>
              <a:rPr lang="en-US" sz="3100" b="1" dirty="0">
                <a:solidFill>
                  <a:schemeClr val="accent3">
                    <a:lumMod val="75000"/>
                  </a:schemeClr>
                </a:solidFill>
                <a:latin typeface="Arial" pitchFamily="34" charset="0"/>
                <a:cs typeface="Arial" pitchFamily="34" charset="0"/>
              </a:rPr>
              <a:t>Common deficiencies in proposals</a:t>
            </a:r>
            <a:endParaRPr lang="en-US" sz="3100" dirty="0">
              <a:solidFill>
                <a:schemeClr val="accent3">
                  <a:lumMod val="75000"/>
                </a:schemeClr>
              </a:solidFill>
            </a:endParaRPr>
          </a:p>
        </p:txBody>
      </p:sp>
      <p:sp>
        <p:nvSpPr>
          <p:cNvPr id="56321" name="Rectangle 1"/>
          <p:cNvSpPr>
            <a:spLocks noChangeArrowheads="1"/>
          </p:cNvSpPr>
          <p:nvPr/>
        </p:nvSpPr>
        <p:spPr bwMode="auto">
          <a:xfrm>
            <a:off x="609600" y="914400"/>
            <a:ext cx="8077200" cy="563231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573088" marR="0" lvl="0" indent="-519113" algn="just" defTabSz="914400" rtl="0" eaLnBrk="1" fontAlgn="base" latinLnBrk="0" hangingPunct="1">
              <a:lnSpc>
                <a:spcPct val="100000"/>
              </a:lnSpc>
              <a:spcBef>
                <a:spcPct val="0"/>
              </a:spcBef>
              <a:spcAft>
                <a:spcPct val="0"/>
              </a:spcAft>
              <a:buClrTx/>
              <a:buSzTx/>
              <a:buFont typeface="Arial" pitchFamily="34" charset="0"/>
              <a:buChar char="•"/>
              <a:tabLst/>
            </a:pPr>
            <a:r>
              <a:rPr kumimoji="0" lang="en-US" b="0" i="0" u="none" strike="noStrike" cap="none" normalizeH="0" baseline="0" dirty="0">
                <a:ln>
                  <a:noFill/>
                </a:ln>
                <a:solidFill>
                  <a:schemeClr val="tx1"/>
                </a:solidFill>
                <a:effectLst/>
                <a:latin typeface="Arial" pitchFamily="34" charset="0"/>
                <a:ea typeface="Times New Roman" pitchFamily="18" charset="0"/>
                <a:cs typeface="Arial" pitchFamily="34" charset="0"/>
              </a:rPr>
              <a:t>Incomplete Proposals without the checklist</a:t>
            </a:r>
            <a:r>
              <a:rPr kumimoji="0" lang="en-US" b="0" i="0" u="none" strike="noStrike" cap="none" normalizeH="0" dirty="0">
                <a:ln>
                  <a:noFill/>
                </a:ln>
                <a:solidFill>
                  <a:schemeClr val="tx1"/>
                </a:solidFill>
                <a:effectLst/>
                <a:latin typeface="Arial" pitchFamily="34" charset="0"/>
                <a:ea typeface="Times New Roman" pitchFamily="18" charset="0"/>
                <a:cs typeface="Arial" pitchFamily="34" charset="0"/>
              </a:rPr>
              <a:t> as</a:t>
            </a:r>
            <a:r>
              <a:rPr kumimoji="0" lang="en-US" b="0" i="0" u="none" strike="noStrike" cap="none" normalizeH="0" baseline="0" dirty="0">
                <a:ln>
                  <a:noFill/>
                </a:ln>
                <a:solidFill>
                  <a:schemeClr val="tx1"/>
                </a:solidFill>
                <a:effectLst/>
                <a:latin typeface="Arial" pitchFamily="34" charset="0"/>
                <a:ea typeface="Times New Roman" pitchFamily="18" charset="0"/>
                <a:cs typeface="Arial" pitchFamily="34" charset="0"/>
              </a:rPr>
              <a:t> prescribed by IFU/Ministry.</a:t>
            </a:r>
          </a:p>
          <a:p>
            <a:pPr marL="573088" marR="0" lvl="0" indent="-519113" algn="just" defTabSz="914400" rtl="0" eaLnBrk="1" fontAlgn="base" latinLnBrk="0" hangingPunct="1">
              <a:lnSpc>
                <a:spcPct val="100000"/>
              </a:lnSpc>
              <a:spcBef>
                <a:spcPct val="0"/>
              </a:spcBef>
              <a:spcAft>
                <a:spcPct val="0"/>
              </a:spcAft>
              <a:buClrTx/>
              <a:buSzTx/>
              <a:buFont typeface="Arial" pitchFamily="34" charset="0"/>
              <a:buChar char="•"/>
              <a:tabLst/>
            </a:pPr>
            <a:endParaRPr lang="en-US" dirty="0">
              <a:latin typeface="Arial" pitchFamily="34" charset="0"/>
              <a:ea typeface="Times New Roman" pitchFamily="18" charset="0"/>
              <a:cs typeface="Arial" pitchFamily="34" charset="0"/>
            </a:endParaRPr>
          </a:p>
          <a:p>
            <a:pPr marL="573088" marR="0" lvl="0" indent="-519113" algn="just" defTabSz="914400" rtl="0" eaLnBrk="1" fontAlgn="base" latinLnBrk="0" hangingPunct="1">
              <a:lnSpc>
                <a:spcPct val="100000"/>
              </a:lnSpc>
              <a:spcBef>
                <a:spcPct val="0"/>
              </a:spcBef>
              <a:spcAft>
                <a:spcPct val="0"/>
              </a:spcAft>
              <a:buClrTx/>
              <a:buSzTx/>
              <a:buFont typeface="Arial" pitchFamily="34" charset="0"/>
              <a:buChar char="•"/>
              <a:tabLst/>
            </a:pPr>
            <a:r>
              <a:rPr kumimoji="0" lang="en-US" b="0" i="0" u="none" strike="noStrike" cap="none" normalizeH="0" baseline="0" dirty="0">
                <a:ln>
                  <a:noFill/>
                </a:ln>
                <a:solidFill>
                  <a:schemeClr val="tx1"/>
                </a:solidFill>
                <a:effectLst/>
                <a:latin typeface="Arial" pitchFamily="34" charset="0"/>
                <a:ea typeface="Times New Roman" pitchFamily="18" charset="0"/>
                <a:cs typeface="Arial" pitchFamily="34" charset="0"/>
              </a:rPr>
              <a:t>The proposed area of construction is not in conformity with the prescribed norms.</a:t>
            </a:r>
          </a:p>
          <a:p>
            <a:pPr marL="573088" marR="0" lvl="0" indent="-519113" algn="just" defTabSz="914400" rtl="0" eaLnBrk="1" fontAlgn="base" latinLnBrk="0" hangingPunct="1">
              <a:lnSpc>
                <a:spcPct val="100000"/>
              </a:lnSpc>
              <a:spcBef>
                <a:spcPct val="0"/>
              </a:spcBef>
              <a:spcAft>
                <a:spcPct val="0"/>
              </a:spcAft>
              <a:buClrTx/>
              <a:buSzTx/>
              <a:tabLst/>
            </a:pPr>
            <a:endParaRPr kumimoji="0" lang="en-US" b="0" i="0" u="none" strike="noStrike" cap="none" normalizeH="0" baseline="0" dirty="0">
              <a:ln>
                <a:noFill/>
              </a:ln>
              <a:solidFill>
                <a:schemeClr val="tx1"/>
              </a:solidFill>
              <a:effectLst/>
              <a:latin typeface="Arial" pitchFamily="34" charset="0"/>
              <a:ea typeface="Times New Roman" pitchFamily="18" charset="0"/>
              <a:cs typeface="Arial" pitchFamily="34" charset="0"/>
            </a:endParaRPr>
          </a:p>
          <a:p>
            <a:pPr marL="573088" marR="0" lvl="0" indent="-519113"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US" b="0" i="0" u="none" strike="noStrike" cap="none" normalizeH="0" baseline="0" dirty="0">
                <a:ln>
                  <a:noFill/>
                </a:ln>
                <a:solidFill>
                  <a:schemeClr val="tx1"/>
                </a:solidFill>
                <a:effectLst/>
                <a:latin typeface="Arial" pitchFamily="34" charset="0"/>
                <a:ea typeface="Times New Roman" pitchFamily="18" charset="0"/>
                <a:cs typeface="Arial" pitchFamily="34" charset="0"/>
              </a:rPr>
              <a:t>Availability of sufficient funds in the budget for the proposed expenditure </a:t>
            </a:r>
          </a:p>
          <a:p>
            <a:pPr marL="573088" marR="0" lvl="0" indent="-519113" algn="just" defTabSz="914400" rtl="0" eaLnBrk="0" fontAlgn="base" latinLnBrk="0" hangingPunct="0">
              <a:lnSpc>
                <a:spcPct val="100000"/>
              </a:lnSpc>
              <a:spcBef>
                <a:spcPct val="0"/>
              </a:spcBef>
              <a:spcAft>
                <a:spcPct val="0"/>
              </a:spcAft>
              <a:buClrTx/>
              <a:buSzTx/>
              <a:tabLst/>
            </a:pPr>
            <a:r>
              <a:rPr lang="en-US" dirty="0">
                <a:latin typeface="Arial" pitchFamily="34" charset="0"/>
                <a:ea typeface="Times New Roman" pitchFamily="18" charset="0"/>
                <a:cs typeface="Arial" pitchFamily="34" charset="0"/>
              </a:rPr>
              <a:t>        </a:t>
            </a:r>
            <a:r>
              <a:rPr kumimoji="0" lang="en-US" b="0" i="0" u="none" strike="noStrike" cap="none" normalizeH="0" baseline="0" dirty="0">
                <a:ln>
                  <a:noFill/>
                </a:ln>
                <a:solidFill>
                  <a:schemeClr val="tx1"/>
                </a:solidFill>
                <a:effectLst/>
                <a:latin typeface="Arial" pitchFamily="34" charset="0"/>
                <a:ea typeface="Times New Roman" pitchFamily="18" charset="0"/>
                <a:cs typeface="Arial" pitchFamily="34" charset="0"/>
              </a:rPr>
              <a:t>on construction not informed.	</a:t>
            </a:r>
          </a:p>
          <a:p>
            <a:pPr marL="573088" marR="0" lvl="0" indent="-519113" algn="just" defTabSz="914400" rtl="0" eaLnBrk="0" fontAlgn="base" latinLnBrk="0" hangingPunct="0">
              <a:lnSpc>
                <a:spcPct val="100000"/>
              </a:lnSpc>
              <a:spcBef>
                <a:spcPct val="0"/>
              </a:spcBef>
              <a:spcAft>
                <a:spcPct val="0"/>
              </a:spcAft>
              <a:buClrTx/>
              <a:buSzTx/>
              <a:tabLst/>
            </a:pPr>
            <a:endParaRPr kumimoji="0" lang="en-US" b="0" i="0" u="none" strike="noStrike" cap="none" normalizeH="0" baseline="0" dirty="0">
              <a:ln>
                <a:noFill/>
              </a:ln>
              <a:solidFill>
                <a:schemeClr val="tx1"/>
              </a:solidFill>
              <a:effectLst/>
              <a:latin typeface="Arial" pitchFamily="34" charset="0"/>
              <a:cs typeface="Arial" pitchFamily="34" charset="0"/>
            </a:endParaRPr>
          </a:p>
          <a:p>
            <a:pPr marL="573088" marR="0" lvl="0" indent="-519113"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US" b="0" i="0" u="none" strike="noStrike" cap="none" normalizeH="0" baseline="0" dirty="0">
                <a:ln>
                  <a:noFill/>
                </a:ln>
                <a:solidFill>
                  <a:schemeClr val="tx1"/>
                </a:solidFill>
                <a:effectLst/>
                <a:latin typeface="Arial" pitchFamily="34" charset="0"/>
                <a:ea typeface="Times New Roman" pitchFamily="18" charset="0"/>
                <a:cs typeface="Arial" pitchFamily="34" charset="0"/>
              </a:rPr>
              <a:t>Copy of Ministry’s Sanction letter is not enclosed.</a:t>
            </a:r>
          </a:p>
          <a:p>
            <a:pPr marL="573088" marR="0" lvl="0" indent="-519113" algn="just" defTabSz="914400" rtl="0" eaLnBrk="0" fontAlgn="base" latinLnBrk="0" hangingPunct="0">
              <a:lnSpc>
                <a:spcPct val="100000"/>
              </a:lnSpc>
              <a:spcBef>
                <a:spcPct val="0"/>
              </a:spcBef>
              <a:spcAft>
                <a:spcPct val="0"/>
              </a:spcAft>
              <a:buClrTx/>
              <a:buSzTx/>
              <a:tabLst/>
            </a:pPr>
            <a:endParaRPr kumimoji="0" lang="en-US" b="0" i="0" u="none" strike="noStrike" cap="none" normalizeH="0" baseline="0" dirty="0">
              <a:ln>
                <a:noFill/>
              </a:ln>
              <a:solidFill>
                <a:schemeClr val="tx1"/>
              </a:solidFill>
              <a:effectLst/>
              <a:latin typeface="Arial" pitchFamily="34" charset="0"/>
              <a:ea typeface="Times New Roman" pitchFamily="18" charset="0"/>
              <a:cs typeface="Arial" pitchFamily="34" charset="0"/>
            </a:endParaRPr>
          </a:p>
          <a:p>
            <a:pPr marL="573088" lvl="0" indent="-519113" algn="just" eaLnBrk="0" fontAlgn="base" hangingPunct="0">
              <a:spcBef>
                <a:spcPct val="0"/>
              </a:spcBef>
              <a:spcAft>
                <a:spcPct val="0"/>
              </a:spcAft>
              <a:buFont typeface="Arial" pitchFamily="34" charset="0"/>
              <a:buChar char="•"/>
            </a:pPr>
            <a:r>
              <a:rPr lang="en-US" dirty="0">
                <a:latin typeface="Arial" pitchFamily="34" charset="0"/>
                <a:ea typeface="Times New Roman" pitchFamily="18" charset="0"/>
                <a:cs typeface="Arial" pitchFamily="34" charset="0"/>
              </a:rPr>
              <a:t>Where there is a time gap between taking possession of the land and initiating the proposal for construction, then a full justification for such a delay has to be furnished.</a:t>
            </a:r>
          </a:p>
          <a:p>
            <a:pPr marL="573088" lvl="0" indent="-519113" algn="just" eaLnBrk="0" fontAlgn="base" hangingPunct="0">
              <a:spcBef>
                <a:spcPct val="0"/>
              </a:spcBef>
              <a:spcAft>
                <a:spcPct val="0"/>
              </a:spcAft>
            </a:pPr>
            <a:endParaRPr lang="en-US" dirty="0">
              <a:latin typeface="Arial" pitchFamily="34" charset="0"/>
              <a:ea typeface="Times New Roman" pitchFamily="18" charset="0"/>
              <a:cs typeface="Arial" pitchFamily="34" charset="0"/>
            </a:endParaRPr>
          </a:p>
          <a:p>
            <a:pPr marL="573088" indent="-519113" algn="just" eaLnBrk="0" fontAlgn="base" hangingPunct="0">
              <a:spcBef>
                <a:spcPct val="0"/>
              </a:spcBef>
              <a:spcAft>
                <a:spcPct val="0"/>
              </a:spcAft>
              <a:buFont typeface="Arial" pitchFamily="34" charset="0"/>
              <a:buChar char="•"/>
            </a:pPr>
            <a:r>
              <a:rPr lang="en-US" dirty="0">
                <a:latin typeface="Arial" pitchFamily="34" charset="0"/>
                <a:ea typeface="Times New Roman" pitchFamily="18" charset="0"/>
                <a:cs typeface="Arial" pitchFamily="34" charset="0"/>
              </a:rPr>
              <a:t>The correct Budget Head under which the expenditure has to be debited is not mentioned/or is incorrectly mentioned.</a:t>
            </a:r>
          </a:p>
          <a:p>
            <a:pPr marL="573088" indent="-519113" algn="just" eaLnBrk="0" fontAlgn="base" hangingPunct="0">
              <a:spcBef>
                <a:spcPct val="0"/>
              </a:spcBef>
              <a:spcAft>
                <a:spcPct val="0"/>
              </a:spcAft>
            </a:pPr>
            <a:endParaRPr lang="en-US" dirty="0">
              <a:latin typeface="Arial" pitchFamily="34" charset="0"/>
              <a:ea typeface="Times New Roman" pitchFamily="18" charset="0"/>
              <a:cs typeface="Arial" pitchFamily="34" charset="0"/>
            </a:endParaRPr>
          </a:p>
          <a:p>
            <a:pPr marL="573088" indent="-519113" algn="just" eaLnBrk="0" fontAlgn="base" hangingPunct="0">
              <a:spcBef>
                <a:spcPct val="0"/>
              </a:spcBef>
              <a:spcAft>
                <a:spcPct val="0"/>
              </a:spcAft>
              <a:buFont typeface="Arial" pitchFamily="34" charset="0"/>
              <a:buChar char="•"/>
            </a:pPr>
            <a:r>
              <a:rPr lang="en-US" dirty="0">
                <a:latin typeface="Arial" pitchFamily="34" charset="0"/>
                <a:ea typeface="Times New Roman" pitchFamily="18" charset="0"/>
                <a:cs typeface="Arial" pitchFamily="34" charset="0"/>
              </a:rPr>
              <a:t>The requirement of space is not worked out as per the applicable norms.</a:t>
            </a:r>
            <a:endParaRPr kumimoji="0" lang="en-US" b="0" i="0" u="none" strike="noStrike" cap="none" normalizeH="0" baseline="0" dirty="0">
              <a:ln>
                <a:noFill/>
              </a:ln>
              <a:solidFill>
                <a:schemeClr val="tx1"/>
              </a:solidFill>
              <a:effectLst/>
              <a:latin typeface="Arial" pitchFamily="34" charset="0"/>
              <a:cs typeface="Arial"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ormAutofit/>
          </a:bodyPr>
          <a:lstStyle/>
          <a:p>
            <a:r>
              <a:rPr lang="en-US" b="1" dirty="0"/>
              <a:t>	</a:t>
            </a:r>
            <a:r>
              <a:rPr lang="en-US" sz="2700" b="1" dirty="0">
                <a:solidFill>
                  <a:schemeClr val="accent3">
                    <a:lumMod val="75000"/>
                  </a:schemeClr>
                </a:solidFill>
                <a:latin typeface="Arial" pitchFamily="34" charset="0"/>
                <a:cs typeface="Arial" pitchFamily="34" charset="0"/>
              </a:rPr>
              <a:t>COMMON OBSERVATIONS RAISED BY IFU</a:t>
            </a:r>
            <a:r>
              <a:rPr lang="en-US" sz="2200" dirty="0">
                <a:solidFill>
                  <a:schemeClr val="accent3">
                    <a:lumMod val="75000"/>
                  </a:schemeClr>
                </a:solidFill>
                <a:latin typeface="Arial" pitchFamily="34" charset="0"/>
                <a:cs typeface="Arial" pitchFamily="34" charset="0"/>
              </a:rPr>
              <a:t/>
            </a:r>
            <a:br>
              <a:rPr lang="en-US" sz="2200" dirty="0">
                <a:solidFill>
                  <a:schemeClr val="accent3">
                    <a:lumMod val="75000"/>
                  </a:schemeClr>
                </a:solidFill>
                <a:latin typeface="Arial" pitchFamily="34" charset="0"/>
                <a:cs typeface="Arial" pitchFamily="34" charset="0"/>
              </a:rPr>
            </a:br>
            <a:endParaRPr lang="en-US" sz="2200" dirty="0">
              <a:solidFill>
                <a:schemeClr val="accent3">
                  <a:lumMod val="75000"/>
                </a:schemeClr>
              </a:solidFill>
              <a:latin typeface="Arial" pitchFamily="34" charset="0"/>
              <a:cs typeface="Arial" pitchFamily="34" charset="0"/>
            </a:endParaRPr>
          </a:p>
        </p:txBody>
      </p:sp>
      <p:sp>
        <p:nvSpPr>
          <p:cNvPr id="58369" name="Rectangle 1"/>
          <p:cNvSpPr>
            <a:spLocks noChangeArrowheads="1"/>
          </p:cNvSpPr>
          <p:nvPr/>
        </p:nvSpPr>
        <p:spPr bwMode="auto">
          <a:xfrm>
            <a:off x="228600" y="1600200"/>
            <a:ext cx="8610600" cy="397031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577850" marR="0" lvl="0" indent="-465138" algn="just"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a:ln>
                  <a:noFill/>
                </a:ln>
                <a:solidFill>
                  <a:schemeClr val="tx1"/>
                </a:solidFill>
                <a:effectLst/>
                <a:latin typeface="Arial" pitchFamily="34" charset="0"/>
                <a:ea typeface="Calibri" pitchFamily="34" charset="0"/>
                <a:cs typeface="Arial" pitchFamily="34" charset="0"/>
              </a:rPr>
              <a:t>Whether the budget is available and how is the expenditure on construction proposed to be met.</a:t>
            </a:r>
          </a:p>
          <a:p>
            <a:pPr marL="577850" marR="0" lvl="0" indent="-465138" algn="just" defTabSz="914400" rtl="0" eaLnBrk="0" fontAlgn="base" latinLnBrk="0" hangingPunct="0">
              <a:lnSpc>
                <a:spcPct val="100000"/>
              </a:lnSpc>
              <a:spcBef>
                <a:spcPct val="0"/>
              </a:spcBef>
              <a:spcAft>
                <a:spcPct val="0"/>
              </a:spcAft>
              <a:buClrTx/>
              <a:buSzTx/>
              <a:tabLst/>
            </a:pPr>
            <a:endParaRPr kumimoji="0" lang="en-US" b="0" i="0" u="none" strike="noStrike" cap="none" normalizeH="0" baseline="0" dirty="0">
              <a:ln>
                <a:noFill/>
              </a:ln>
              <a:solidFill>
                <a:schemeClr val="tx1"/>
              </a:solidFill>
              <a:effectLst/>
              <a:latin typeface="Arial" pitchFamily="34" charset="0"/>
              <a:cs typeface="Arial" pitchFamily="34" charset="0"/>
            </a:endParaRPr>
          </a:p>
          <a:p>
            <a:pPr marL="577850" marR="0" lvl="0" indent="-465138" algn="just"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a:ln>
                  <a:noFill/>
                </a:ln>
                <a:solidFill>
                  <a:schemeClr val="tx1"/>
                </a:solidFill>
                <a:effectLst/>
                <a:latin typeface="Arial" pitchFamily="34" charset="0"/>
                <a:ea typeface="Calibri" pitchFamily="34" charset="0"/>
                <a:cs typeface="Arial" pitchFamily="34" charset="0"/>
              </a:rPr>
              <a:t>Cost-benefit analysis of Hire v/s Construction.</a:t>
            </a:r>
          </a:p>
          <a:p>
            <a:pPr marL="577850" marR="0" lvl="0" indent="-465138" algn="just" defTabSz="914400" rtl="0" eaLnBrk="0" fontAlgn="base" latinLnBrk="0" hangingPunct="0">
              <a:lnSpc>
                <a:spcPct val="100000"/>
              </a:lnSpc>
              <a:spcBef>
                <a:spcPct val="0"/>
              </a:spcBef>
              <a:spcAft>
                <a:spcPct val="0"/>
              </a:spcAft>
              <a:buClrTx/>
              <a:buSzTx/>
              <a:tabLst/>
            </a:pPr>
            <a:endParaRPr kumimoji="0" lang="en-US" b="0" i="0" u="none" strike="noStrike" cap="none" normalizeH="0" baseline="0" dirty="0">
              <a:ln>
                <a:noFill/>
              </a:ln>
              <a:solidFill>
                <a:schemeClr val="tx1"/>
              </a:solidFill>
              <a:effectLst/>
              <a:latin typeface="Arial" pitchFamily="34" charset="0"/>
              <a:cs typeface="Arial" pitchFamily="34" charset="0"/>
            </a:endParaRPr>
          </a:p>
          <a:p>
            <a:pPr marL="577850" marR="0" lvl="0" indent="-465138" algn="just"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a:ln>
                  <a:noFill/>
                </a:ln>
                <a:solidFill>
                  <a:schemeClr val="tx1"/>
                </a:solidFill>
                <a:effectLst/>
                <a:latin typeface="Arial" pitchFamily="34" charset="0"/>
                <a:ea typeface="Calibri" pitchFamily="34" charset="0"/>
                <a:cs typeface="Arial" pitchFamily="34" charset="0"/>
              </a:rPr>
              <a:t>Reasons for delay in initiating the proposal.</a:t>
            </a:r>
          </a:p>
          <a:p>
            <a:pPr marL="577850" marR="0" lvl="0" indent="-465138" algn="just" defTabSz="914400" rtl="0" eaLnBrk="0" fontAlgn="base" latinLnBrk="0" hangingPunct="0">
              <a:lnSpc>
                <a:spcPct val="100000"/>
              </a:lnSpc>
              <a:spcBef>
                <a:spcPct val="0"/>
              </a:spcBef>
              <a:spcAft>
                <a:spcPct val="0"/>
              </a:spcAft>
              <a:buClrTx/>
              <a:buSzTx/>
              <a:tabLst/>
            </a:pPr>
            <a:endParaRPr kumimoji="0" lang="en-US" b="0" i="0" u="none" strike="noStrike" cap="none" normalizeH="0" baseline="0" dirty="0">
              <a:ln>
                <a:noFill/>
              </a:ln>
              <a:solidFill>
                <a:schemeClr val="tx1"/>
              </a:solidFill>
              <a:effectLst/>
              <a:latin typeface="Arial" pitchFamily="34" charset="0"/>
              <a:cs typeface="Arial" pitchFamily="34" charset="0"/>
            </a:endParaRPr>
          </a:p>
          <a:p>
            <a:pPr marL="577850" marR="0" lvl="0" indent="-465138" algn="just"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a:ln>
                  <a:noFill/>
                </a:ln>
                <a:solidFill>
                  <a:schemeClr val="tx1"/>
                </a:solidFill>
                <a:effectLst/>
                <a:latin typeface="Arial" pitchFamily="34" charset="0"/>
                <a:ea typeface="Calibri" pitchFamily="34" charset="0"/>
                <a:cs typeface="Arial" pitchFamily="34" charset="0"/>
              </a:rPr>
              <a:t>Is there any financial implication in demolition (in case of demolition of old/dilapidated buildings) Whether the same can be met by disposing off the materials salvaged after demolition.</a:t>
            </a:r>
          </a:p>
          <a:p>
            <a:pPr marL="577850" marR="0" lvl="0" indent="-465138" algn="just" defTabSz="914400" rtl="0" eaLnBrk="0" fontAlgn="base" latinLnBrk="0" hangingPunct="0">
              <a:lnSpc>
                <a:spcPct val="100000"/>
              </a:lnSpc>
              <a:spcBef>
                <a:spcPct val="0"/>
              </a:spcBef>
              <a:spcAft>
                <a:spcPct val="0"/>
              </a:spcAft>
              <a:buClrTx/>
              <a:buSzTx/>
              <a:buFontTx/>
              <a:buChar char="•"/>
              <a:tabLst/>
            </a:pPr>
            <a:endParaRPr kumimoji="0" lang="en-US" b="0" i="0" u="none" strike="noStrike" cap="none" normalizeH="0" baseline="0" dirty="0">
              <a:ln>
                <a:noFill/>
              </a:ln>
              <a:solidFill>
                <a:schemeClr val="tx1"/>
              </a:solidFill>
              <a:effectLst/>
              <a:latin typeface="Arial" pitchFamily="34" charset="0"/>
              <a:cs typeface="Arial" pitchFamily="34" charset="0"/>
            </a:endParaRPr>
          </a:p>
          <a:p>
            <a:pPr marL="577850" marR="0" lvl="0" indent="-465138" algn="just"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a:ln>
                  <a:noFill/>
                </a:ln>
                <a:solidFill>
                  <a:schemeClr val="tx1"/>
                </a:solidFill>
                <a:effectLst/>
                <a:latin typeface="Arial" pitchFamily="34" charset="0"/>
                <a:ea typeface="Calibri" pitchFamily="34" charset="0"/>
                <a:cs typeface="Arial" pitchFamily="34" charset="0"/>
              </a:rPr>
              <a:t> </a:t>
            </a:r>
            <a:r>
              <a:rPr kumimoji="0" lang="en-US" b="1" i="0" u="none" strike="noStrike" cap="none" normalizeH="0" baseline="0" dirty="0">
                <a:ln>
                  <a:noFill/>
                </a:ln>
                <a:solidFill>
                  <a:schemeClr val="tx1"/>
                </a:solidFill>
                <a:effectLst/>
                <a:latin typeface="Arial" pitchFamily="34" charset="0"/>
                <a:ea typeface="Calibri" pitchFamily="34" charset="0"/>
                <a:cs typeface="Arial" pitchFamily="34" charset="0"/>
              </a:rPr>
              <a:t>Whether feasibility of PPP model has been explored.</a:t>
            </a:r>
          </a:p>
          <a:p>
            <a:pPr marL="577850" marR="0" lvl="0" indent="-465138" algn="just" defTabSz="914400" rtl="0" eaLnBrk="0" fontAlgn="base" latinLnBrk="0" hangingPunct="0">
              <a:lnSpc>
                <a:spcPct val="100000"/>
              </a:lnSpc>
              <a:spcBef>
                <a:spcPct val="0"/>
              </a:spcBef>
              <a:spcAft>
                <a:spcPct val="0"/>
              </a:spcAft>
              <a:buClrTx/>
              <a:buSzTx/>
              <a:tabLst/>
            </a:pPr>
            <a:endParaRPr kumimoji="0" lang="en-US" b="1" i="0" u="none" strike="noStrike" cap="none" normalizeH="0" baseline="0" dirty="0">
              <a:ln>
                <a:noFill/>
              </a:ln>
              <a:solidFill>
                <a:schemeClr val="tx1"/>
              </a:solidFill>
              <a:effectLst/>
              <a:latin typeface="Arial" pitchFamily="34" charset="0"/>
              <a:cs typeface="Arial" pitchFamily="34" charset="0"/>
            </a:endParaRPr>
          </a:p>
          <a:p>
            <a:pPr marL="577850" marR="0" lvl="0" indent="-465138" algn="just"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a:ln>
                  <a:noFill/>
                </a:ln>
                <a:solidFill>
                  <a:schemeClr val="tx1"/>
                </a:solidFill>
                <a:effectLst/>
                <a:latin typeface="Arial" pitchFamily="34" charset="0"/>
                <a:ea typeface="Calibri" pitchFamily="34" charset="0"/>
                <a:cs typeface="Arial" pitchFamily="34" charset="0"/>
              </a:rPr>
              <a:t> Cost comparisons with similar projects in the vicinity.</a:t>
            </a:r>
            <a:endParaRPr kumimoji="0" lang="en-US" b="0" i="0" u="none" strike="noStrike" cap="none" normalizeH="0" baseline="0" dirty="0">
              <a:ln>
                <a:noFill/>
              </a:ln>
              <a:solidFill>
                <a:schemeClr val="tx1"/>
              </a:solidFill>
              <a:effectLst/>
              <a:latin typeface="Arial" pitchFamily="34" charset="0"/>
              <a:cs typeface="Arial"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1"/>
          <p:cNvSpPr>
            <a:spLocks noChangeArrowheads="1"/>
          </p:cNvSpPr>
          <p:nvPr/>
        </p:nvSpPr>
        <p:spPr bwMode="auto">
          <a:xfrm>
            <a:off x="762000" y="304800"/>
            <a:ext cx="8153400" cy="538609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lang="en-US" sz="3600" b="1" dirty="0">
                <a:solidFill>
                  <a:schemeClr val="accent1">
                    <a:lumMod val="75000"/>
                  </a:schemeClr>
                </a:solidFill>
                <a:latin typeface="Arial" pitchFamily="34" charset="0"/>
                <a:ea typeface="Times New Roman" pitchFamily="18" charset="0"/>
                <a:cs typeface="Arial" pitchFamily="34" charset="0"/>
              </a:rPr>
              <a:t>  KEY </a:t>
            </a:r>
            <a:r>
              <a:rPr kumimoji="0" lang="en-US" sz="3600" b="1" i="0" u="none" strike="noStrike" cap="none" normalizeH="0" baseline="0" dirty="0">
                <a:ln>
                  <a:noFill/>
                </a:ln>
                <a:solidFill>
                  <a:schemeClr val="accent1">
                    <a:lumMod val="75000"/>
                  </a:schemeClr>
                </a:solidFill>
                <a:effectLst/>
                <a:latin typeface="Arial" pitchFamily="34" charset="0"/>
                <a:ea typeface="Times New Roman" pitchFamily="18" charset="0"/>
                <a:cs typeface="Arial" pitchFamily="34" charset="0"/>
              </a:rPr>
              <a:t>TERMS</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3600" b="0" i="0" u="none" strike="noStrike" cap="none" normalizeH="0" baseline="0" dirty="0">
              <a:ln>
                <a:noFill/>
              </a:ln>
              <a:solidFill>
                <a:schemeClr val="tx1"/>
              </a:solidFill>
              <a:effectLst/>
              <a:latin typeface="Arial" pitchFamily="34" charset="0"/>
              <a:cs typeface="Arial" pitchFamily="34" charset="0"/>
            </a:endParaRPr>
          </a:p>
          <a:p>
            <a:pPr marL="577850" marR="0" lvl="0" indent="-354013" algn="just" defTabSz="914400" rtl="0" eaLnBrk="0" fontAlgn="base" latinLnBrk="0" hangingPunct="0">
              <a:lnSpc>
                <a:spcPct val="100000"/>
              </a:lnSpc>
              <a:spcBef>
                <a:spcPct val="0"/>
              </a:spcBef>
              <a:spcAft>
                <a:spcPct val="0"/>
              </a:spcAft>
              <a:buClrTx/>
              <a:buSzTx/>
              <a:buFontTx/>
              <a:buChar char="•"/>
              <a:tabLst/>
            </a:pPr>
            <a:r>
              <a:rPr kumimoji="0" lang="en-US" sz="3600" b="1" i="0" u="none" strike="noStrike" cap="none" normalizeH="0" baseline="0" dirty="0">
                <a:ln>
                  <a:noFill/>
                </a:ln>
                <a:solidFill>
                  <a:schemeClr val="tx1"/>
                </a:solidFill>
                <a:effectLst/>
                <a:latin typeface="Arial" pitchFamily="34" charset="0"/>
                <a:ea typeface="Calibri" pitchFamily="34" charset="0"/>
                <a:cs typeface="Arial" pitchFamily="34" charset="0"/>
              </a:rPr>
              <a:t>Carpet Area</a:t>
            </a:r>
            <a:r>
              <a:rPr kumimoji="0" lang="en-US" sz="3600" b="0" i="0" u="none" strike="noStrike" cap="none" normalizeH="0" baseline="0" dirty="0">
                <a:ln>
                  <a:noFill/>
                </a:ln>
                <a:solidFill>
                  <a:schemeClr val="tx1"/>
                </a:solidFill>
                <a:effectLst/>
                <a:latin typeface="Arial" pitchFamily="34" charset="0"/>
                <a:ea typeface="Calibri" pitchFamily="34" charset="0"/>
                <a:cs typeface="Arial" pitchFamily="34" charset="0"/>
              </a:rPr>
              <a:t> </a:t>
            </a:r>
            <a:endParaRPr kumimoji="0" lang="en-US" sz="3600" b="0" i="0" u="none" strike="noStrike" cap="none" normalizeH="0" baseline="0" dirty="0">
              <a:ln>
                <a:noFill/>
              </a:ln>
              <a:solidFill>
                <a:schemeClr val="tx1"/>
              </a:solidFill>
              <a:effectLst/>
              <a:latin typeface="Arial" pitchFamily="34" charset="0"/>
              <a:cs typeface="Arial" pitchFamily="34" charset="0"/>
            </a:endParaRPr>
          </a:p>
          <a:p>
            <a:pPr marL="577850" marR="0" lvl="0" indent="-354013" algn="just" defTabSz="914400" rtl="0" eaLnBrk="0" fontAlgn="base" latinLnBrk="0" hangingPunct="0">
              <a:lnSpc>
                <a:spcPct val="100000"/>
              </a:lnSpc>
              <a:spcBef>
                <a:spcPct val="0"/>
              </a:spcBef>
              <a:spcAft>
                <a:spcPct val="0"/>
              </a:spcAft>
              <a:buClrTx/>
              <a:buSzTx/>
              <a:buFontTx/>
              <a:buChar char="•"/>
              <a:tabLst/>
            </a:pPr>
            <a:r>
              <a:rPr kumimoji="0" lang="en-US" sz="3600" b="1" i="0" u="none" strike="noStrike" cap="none" normalizeH="0" baseline="0" dirty="0">
                <a:ln>
                  <a:noFill/>
                </a:ln>
                <a:solidFill>
                  <a:schemeClr val="tx1"/>
                </a:solidFill>
                <a:effectLst/>
                <a:latin typeface="Arial" pitchFamily="34" charset="0"/>
                <a:ea typeface="Calibri" pitchFamily="34" charset="0"/>
                <a:cs typeface="Arial" pitchFamily="34" charset="0"/>
              </a:rPr>
              <a:t>Plinth Area</a:t>
            </a:r>
            <a:endParaRPr kumimoji="0" lang="en-US" sz="3600" b="0" i="0" u="none" strike="noStrike" cap="none" normalizeH="0" baseline="0" dirty="0">
              <a:ln>
                <a:noFill/>
              </a:ln>
              <a:solidFill>
                <a:schemeClr val="tx1"/>
              </a:solidFill>
              <a:effectLst/>
              <a:latin typeface="Arial" pitchFamily="34" charset="0"/>
              <a:cs typeface="Arial" pitchFamily="34" charset="0"/>
            </a:endParaRPr>
          </a:p>
          <a:p>
            <a:pPr marL="577850" marR="0" lvl="0" indent="-354013" algn="just" defTabSz="914400" rtl="0" eaLnBrk="0" fontAlgn="base" latinLnBrk="0" hangingPunct="0">
              <a:lnSpc>
                <a:spcPct val="100000"/>
              </a:lnSpc>
              <a:spcBef>
                <a:spcPct val="0"/>
              </a:spcBef>
              <a:spcAft>
                <a:spcPct val="0"/>
              </a:spcAft>
              <a:buClrTx/>
              <a:buSzTx/>
              <a:buFontTx/>
              <a:buChar char="•"/>
              <a:tabLst/>
            </a:pPr>
            <a:r>
              <a:rPr kumimoji="0" lang="en-US" sz="3600" b="1" i="0" u="none" strike="noStrike" cap="none" normalizeH="0" baseline="0" dirty="0">
                <a:ln>
                  <a:noFill/>
                </a:ln>
                <a:solidFill>
                  <a:schemeClr val="tx1"/>
                </a:solidFill>
                <a:effectLst/>
                <a:latin typeface="Arial" pitchFamily="34" charset="0"/>
                <a:ea typeface="Calibri" pitchFamily="34" charset="0"/>
                <a:cs typeface="Arial" pitchFamily="34" charset="0"/>
              </a:rPr>
              <a:t>Super Built up Area</a:t>
            </a:r>
            <a:endParaRPr kumimoji="0" lang="en-US" sz="3600" b="0" i="0" u="none" strike="noStrike" cap="none" normalizeH="0" baseline="0" dirty="0">
              <a:ln>
                <a:noFill/>
              </a:ln>
              <a:solidFill>
                <a:schemeClr val="tx1"/>
              </a:solidFill>
              <a:effectLst/>
              <a:latin typeface="Arial" pitchFamily="34" charset="0"/>
              <a:cs typeface="Arial" pitchFamily="34" charset="0"/>
            </a:endParaRPr>
          </a:p>
          <a:p>
            <a:pPr marL="577850" marR="0" lvl="0" indent="-354013" algn="just" defTabSz="914400" rtl="0" eaLnBrk="0" fontAlgn="base" latinLnBrk="0" hangingPunct="0">
              <a:lnSpc>
                <a:spcPct val="100000"/>
              </a:lnSpc>
              <a:spcBef>
                <a:spcPct val="0"/>
              </a:spcBef>
              <a:spcAft>
                <a:spcPct val="0"/>
              </a:spcAft>
              <a:buClrTx/>
              <a:buSzTx/>
              <a:buFontTx/>
              <a:buChar char="•"/>
              <a:tabLst/>
            </a:pPr>
            <a:r>
              <a:rPr kumimoji="0" lang="en-US" sz="3600" b="1" i="0" u="none" strike="noStrike" cap="none" normalizeH="0" baseline="0" dirty="0">
                <a:ln>
                  <a:noFill/>
                </a:ln>
                <a:solidFill>
                  <a:schemeClr val="tx1"/>
                </a:solidFill>
                <a:effectLst/>
                <a:latin typeface="Arial" pitchFamily="34" charset="0"/>
                <a:ea typeface="Calibri" pitchFamily="34" charset="0"/>
                <a:cs typeface="Arial" pitchFamily="34" charset="0"/>
              </a:rPr>
              <a:t>FSI</a:t>
            </a:r>
          </a:p>
          <a:p>
            <a:pPr marL="577850" marR="0" lvl="0" indent="-354013" algn="just" defTabSz="914400" rtl="0" eaLnBrk="0" fontAlgn="base" latinLnBrk="0" hangingPunct="0">
              <a:lnSpc>
                <a:spcPct val="100000"/>
              </a:lnSpc>
              <a:spcBef>
                <a:spcPct val="0"/>
              </a:spcBef>
              <a:spcAft>
                <a:spcPct val="0"/>
              </a:spcAft>
              <a:buClrTx/>
              <a:buSzTx/>
              <a:buFontTx/>
              <a:buChar char="•"/>
              <a:tabLst/>
            </a:pPr>
            <a:r>
              <a:rPr lang="en-US" sz="3600" b="1" dirty="0">
                <a:latin typeface="Arial" pitchFamily="34" charset="0"/>
                <a:ea typeface="Calibri" pitchFamily="34" charset="0"/>
                <a:cs typeface="Arial" pitchFamily="34" charset="0"/>
              </a:rPr>
              <a:t>Ground Coverage</a:t>
            </a:r>
            <a:endParaRPr kumimoji="0" lang="en-US" sz="3600" b="1" i="0" u="none" strike="noStrike" cap="none" normalizeH="0" baseline="0" dirty="0">
              <a:ln>
                <a:noFill/>
              </a:ln>
              <a:solidFill>
                <a:schemeClr val="tx1"/>
              </a:solidFill>
              <a:effectLst/>
              <a:latin typeface="Arial" pitchFamily="34" charset="0"/>
              <a:ea typeface="Calibri" pitchFamily="34" charset="0"/>
              <a:cs typeface="Arial" pitchFamily="34" charset="0"/>
            </a:endParaRPr>
          </a:p>
          <a:p>
            <a:pPr marL="577850" marR="0" lvl="0" indent="-354013" algn="just" defTabSz="914400" rtl="0" eaLnBrk="0" fontAlgn="base" latinLnBrk="0" hangingPunct="0">
              <a:lnSpc>
                <a:spcPct val="100000"/>
              </a:lnSpc>
              <a:spcBef>
                <a:spcPct val="0"/>
              </a:spcBef>
              <a:spcAft>
                <a:spcPct val="0"/>
              </a:spcAft>
              <a:buClrTx/>
              <a:buSzTx/>
              <a:buFontTx/>
              <a:buChar char="•"/>
              <a:tabLst/>
            </a:pPr>
            <a:r>
              <a:rPr lang="en-US" sz="3600" b="1" dirty="0">
                <a:latin typeface="Arial" pitchFamily="34" charset="0"/>
                <a:cs typeface="Arial" pitchFamily="34" charset="0"/>
              </a:rPr>
              <a:t>Budget Head</a:t>
            </a:r>
          </a:p>
          <a:p>
            <a:pPr marL="577850" marR="0" lvl="0" indent="-354013" algn="just" defTabSz="914400" rtl="0" eaLnBrk="0" fontAlgn="base" latinLnBrk="0" hangingPunct="0">
              <a:lnSpc>
                <a:spcPct val="100000"/>
              </a:lnSpc>
              <a:spcBef>
                <a:spcPct val="0"/>
              </a:spcBef>
              <a:spcAft>
                <a:spcPct val="0"/>
              </a:spcAft>
              <a:buClrTx/>
              <a:buSzTx/>
              <a:buFontTx/>
              <a:buChar char="•"/>
              <a:tabLst/>
            </a:pPr>
            <a:r>
              <a:rPr kumimoji="0" lang="en-US" sz="3600" b="1" i="0" u="none" strike="noStrike" cap="none" normalizeH="0" baseline="0" dirty="0">
                <a:ln>
                  <a:noFill/>
                </a:ln>
                <a:solidFill>
                  <a:schemeClr val="tx1"/>
                </a:solidFill>
                <a:effectLst/>
                <a:latin typeface="Arial" pitchFamily="34" charset="0"/>
                <a:cs typeface="Arial" pitchFamily="34" charset="0"/>
              </a:rPr>
              <a:t>GRIHA</a:t>
            </a:r>
            <a:endParaRPr kumimoji="0" lang="en-US" sz="3600" b="0" i="0" u="none" strike="noStrike" cap="none" normalizeH="0" baseline="0" dirty="0">
              <a:ln>
                <a:noFill/>
              </a:ln>
              <a:solidFill>
                <a:schemeClr val="tx1"/>
              </a:solidFill>
              <a:effectLst/>
              <a:latin typeface="Arial" pitchFamily="34" charset="0"/>
              <a:cs typeface="Arial"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304800"/>
            <a:ext cx="8153400" cy="762000"/>
          </a:xfrm>
        </p:spPr>
        <p:txBody>
          <a:bodyPr>
            <a:normAutofit fontScale="90000"/>
          </a:bodyPr>
          <a:lstStyle/>
          <a:p>
            <a:r>
              <a:rPr lang="en-US" sz="3600" b="1" dirty="0">
                <a:latin typeface="Arial" pitchFamily="34" charset="0"/>
                <a:cs typeface="Arial" pitchFamily="34" charset="0"/>
              </a:rPr>
              <a:t/>
            </a:r>
            <a:br>
              <a:rPr lang="en-US" sz="3600" b="1" dirty="0">
                <a:latin typeface="Arial" pitchFamily="34" charset="0"/>
                <a:cs typeface="Arial" pitchFamily="34" charset="0"/>
              </a:rPr>
            </a:br>
            <a:r>
              <a:rPr lang="en-US" sz="3600" b="1" dirty="0">
                <a:latin typeface="Arial" pitchFamily="34" charset="0"/>
                <a:cs typeface="Arial" pitchFamily="34" charset="0"/>
              </a:rPr>
              <a:t/>
            </a:r>
            <a:br>
              <a:rPr lang="en-US" sz="3600" b="1" dirty="0">
                <a:latin typeface="Arial" pitchFamily="34" charset="0"/>
                <a:cs typeface="Arial" pitchFamily="34" charset="0"/>
              </a:rPr>
            </a:br>
            <a:r>
              <a:rPr lang="en-US" sz="2200" b="1" dirty="0">
                <a:solidFill>
                  <a:schemeClr val="accent1">
                    <a:lumMod val="75000"/>
                  </a:schemeClr>
                </a:solidFill>
                <a:latin typeface="Arial" pitchFamily="34" charset="0"/>
                <a:cs typeface="Arial" pitchFamily="34" charset="0"/>
              </a:rPr>
              <a:t>Flow Chart-Residential &amp; Office Building Construction </a:t>
            </a:r>
            <a:r>
              <a:rPr lang="en-US" dirty="0"/>
              <a:t/>
            </a:r>
            <a:br>
              <a:rPr lang="en-US" dirty="0"/>
            </a:br>
            <a:endParaRPr lang="en-US" dirty="0"/>
          </a:p>
        </p:txBody>
      </p:sp>
      <p:graphicFrame>
        <p:nvGraphicFramePr>
          <p:cNvPr id="3" name="Table 2"/>
          <p:cNvGraphicFramePr>
            <a:graphicFrameLocks noGrp="1"/>
          </p:cNvGraphicFramePr>
          <p:nvPr/>
        </p:nvGraphicFramePr>
        <p:xfrm>
          <a:off x="914400" y="1130363"/>
          <a:ext cx="7772400" cy="490728"/>
        </p:xfrm>
        <a:graphic>
          <a:graphicData uri="http://schemas.openxmlformats.org/drawingml/2006/table">
            <a:tbl>
              <a:tblPr/>
              <a:tblGrid>
                <a:gridCol w="7772400">
                  <a:extLst>
                    <a:ext uri="{9D8B030D-6E8A-4147-A177-3AD203B41FA5}">
                      <a16:colId xmlns="" xmlns:a16="http://schemas.microsoft.com/office/drawing/2014/main" val="20000"/>
                    </a:ext>
                  </a:extLst>
                </a:gridCol>
              </a:tblGrid>
              <a:tr h="457200">
                <a:tc>
                  <a:txBody>
                    <a:bodyPr/>
                    <a:lstStyle/>
                    <a:p>
                      <a:pPr marL="0" marR="0" algn="just">
                        <a:lnSpc>
                          <a:spcPct val="115000"/>
                        </a:lnSpc>
                        <a:spcBef>
                          <a:spcPts val="0"/>
                        </a:spcBef>
                        <a:spcAft>
                          <a:spcPts val="0"/>
                        </a:spcAft>
                      </a:pPr>
                      <a:r>
                        <a:rPr lang="en-IN" sz="1400" dirty="0">
                          <a:latin typeface="Arial" pitchFamily="34" charset="0"/>
                          <a:ea typeface="Calibri"/>
                          <a:cs typeface="Arial" pitchFamily="34" charset="0"/>
                        </a:rPr>
                        <a:t>Ensure that the land is free from encumbrances. Non-encumbrance Certificate from the concerned District Authority to be enclosed.</a:t>
                      </a:r>
                      <a:endParaRPr lang="en-US" sz="1100" dirty="0">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bl>
          </a:graphicData>
        </a:graphic>
      </p:graphicFrame>
      <p:graphicFrame>
        <p:nvGraphicFramePr>
          <p:cNvPr id="4" name="Table 3"/>
          <p:cNvGraphicFramePr>
            <a:graphicFrameLocks noGrp="1"/>
          </p:cNvGraphicFramePr>
          <p:nvPr/>
        </p:nvGraphicFramePr>
        <p:xfrm>
          <a:off x="914400" y="2057400"/>
          <a:ext cx="7772400" cy="609600"/>
        </p:xfrm>
        <a:graphic>
          <a:graphicData uri="http://schemas.openxmlformats.org/drawingml/2006/table">
            <a:tbl>
              <a:tblPr/>
              <a:tblGrid>
                <a:gridCol w="7772400">
                  <a:extLst>
                    <a:ext uri="{9D8B030D-6E8A-4147-A177-3AD203B41FA5}">
                      <a16:colId xmlns="" xmlns:a16="http://schemas.microsoft.com/office/drawing/2014/main" val="20000"/>
                    </a:ext>
                  </a:extLst>
                </a:gridCol>
              </a:tblGrid>
              <a:tr h="609600">
                <a:tc>
                  <a:txBody>
                    <a:bodyPr/>
                    <a:lstStyle/>
                    <a:p>
                      <a:pPr marL="0" marR="0" algn="just">
                        <a:lnSpc>
                          <a:spcPct val="115000"/>
                        </a:lnSpc>
                        <a:spcBef>
                          <a:spcPts val="0"/>
                        </a:spcBef>
                        <a:spcAft>
                          <a:spcPts val="0"/>
                        </a:spcAft>
                      </a:pPr>
                      <a:r>
                        <a:rPr lang="en-IN" sz="1400" dirty="0">
                          <a:latin typeface="Arial" pitchFamily="34" charset="0"/>
                          <a:ea typeface="Calibri"/>
                          <a:cs typeface="Arial" pitchFamily="34" charset="0"/>
                        </a:rPr>
                        <a:t>Work out the requirement of quarters (type-wise) and office space including space for special components as per applicable norms</a:t>
                      </a:r>
                      <a:endParaRPr lang="en-US" sz="1100" dirty="0">
                        <a:latin typeface="Arial" pitchFamily="34" charset="0"/>
                        <a:ea typeface="Times New Roman"/>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bl>
          </a:graphicData>
        </a:graphic>
      </p:graphicFrame>
      <p:graphicFrame>
        <p:nvGraphicFramePr>
          <p:cNvPr id="5" name="Table 4"/>
          <p:cNvGraphicFramePr>
            <a:graphicFrameLocks noGrp="1"/>
          </p:cNvGraphicFramePr>
          <p:nvPr/>
        </p:nvGraphicFramePr>
        <p:xfrm>
          <a:off x="1143000" y="3124200"/>
          <a:ext cx="7162800" cy="3217164"/>
        </p:xfrm>
        <a:graphic>
          <a:graphicData uri="http://schemas.openxmlformats.org/drawingml/2006/table">
            <a:tbl>
              <a:tblPr/>
              <a:tblGrid>
                <a:gridCol w="2280478">
                  <a:extLst>
                    <a:ext uri="{9D8B030D-6E8A-4147-A177-3AD203B41FA5}">
                      <a16:colId xmlns="" xmlns:a16="http://schemas.microsoft.com/office/drawing/2014/main" val="20000"/>
                    </a:ext>
                  </a:extLst>
                </a:gridCol>
                <a:gridCol w="545530">
                  <a:extLst>
                    <a:ext uri="{9D8B030D-6E8A-4147-A177-3AD203B41FA5}">
                      <a16:colId xmlns="" xmlns:a16="http://schemas.microsoft.com/office/drawing/2014/main" val="20001"/>
                    </a:ext>
                  </a:extLst>
                </a:gridCol>
                <a:gridCol w="1039061">
                  <a:extLst>
                    <a:ext uri="{9D8B030D-6E8A-4147-A177-3AD203B41FA5}">
                      <a16:colId xmlns="" xmlns:a16="http://schemas.microsoft.com/office/drawing/2014/main" val="20002"/>
                    </a:ext>
                  </a:extLst>
                </a:gridCol>
                <a:gridCol w="182932">
                  <a:extLst>
                    <a:ext uri="{9D8B030D-6E8A-4147-A177-3AD203B41FA5}">
                      <a16:colId xmlns="" xmlns:a16="http://schemas.microsoft.com/office/drawing/2014/main" val="20003"/>
                    </a:ext>
                  </a:extLst>
                </a:gridCol>
                <a:gridCol w="3114799">
                  <a:extLst>
                    <a:ext uri="{9D8B030D-6E8A-4147-A177-3AD203B41FA5}">
                      <a16:colId xmlns="" xmlns:a16="http://schemas.microsoft.com/office/drawing/2014/main" val="20004"/>
                    </a:ext>
                  </a:extLst>
                </a:gridCol>
              </a:tblGrid>
              <a:tr h="2971800">
                <a:tc gridSpan="2">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Conduct demand survey for residential quarters among the eligible persons which should be signed by the eligible persons showing their willingness/non-willingness. Construction of residential quarters will be restricted either to requirement as per the applicable norms or to the actual demand whichever is lower. A worksheet of the demand survey is to be prepared.</a:t>
                      </a:r>
                      <a:endParaRPr lang="en-US" sz="1100" dirty="0">
                        <a:latin typeface="Arial" pitchFamily="34" charset="0"/>
                        <a:ea typeface="Times New Roman"/>
                        <a:cs typeface="Arial" pitchFamily="34" charset="0"/>
                      </a:endParaRPr>
                    </a:p>
                  </a:txBody>
                  <a:tcPr marL="66818" marR="668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marL="0" marR="0" algn="just">
                        <a:lnSpc>
                          <a:spcPct val="115000"/>
                        </a:lnSpc>
                        <a:spcBef>
                          <a:spcPts val="0"/>
                        </a:spcBef>
                        <a:spcAft>
                          <a:spcPts val="0"/>
                        </a:spcAft>
                      </a:pPr>
                      <a:endParaRPr lang="en-US" sz="1400" dirty="0">
                        <a:latin typeface="Arial" pitchFamily="34" charset="0"/>
                        <a:ea typeface="Times New Roman"/>
                        <a:cs typeface="Arial" pitchFamily="34" charset="0"/>
                      </a:endParaRPr>
                    </a:p>
                  </a:txBody>
                  <a:tcPr marL="66818" marR="668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gridSpan="2">
                  <a:txBody>
                    <a:bodyPr/>
                    <a:lstStyle/>
                    <a:p>
                      <a:pPr marL="0" marR="0" algn="just">
                        <a:lnSpc>
                          <a:spcPct val="115000"/>
                        </a:lnSpc>
                        <a:spcBef>
                          <a:spcPts val="0"/>
                        </a:spcBef>
                        <a:spcAft>
                          <a:spcPts val="0"/>
                        </a:spcAft>
                      </a:pPr>
                      <a:r>
                        <a:rPr lang="en-US" sz="1400" dirty="0">
                          <a:latin typeface="Arial" pitchFamily="34" charset="0"/>
                          <a:ea typeface="Times New Roman"/>
                          <a:cs typeface="Arial" pitchFamily="34" charset="0"/>
                        </a:rPr>
                        <a:t>Prepare a detailed worksheet for requirement of space for office and special components keeping in view the austerity cut and a fixed allowance for future expansion on the basis of applicable norms.</a:t>
                      </a:r>
                      <a:endParaRPr lang="en-US" sz="1100" dirty="0">
                        <a:latin typeface="Arial" pitchFamily="34" charset="0"/>
                        <a:ea typeface="Times New Roman"/>
                        <a:cs typeface="Arial" pitchFamily="34" charset="0"/>
                      </a:endParaRPr>
                    </a:p>
                  </a:txBody>
                  <a:tcPr marL="66818" marR="668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 xmlns:a16="http://schemas.microsoft.com/office/drawing/2014/main" val="10000"/>
                  </a:ext>
                </a:extLst>
              </a:tr>
              <a:tr h="239059">
                <a:tc>
                  <a:txBody>
                    <a:bodyPr/>
                    <a:lstStyle/>
                    <a:p>
                      <a:pPr marL="0" marR="0">
                        <a:lnSpc>
                          <a:spcPct val="115000"/>
                        </a:lnSpc>
                        <a:spcBef>
                          <a:spcPts val="0"/>
                        </a:spcBef>
                        <a:spcAft>
                          <a:spcPts val="1000"/>
                        </a:spcAft>
                      </a:pPr>
                      <a:r>
                        <a:rPr lang="en-US" sz="1100" dirty="0">
                          <a:latin typeface="Calibri"/>
                          <a:ea typeface="Times New Roman"/>
                          <a:cs typeface="Mangal"/>
                        </a:rPr>
                        <a:t> </a:t>
                      </a:r>
                    </a:p>
                  </a:txBody>
                  <a:tcPr marL="0" marR="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gridSpan="3">
                  <a:txBody>
                    <a:bodyPr/>
                    <a:lstStyle/>
                    <a:p>
                      <a:pPr marL="0" marR="0" algn="just">
                        <a:lnSpc>
                          <a:spcPct val="115000"/>
                        </a:lnSpc>
                        <a:spcBef>
                          <a:spcPts val="0"/>
                        </a:spcBef>
                        <a:spcAft>
                          <a:spcPts val="0"/>
                        </a:spcAft>
                      </a:pPr>
                      <a:endParaRPr lang="en-US" sz="1400" dirty="0">
                        <a:latin typeface="Times New Roman"/>
                        <a:ea typeface="Times New Roman"/>
                        <a:cs typeface="Mangal"/>
                      </a:endParaRPr>
                    </a:p>
                  </a:txBody>
                  <a:tcPr marL="66818" marR="668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marL="0" marR="0">
                        <a:lnSpc>
                          <a:spcPct val="115000"/>
                        </a:lnSpc>
                        <a:spcBef>
                          <a:spcPts val="0"/>
                        </a:spcBef>
                        <a:spcAft>
                          <a:spcPts val="1000"/>
                        </a:spcAft>
                      </a:pPr>
                      <a:r>
                        <a:rPr lang="en-US" sz="1100" dirty="0">
                          <a:latin typeface="Calibri"/>
                          <a:ea typeface="Times New Roman"/>
                          <a:cs typeface="Mangal"/>
                        </a:rPr>
                        <a:t> </a:t>
                      </a:r>
                    </a:p>
                  </a:txBody>
                  <a:tcPr marL="0" marR="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 xmlns:a16="http://schemas.microsoft.com/office/drawing/2014/main" val="10001"/>
                  </a:ext>
                </a:extLst>
              </a:tr>
            </a:tbl>
          </a:graphicData>
        </a:graphic>
      </p:graphicFrame>
      <p:sp>
        <p:nvSpPr>
          <p:cNvPr id="6" name="Down Arrow 5"/>
          <p:cNvSpPr/>
          <p:nvPr/>
        </p:nvSpPr>
        <p:spPr>
          <a:xfrm>
            <a:off x="4572000" y="1600200"/>
            <a:ext cx="1524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own Arrow 6"/>
          <p:cNvSpPr/>
          <p:nvPr/>
        </p:nvSpPr>
        <p:spPr>
          <a:xfrm>
            <a:off x="2438400" y="2667000"/>
            <a:ext cx="1524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own Arrow 7"/>
          <p:cNvSpPr/>
          <p:nvPr/>
        </p:nvSpPr>
        <p:spPr>
          <a:xfrm>
            <a:off x="6477000" y="2667000"/>
            <a:ext cx="1524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own Arrow 8"/>
          <p:cNvSpPr/>
          <p:nvPr/>
        </p:nvSpPr>
        <p:spPr>
          <a:xfrm>
            <a:off x="4343400" y="6324600"/>
            <a:ext cx="152400" cy="304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609600" y="228599"/>
          <a:ext cx="8077200" cy="381001"/>
        </p:xfrm>
        <a:graphic>
          <a:graphicData uri="http://schemas.openxmlformats.org/drawingml/2006/table">
            <a:tbl>
              <a:tblPr/>
              <a:tblGrid>
                <a:gridCol w="8077200">
                  <a:extLst>
                    <a:ext uri="{9D8B030D-6E8A-4147-A177-3AD203B41FA5}">
                      <a16:colId xmlns="" xmlns:a16="http://schemas.microsoft.com/office/drawing/2014/main" val="20000"/>
                    </a:ext>
                  </a:extLst>
                </a:gridCol>
              </a:tblGrid>
              <a:tr h="381001">
                <a:tc>
                  <a:txBody>
                    <a:bodyPr/>
                    <a:lstStyle/>
                    <a:p>
                      <a:pPr marL="0" marR="0" algn="just">
                        <a:lnSpc>
                          <a:spcPct val="115000"/>
                        </a:lnSpc>
                        <a:spcBef>
                          <a:spcPts val="0"/>
                        </a:spcBef>
                        <a:spcAft>
                          <a:spcPts val="0"/>
                        </a:spcAft>
                      </a:pPr>
                      <a:r>
                        <a:rPr lang="en-IN" sz="1400" dirty="0">
                          <a:latin typeface="Arial" pitchFamily="34" charset="0"/>
                          <a:ea typeface="Calibri"/>
                          <a:cs typeface="Arial" pitchFamily="34" charset="0"/>
                        </a:rPr>
                        <a:t>Submit the requirement to CPWD and get the drawings and preliminary estimate (P.E.) prepared</a:t>
                      </a:r>
                      <a:endParaRPr lang="en-US" sz="1100" dirty="0">
                        <a:latin typeface="Arial" pitchFamily="34" charset="0"/>
                        <a:ea typeface="Times New Roman"/>
                        <a:cs typeface="Arial" pitchFamily="34" charset="0"/>
                      </a:endParaRPr>
                    </a:p>
                  </a:txBody>
                  <a:tcPr marL="67304" marR="673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bl>
          </a:graphicData>
        </a:graphic>
      </p:graphicFrame>
      <p:graphicFrame>
        <p:nvGraphicFramePr>
          <p:cNvPr id="3" name="Table 2"/>
          <p:cNvGraphicFramePr>
            <a:graphicFrameLocks noGrp="1"/>
          </p:cNvGraphicFramePr>
          <p:nvPr/>
        </p:nvGraphicFramePr>
        <p:xfrm>
          <a:off x="609600" y="1048829"/>
          <a:ext cx="8077200" cy="490728"/>
        </p:xfrm>
        <a:graphic>
          <a:graphicData uri="http://schemas.openxmlformats.org/drawingml/2006/table">
            <a:tbl>
              <a:tblPr/>
              <a:tblGrid>
                <a:gridCol w="8077200">
                  <a:extLst>
                    <a:ext uri="{9D8B030D-6E8A-4147-A177-3AD203B41FA5}">
                      <a16:colId xmlns="" xmlns:a16="http://schemas.microsoft.com/office/drawing/2014/main" val="20000"/>
                    </a:ext>
                  </a:extLst>
                </a:gridCol>
              </a:tblGrid>
              <a:tr h="457200">
                <a:tc>
                  <a:txBody>
                    <a:bodyPr/>
                    <a:lstStyle/>
                    <a:p>
                      <a:pPr marL="0" marR="0" algn="just">
                        <a:lnSpc>
                          <a:spcPct val="115000"/>
                        </a:lnSpc>
                        <a:spcBef>
                          <a:spcPts val="0"/>
                        </a:spcBef>
                        <a:spcAft>
                          <a:spcPts val="0"/>
                        </a:spcAft>
                      </a:pPr>
                      <a:r>
                        <a:rPr lang="en-IN" sz="1400" dirty="0">
                          <a:latin typeface="Arial" pitchFamily="34" charset="0"/>
                          <a:ea typeface="Calibri"/>
                          <a:cs typeface="Arial" pitchFamily="34" charset="0"/>
                        </a:rPr>
                        <a:t>Submit a self contained proposal along with preliminary estimate (P.E.), drawings and checklist to the office of the DGHRD for processing and necessary action.</a:t>
                      </a:r>
                      <a:endParaRPr lang="en-US" sz="1100" dirty="0">
                        <a:latin typeface="Arial" pitchFamily="34" charset="0"/>
                        <a:ea typeface="Times New Roman"/>
                        <a:cs typeface="Arial" pitchFamily="34" charset="0"/>
                      </a:endParaRPr>
                    </a:p>
                  </a:txBody>
                  <a:tcPr marL="67352" marR="6735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bl>
          </a:graphicData>
        </a:graphic>
      </p:graphicFrame>
      <p:graphicFrame>
        <p:nvGraphicFramePr>
          <p:cNvPr id="4" name="Table 3"/>
          <p:cNvGraphicFramePr>
            <a:graphicFrameLocks noGrp="1"/>
          </p:cNvGraphicFramePr>
          <p:nvPr/>
        </p:nvGraphicFramePr>
        <p:xfrm>
          <a:off x="609600" y="1981200"/>
          <a:ext cx="8077200" cy="685800"/>
        </p:xfrm>
        <a:graphic>
          <a:graphicData uri="http://schemas.openxmlformats.org/drawingml/2006/table">
            <a:tbl>
              <a:tblPr/>
              <a:tblGrid>
                <a:gridCol w="8077200">
                  <a:extLst>
                    <a:ext uri="{9D8B030D-6E8A-4147-A177-3AD203B41FA5}">
                      <a16:colId xmlns="" xmlns:a16="http://schemas.microsoft.com/office/drawing/2014/main" val="20000"/>
                    </a:ext>
                  </a:extLst>
                </a:gridCol>
              </a:tblGrid>
              <a:tr h="685800">
                <a:tc>
                  <a:txBody>
                    <a:bodyPr/>
                    <a:lstStyle/>
                    <a:p>
                      <a:pPr marL="0" marR="0" algn="just">
                        <a:lnSpc>
                          <a:spcPct val="115000"/>
                        </a:lnSpc>
                        <a:spcBef>
                          <a:spcPts val="0"/>
                        </a:spcBef>
                        <a:spcAft>
                          <a:spcPts val="0"/>
                        </a:spcAft>
                      </a:pPr>
                      <a:r>
                        <a:rPr lang="en-IN" sz="1400" dirty="0">
                          <a:latin typeface="Arial" pitchFamily="34" charset="0"/>
                          <a:ea typeface="Calibri"/>
                          <a:cs typeface="Arial" pitchFamily="34" charset="0"/>
                        </a:rPr>
                        <a:t>Proposal is examined and processed in the I&amp;W Wing of the office of the DGHRD. Deficiency, if any noticed, is communicated to the concerned office for clarification /rectification.</a:t>
                      </a:r>
                      <a:endParaRPr lang="en-US" sz="1100" dirty="0">
                        <a:latin typeface="Arial" pitchFamily="34" charset="0"/>
                        <a:ea typeface="Times New Roman"/>
                        <a:cs typeface="Arial" pitchFamily="34" charset="0"/>
                      </a:endParaRPr>
                    </a:p>
                  </a:txBody>
                  <a:tcPr marL="67304" marR="673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bl>
          </a:graphicData>
        </a:graphic>
      </p:graphicFrame>
      <p:graphicFrame>
        <p:nvGraphicFramePr>
          <p:cNvPr id="5" name="Table 4"/>
          <p:cNvGraphicFramePr>
            <a:graphicFrameLocks noGrp="1"/>
          </p:cNvGraphicFramePr>
          <p:nvPr/>
        </p:nvGraphicFramePr>
        <p:xfrm>
          <a:off x="609600" y="3048000"/>
          <a:ext cx="8077200" cy="533400"/>
        </p:xfrm>
        <a:graphic>
          <a:graphicData uri="http://schemas.openxmlformats.org/drawingml/2006/table">
            <a:tbl>
              <a:tblPr/>
              <a:tblGrid>
                <a:gridCol w="8077200">
                  <a:extLst>
                    <a:ext uri="{9D8B030D-6E8A-4147-A177-3AD203B41FA5}">
                      <a16:colId xmlns="" xmlns:a16="http://schemas.microsoft.com/office/drawing/2014/main" val="20000"/>
                    </a:ext>
                  </a:extLst>
                </a:gridCol>
              </a:tblGrid>
              <a:tr h="533400">
                <a:tc>
                  <a:txBody>
                    <a:bodyPr/>
                    <a:lstStyle/>
                    <a:p>
                      <a:pPr marL="0" marR="0" algn="just">
                        <a:lnSpc>
                          <a:spcPct val="115000"/>
                        </a:lnSpc>
                        <a:spcBef>
                          <a:spcPts val="0"/>
                        </a:spcBef>
                        <a:spcAft>
                          <a:spcPts val="0"/>
                        </a:spcAft>
                      </a:pPr>
                      <a:r>
                        <a:rPr lang="en-IN" sz="1400" dirty="0">
                          <a:latin typeface="Arial" pitchFamily="34" charset="0"/>
                          <a:ea typeface="Calibri"/>
                          <a:cs typeface="Arial" pitchFamily="34" charset="0"/>
                        </a:rPr>
                        <a:t>Proposal found complete in all respects is sent to the Ministry for administrative approval and expenditure sanction.</a:t>
                      </a:r>
                      <a:endParaRPr lang="en-US" sz="1100" dirty="0">
                        <a:latin typeface="Arial" pitchFamily="34" charset="0"/>
                        <a:ea typeface="Times New Roman"/>
                        <a:cs typeface="Arial" pitchFamily="34" charset="0"/>
                      </a:endParaRPr>
                    </a:p>
                  </a:txBody>
                  <a:tcPr marL="67304" marR="673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bl>
          </a:graphicData>
        </a:graphic>
      </p:graphicFrame>
      <p:graphicFrame>
        <p:nvGraphicFramePr>
          <p:cNvPr id="6" name="Table 5"/>
          <p:cNvGraphicFramePr>
            <a:graphicFrameLocks noGrp="1"/>
          </p:cNvGraphicFramePr>
          <p:nvPr/>
        </p:nvGraphicFramePr>
        <p:xfrm>
          <a:off x="609600" y="4114800"/>
          <a:ext cx="8077200" cy="838200"/>
        </p:xfrm>
        <a:graphic>
          <a:graphicData uri="http://schemas.openxmlformats.org/drawingml/2006/table">
            <a:tbl>
              <a:tblPr/>
              <a:tblGrid>
                <a:gridCol w="8077200">
                  <a:extLst>
                    <a:ext uri="{9D8B030D-6E8A-4147-A177-3AD203B41FA5}">
                      <a16:colId xmlns="" xmlns:a16="http://schemas.microsoft.com/office/drawing/2014/main" val="20000"/>
                    </a:ext>
                  </a:extLst>
                </a:gridCol>
              </a:tblGrid>
              <a:tr h="838200">
                <a:tc>
                  <a:txBody>
                    <a:bodyPr/>
                    <a:lstStyle/>
                    <a:p>
                      <a:pPr marL="0" marR="0" algn="just">
                        <a:lnSpc>
                          <a:spcPct val="115000"/>
                        </a:lnSpc>
                        <a:spcBef>
                          <a:spcPts val="0"/>
                        </a:spcBef>
                        <a:spcAft>
                          <a:spcPts val="0"/>
                        </a:spcAft>
                      </a:pPr>
                      <a:r>
                        <a:rPr lang="en-IN" sz="1400" dirty="0">
                          <a:latin typeface="Arial" pitchFamily="34" charset="0"/>
                          <a:ea typeface="Calibri"/>
                          <a:cs typeface="Arial" pitchFamily="34" charset="0"/>
                        </a:rPr>
                        <a:t>Proposal approved by the Ministry and sanction accorded if found complete in all respects. Where any observations are made by the Ministry, it is communicated to the concerned office for necessary clarification/rectification.</a:t>
                      </a:r>
                      <a:endParaRPr lang="en-US" sz="1100" dirty="0">
                        <a:latin typeface="Arial" pitchFamily="34" charset="0"/>
                        <a:ea typeface="Times New Roman"/>
                        <a:cs typeface="Arial" pitchFamily="34" charset="0"/>
                      </a:endParaRPr>
                    </a:p>
                  </a:txBody>
                  <a:tcPr marL="67304" marR="673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bl>
          </a:graphicData>
        </a:graphic>
      </p:graphicFrame>
      <p:graphicFrame>
        <p:nvGraphicFramePr>
          <p:cNvPr id="7" name="Table 6"/>
          <p:cNvGraphicFramePr>
            <a:graphicFrameLocks noGrp="1"/>
          </p:cNvGraphicFramePr>
          <p:nvPr/>
        </p:nvGraphicFramePr>
        <p:xfrm>
          <a:off x="609600" y="5410200"/>
          <a:ext cx="8153400" cy="685800"/>
        </p:xfrm>
        <a:graphic>
          <a:graphicData uri="http://schemas.openxmlformats.org/drawingml/2006/table">
            <a:tbl>
              <a:tblPr/>
              <a:tblGrid>
                <a:gridCol w="8153400">
                  <a:extLst>
                    <a:ext uri="{9D8B030D-6E8A-4147-A177-3AD203B41FA5}">
                      <a16:colId xmlns="" xmlns:a16="http://schemas.microsoft.com/office/drawing/2014/main" val="20000"/>
                    </a:ext>
                  </a:extLst>
                </a:gridCol>
              </a:tblGrid>
              <a:tr h="685800">
                <a:tc>
                  <a:txBody>
                    <a:bodyPr/>
                    <a:lstStyle/>
                    <a:p>
                      <a:pPr marL="0" marR="0" algn="just">
                        <a:lnSpc>
                          <a:spcPct val="115000"/>
                        </a:lnSpc>
                        <a:spcBef>
                          <a:spcPts val="0"/>
                        </a:spcBef>
                        <a:spcAft>
                          <a:spcPts val="0"/>
                        </a:spcAft>
                      </a:pPr>
                      <a:r>
                        <a:rPr lang="en-IN" sz="1400" dirty="0">
                          <a:latin typeface="Arial" pitchFamily="34" charset="0"/>
                          <a:ea typeface="Calibri"/>
                          <a:cs typeface="Arial" pitchFamily="34" charset="0"/>
                        </a:rPr>
                        <a:t>On receipt of approval, an approval letter is sent by the Ministry to the concerned office, under intimation to the Chief Engineer, CPWD.</a:t>
                      </a:r>
                    </a:p>
                    <a:p>
                      <a:pPr marL="0" marR="0" algn="just">
                        <a:lnSpc>
                          <a:spcPct val="115000"/>
                        </a:lnSpc>
                        <a:spcBef>
                          <a:spcPts val="0"/>
                        </a:spcBef>
                        <a:spcAft>
                          <a:spcPts val="0"/>
                        </a:spcAft>
                      </a:pPr>
                      <a:endParaRPr lang="en-US" sz="1100" dirty="0">
                        <a:latin typeface="Arial" pitchFamily="34" charset="0"/>
                        <a:ea typeface="Times New Roman"/>
                        <a:cs typeface="Arial" pitchFamily="34" charset="0"/>
                      </a:endParaRPr>
                    </a:p>
                  </a:txBody>
                  <a:tcPr marL="67304" marR="6730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bl>
          </a:graphicData>
        </a:graphic>
      </p:graphicFrame>
      <p:sp>
        <p:nvSpPr>
          <p:cNvPr id="8" name="Down Arrow 7"/>
          <p:cNvSpPr/>
          <p:nvPr/>
        </p:nvSpPr>
        <p:spPr>
          <a:xfrm>
            <a:off x="4343400" y="609600"/>
            <a:ext cx="1524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own Arrow 8"/>
          <p:cNvSpPr/>
          <p:nvPr/>
        </p:nvSpPr>
        <p:spPr>
          <a:xfrm>
            <a:off x="4343400" y="1524000"/>
            <a:ext cx="1524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own Arrow 9"/>
          <p:cNvSpPr/>
          <p:nvPr/>
        </p:nvSpPr>
        <p:spPr>
          <a:xfrm>
            <a:off x="4343400" y="2667000"/>
            <a:ext cx="152400" cy="381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own Arrow 11"/>
          <p:cNvSpPr/>
          <p:nvPr/>
        </p:nvSpPr>
        <p:spPr>
          <a:xfrm flipH="1">
            <a:off x="4343400" y="4953000"/>
            <a:ext cx="1524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own Arrow 13"/>
          <p:cNvSpPr/>
          <p:nvPr/>
        </p:nvSpPr>
        <p:spPr>
          <a:xfrm flipH="1">
            <a:off x="4343400" y="3581400"/>
            <a:ext cx="152400" cy="533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219200"/>
            <a:ext cx="7772400" cy="2362200"/>
          </a:xfrm>
        </p:spPr>
        <p:txBody>
          <a:bodyPr>
            <a:normAutofit/>
          </a:bodyPr>
          <a:lstStyle/>
          <a:p>
            <a:pPr algn="ctr"/>
            <a:r>
              <a:rPr lang="en-US" dirty="0">
                <a:solidFill>
                  <a:schemeClr val="accent1">
                    <a:lumMod val="75000"/>
                  </a:schemeClr>
                </a:solidFill>
              </a:rPr>
              <a:t>REPAIR AND MAINTENANCE</a:t>
            </a:r>
          </a:p>
        </p:txBody>
      </p:sp>
    </p:spTree>
    <p:extLst>
      <p:ext uri="{BB962C8B-B14F-4D97-AF65-F5344CB8AC3E}">
        <p14:creationId xmlns="" xmlns:p14="http://schemas.microsoft.com/office/powerpoint/2010/main" val="4245058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52400"/>
            <a:ext cx="7498080" cy="1143000"/>
          </a:xfrm>
        </p:spPr>
        <p:txBody>
          <a:bodyPr>
            <a:normAutofit fontScale="90000"/>
          </a:bodyPr>
          <a:lstStyle/>
          <a:p>
            <a:r>
              <a:rPr lang="en-IN" sz="4800" dirty="0">
                <a:latin typeface="Times New Roman" pitchFamily="18" charset="0"/>
                <a:cs typeface="Times New Roman" pitchFamily="18" charset="0"/>
              </a:rPr>
              <a:t/>
            </a:r>
            <a:br>
              <a:rPr lang="en-IN" sz="4800" dirty="0">
                <a:latin typeface="Times New Roman" pitchFamily="18" charset="0"/>
                <a:cs typeface="Times New Roman" pitchFamily="18" charset="0"/>
              </a:rPr>
            </a:br>
            <a:r>
              <a:rPr lang="en-IN" sz="4400" b="1" dirty="0">
                <a:solidFill>
                  <a:schemeClr val="accent1">
                    <a:lumMod val="75000"/>
                  </a:schemeClr>
                </a:solidFill>
                <a:latin typeface="Times New Roman" pitchFamily="18" charset="0"/>
                <a:cs typeface="Times New Roman" pitchFamily="18" charset="0"/>
              </a:rPr>
              <a:t>Classification of works</a:t>
            </a:r>
            <a:r>
              <a:rPr lang="en-IN" sz="4400" dirty="0">
                <a:latin typeface="Times New Roman" pitchFamily="18" charset="0"/>
                <a:cs typeface="Times New Roman" pitchFamily="18" charset="0"/>
              </a:rPr>
              <a:t/>
            </a:r>
            <a:br>
              <a:rPr lang="en-IN" sz="4400" dirty="0">
                <a:latin typeface="Times New Roman" pitchFamily="18" charset="0"/>
                <a:cs typeface="Times New Roman" pitchFamily="18" charset="0"/>
              </a:rPr>
            </a:br>
            <a:endParaRPr lang="en-US" dirty="0"/>
          </a:p>
        </p:txBody>
      </p:sp>
      <p:sp>
        <p:nvSpPr>
          <p:cNvPr id="3" name="Content Placeholder 2"/>
          <p:cNvSpPr>
            <a:spLocks noGrp="1"/>
          </p:cNvSpPr>
          <p:nvPr>
            <p:ph sz="quarter" idx="1"/>
          </p:nvPr>
        </p:nvSpPr>
        <p:spPr>
          <a:xfrm>
            <a:off x="914400" y="1219200"/>
            <a:ext cx="7498080" cy="4800600"/>
          </a:xfrm>
        </p:spPr>
        <p:txBody>
          <a:bodyPr>
            <a:normAutofit/>
          </a:bodyPr>
          <a:lstStyle/>
          <a:p>
            <a:pPr algn="just"/>
            <a:r>
              <a:rPr lang="en-IN" sz="2200" b="1" dirty="0">
                <a:latin typeface="Times New Roman" pitchFamily="18" charset="0"/>
                <a:cs typeface="Times New Roman" pitchFamily="18" charset="0"/>
              </a:rPr>
              <a:t>Original Works </a:t>
            </a:r>
            <a:r>
              <a:rPr lang="en-IN" sz="2200" dirty="0">
                <a:latin typeface="Times New Roman" pitchFamily="18" charset="0"/>
                <a:cs typeface="Times New Roman" pitchFamily="18" charset="0"/>
              </a:rPr>
              <a:t>shall mean:</a:t>
            </a:r>
          </a:p>
          <a:p>
            <a:pPr algn="just">
              <a:buNone/>
            </a:pPr>
            <a:endParaRPr lang="en-IN" sz="2200" dirty="0">
              <a:latin typeface="Times New Roman" pitchFamily="18" charset="0"/>
              <a:cs typeface="Times New Roman" pitchFamily="18" charset="0"/>
            </a:endParaRPr>
          </a:p>
          <a:p>
            <a:pPr marL="627063" indent="-452438" algn="just">
              <a:buNone/>
              <a:tabLst>
                <a:tab pos="539750" algn="l"/>
              </a:tabLst>
            </a:pPr>
            <a:r>
              <a:rPr lang="en-IN" sz="2200" dirty="0">
                <a:latin typeface="Times New Roman" pitchFamily="18" charset="0"/>
                <a:cs typeface="Times New Roman" pitchFamily="18" charset="0"/>
              </a:rPr>
              <a:t>(</a:t>
            </a:r>
            <a:r>
              <a:rPr lang="en-IN" sz="2200" dirty="0" err="1">
                <a:latin typeface="Times New Roman" pitchFamily="18" charset="0"/>
                <a:cs typeface="Times New Roman" pitchFamily="18" charset="0"/>
              </a:rPr>
              <a:t>i</a:t>
            </a:r>
            <a:r>
              <a:rPr lang="en-IN" sz="2200" dirty="0">
                <a:latin typeface="Times New Roman" pitchFamily="18" charset="0"/>
                <a:cs typeface="Times New Roman" pitchFamily="18" charset="0"/>
              </a:rPr>
              <a:t>)	 all new constructions;</a:t>
            </a:r>
          </a:p>
          <a:p>
            <a:pPr marL="627063" indent="-452438" algn="just">
              <a:buNone/>
              <a:tabLst>
                <a:tab pos="539750" algn="l"/>
              </a:tabLst>
            </a:pPr>
            <a:r>
              <a:rPr lang="en-IN" sz="2200" dirty="0">
                <a:latin typeface="Times New Roman" pitchFamily="18" charset="0"/>
                <a:cs typeface="Times New Roman" pitchFamily="18" charset="0"/>
              </a:rPr>
              <a:t>(ii) all types of additions, alterations and/or major repairs to newly acquired assets, abandoned or damaged assets that are required to make them workable;</a:t>
            </a:r>
          </a:p>
          <a:p>
            <a:pPr marL="627063" indent="-452438" algn="just">
              <a:buNone/>
              <a:tabLst>
                <a:tab pos="539750" algn="l"/>
              </a:tabLst>
            </a:pPr>
            <a:r>
              <a:rPr lang="en-IN" sz="2200" dirty="0">
                <a:latin typeface="Times New Roman" pitchFamily="18" charset="0"/>
                <a:cs typeface="Times New Roman" pitchFamily="18" charset="0"/>
              </a:rPr>
              <a:t>(iii) major replacements or remodelling of a portion of an existing structure or installation or other works, which results in a </a:t>
            </a:r>
            <a:r>
              <a:rPr lang="en-IN" sz="2200" b="1" i="1" dirty="0">
                <a:latin typeface="Times New Roman" pitchFamily="18" charset="0"/>
                <a:cs typeface="Times New Roman" pitchFamily="18" charset="0"/>
              </a:rPr>
              <a:t>genuine increase in the Capital Value of the property.</a:t>
            </a:r>
          </a:p>
          <a:p>
            <a:pPr marL="400050" indent="-400050" algn="just">
              <a:buNone/>
              <a:tabLst>
                <a:tab pos="539750" algn="l"/>
              </a:tabLst>
            </a:pPr>
            <a:endParaRPr lang="en-IN" sz="2200" dirty="0">
              <a:latin typeface="Times New Roman" pitchFamily="18" charset="0"/>
              <a:cs typeface="Times New Roman" pitchFamily="18" charset="0"/>
            </a:endParaRPr>
          </a:p>
          <a:p>
            <a:pPr marL="400050" indent="-400050" algn="just">
              <a:tabLst>
                <a:tab pos="539750" algn="l"/>
              </a:tabLst>
            </a:pPr>
            <a:r>
              <a:rPr lang="en-IN" sz="2200" dirty="0">
                <a:latin typeface="Times New Roman" pitchFamily="18" charset="0"/>
                <a:cs typeface="Times New Roman" pitchFamily="18" charset="0"/>
              </a:rPr>
              <a:t>Expenditure under </a:t>
            </a:r>
            <a:r>
              <a:rPr lang="en-IN" sz="2200" b="1" dirty="0">
                <a:latin typeface="Times New Roman" pitchFamily="18" charset="0"/>
                <a:cs typeface="Times New Roman" pitchFamily="18" charset="0"/>
              </a:rPr>
              <a:t>Major Head ‘4059/4216’</a:t>
            </a:r>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152400"/>
            <a:ext cx="7498080" cy="990600"/>
          </a:xfrm>
        </p:spPr>
        <p:txBody>
          <a:bodyPr/>
          <a:lstStyle/>
          <a:p>
            <a:r>
              <a:rPr lang="en-IN" sz="4400" b="1" dirty="0">
                <a:solidFill>
                  <a:schemeClr val="accent1">
                    <a:lumMod val="75000"/>
                  </a:schemeClr>
                </a:solidFill>
                <a:latin typeface="Times New Roman" pitchFamily="18" charset="0"/>
                <a:cs typeface="Times New Roman" pitchFamily="18" charset="0"/>
              </a:rPr>
              <a:t>Minor Repair Works</a:t>
            </a:r>
            <a:endParaRPr lang="en-US" dirty="0">
              <a:solidFill>
                <a:schemeClr val="accent1">
                  <a:lumMod val="75000"/>
                </a:schemeClr>
              </a:solidFill>
            </a:endParaRPr>
          </a:p>
        </p:txBody>
      </p:sp>
      <p:sp>
        <p:nvSpPr>
          <p:cNvPr id="3" name="Content Placeholder 2"/>
          <p:cNvSpPr>
            <a:spLocks noGrp="1"/>
          </p:cNvSpPr>
          <p:nvPr>
            <p:ph sz="quarter" idx="1"/>
          </p:nvPr>
        </p:nvSpPr>
        <p:spPr>
          <a:xfrm>
            <a:off x="685800" y="1371600"/>
            <a:ext cx="7498080" cy="4800600"/>
          </a:xfrm>
        </p:spPr>
        <p:txBody>
          <a:bodyPr>
            <a:normAutofit/>
          </a:bodyPr>
          <a:lstStyle/>
          <a:p>
            <a:pPr marL="990600" indent="-990600" algn="just">
              <a:buNone/>
              <a:tabLst>
                <a:tab pos="355600" algn="l"/>
              </a:tabLst>
            </a:pPr>
            <a:r>
              <a:rPr lang="en-IN" sz="2400" b="1" dirty="0">
                <a:latin typeface="Times New Roman" pitchFamily="18" charset="0"/>
                <a:cs typeface="Times New Roman" pitchFamily="18" charset="0"/>
              </a:rPr>
              <a:t>(</a:t>
            </a:r>
            <a:r>
              <a:rPr lang="en-IN" sz="2400" b="1" dirty="0" err="1">
                <a:latin typeface="Times New Roman" pitchFamily="18" charset="0"/>
                <a:cs typeface="Times New Roman" pitchFamily="18" charset="0"/>
              </a:rPr>
              <a:t>i</a:t>
            </a:r>
            <a:r>
              <a:rPr lang="en-IN" sz="2400" b="1" dirty="0">
                <a:latin typeface="Times New Roman" pitchFamily="18" charset="0"/>
                <a:cs typeface="Times New Roman" pitchFamily="18" charset="0"/>
              </a:rPr>
              <a:t>)	        Annual repairs: </a:t>
            </a:r>
            <a:r>
              <a:rPr lang="en-IN" sz="2400" dirty="0">
                <a:latin typeface="Times New Roman" pitchFamily="18" charset="0"/>
                <a:cs typeface="Times New Roman" pitchFamily="18" charset="0"/>
              </a:rPr>
              <a:t>Routine and yearly operation and maintenance works.</a:t>
            </a:r>
          </a:p>
          <a:p>
            <a:pPr marL="990600" indent="-990600" algn="just">
              <a:buNone/>
              <a:tabLst>
                <a:tab pos="355600" algn="l"/>
              </a:tabLst>
            </a:pPr>
            <a:r>
              <a:rPr lang="en-IN" sz="2400" b="1" dirty="0">
                <a:latin typeface="Times New Roman" pitchFamily="18" charset="0"/>
                <a:cs typeface="Times New Roman" pitchFamily="18" charset="0"/>
              </a:rPr>
              <a:t>(ii)    Special repairs: </a:t>
            </a:r>
            <a:r>
              <a:rPr lang="en-IN" sz="2400" dirty="0">
                <a:latin typeface="Times New Roman" pitchFamily="18" charset="0"/>
                <a:cs typeface="Times New Roman" pitchFamily="18" charset="0"/>
              </a:rPr>
              <a:t>Renovation or remodelling of a portion of an existing structure or installation or other works due to major breakdown, or deterioration, or periodic renewal, which do not result in a genuine increase in the value of the property but are necessary to make them workable.</a:t>
            </a:r>
          </a:p>
          <a:p>
            <a:pPr marL="990600" indent="-990600" algn="just">
              <a:tabLst>
                <a:tab pos="355600" algn="l"/>
              </a:tabLst>
            </a:pPr>
            <a:endParaRPr lang="en-IN" sz="2400" dirty="0">
              <a:latin typeface="Times New Roman" pitchFamily="18" charset="0"/>
              <a:cs typeface="Times New Roman" pitchFamily="18" charset="0"/>
            </a:endParaRPr>
          </a:p>
          <a:p>
            <a:pPr marL="990600" indent="-990600" algn="just">
              <a:tabLst>
                <a:tab pos="355600" algn="l"/>
              </a:tabLst>
            </a:pPr>
            <a:r>
              <a:rPr lang="en-IN" sz="2400" dirty="0">
                <a:latin typeface="Times New Roman" pitchFamily="18" charset="0"/>
                <a:cs typeface="Times New Roman" pitchFamily="18" charset="0"/>
              </a:rPr>
              <a:t>Expenditure incurred under MH 2038/2037/2216</a:t>
            </a:r>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7467600" cy="990600"/>
          </a:xfrm>
        </p:spPr>
        <p:txBody>
          <a:bodyPr>
            <a:normAutofit fontScale="90000"/>
          </a:bodyPr>
          <a:lstStyle/>
          <a:p>
            <a:r>
              <a:rPr lang="en-US" sz="4400" b="1" dirty="0">
                <a:latin typeface="Times New Roman" pitchFamily="18" charset="0"/>
                <a:cs typeface="Times New Roman" pitchFamily="18" charset="0"/>
              </a:rPr>
              <a:t/>
            </a:r>
            <a:br>
              <a:rPr lang="en-US" sz="4400" b="1" dirty="0">
                <a:latin typeface="Times New Roman" pitchFamily="18" charset="0"/>
                <a:cs typeface="Times New Roman" pitchFamily="18" charset="0"/>
              </a:rPr>
            </a:br>
            <a:r>
              <a:rPr lang="en-US" sz="3200" b="1" dirty="0">
                <a:solidFill>
                  <a:schemeClr val="accent1">
                    <a:lumMod val="75000"/>
                  </a:schemeClr>
                </a:solidFill>
                <a:latin typeface="Times New Roman" pitchFamily="18" charset="0"/>
                <a:cs typeface="Times New Roman" pitchFamily="18" charset="0"/>
              </a:rPr>
              <a:t> Rule 84 of </a:t>
            </a:r>
            <a:r>
              <a:rPr lang="en-US" sz="3200" b="1" dirty="0" err="1">
                <a:solidFill>
                  <a:schemeClr val="accent1">
                    <a:lumMod val="75000"/>
                  </a:schemeClr>
                </a:solidFill>
                <a:latin typeface="Times New Roman" pitchFamily="18" charset="0"/>
                <a:cs typeface="Times New Roman" pitchFamily="18" charset="0"/>
              </a:rPr>
              <a:t>GenerAL</a:t>
            </a:r>
            <a:r>
              <a:rPr lang="en-US" sz="3200" b="1" dirty="0">
                <a:solidFill>
                  <a:schemeClr val="accent1">
                    <a:lumMod val="75000"/>
                  </a:schemeClr>
                </a:solidFill>
                <a:latin typeface="Times New Roman" pitchFamily="18" charset="0"/>
                <a:cs typeface="Times New Roman" pitchFamily="18" charset="0"/>
              </a:rPr>
              <a:t> FINANCIAL RULES, 2017</a:t>
            </a:r>
            <a:endParaRPr lang="en-US" dirty="0">
              <a:latin typeface="Times New Roman" pitchFamily="18" charset="0"/>
              <a:cs typeface="Times New Roman" pitchFamily="18" charset="0"/>
            </a:endParaRPr>
          </a:p>
        </p:txBody>
      </p:sp>
      <p:sp>
        <p:nvSpPr>
          <p:cNvPr id="3" name="Content Placeholder 2"/>
          <p:cNvSpPr>
            <a:spLocks noGrp="1"/>
          </p:cNvSpPr>
          <p:nvPr>
            <p:ph sz="quarter" idx="1"/>
          </p:nvPr>
        </p:nvSpPr>
        <p:spPr/>
        <p:txBody>
          <a:bodyPr/>
          <a:lstStyle/>
          <a:p>
            <a:r>
              <a:rPr lang="en-US" sz="2400" b="1" dirty="0">
                <a:latin typeface="Times New Roman" pitchFamily="18" charset="0"/>
                <a:cs typeface="Times New Roman" pitchFamily="18" charset="0"/>
              </a:rPr>
              <a:t>Capital Expenditure (Major Head 4059/4216)</a:t>
            </a:r>
          </a:p>
          <a:p>
            <a:pPr indent="361950" algn="just">
              <a:buFont typeface="Arial" pitchFamily="34" charset="0"/>
              <a:buChar char="•"/>
              <a:tabLst>
                <a:tab pos="723900" algn="l"/>
              </a:tabLst>
            </a:pPr>
            <a:r>
              <a:rPr lang="en-US" sz="2400" dirty="0">
                <a:latin typeface="Times New Roman" pitchFamily="18" charset="0"/>
                <a:cs typeface="Times New Roman" pitchFamily="18" charset="0"/>
              </a:rPr>
              <a:t>Enhances the capital value of the asset</a:t>
            </a:r>
          </a:p>
          <a:p>
            <a:pPr indent="361950" algn="just">
              <a:buFont typeface="Arial" pitchFamily="34" charset="0"/>
              <a:buChar char="•"/>
              <a:tabLst>
                <a:tab pos="723900" algn="l"/>
              </a:tabLst>
            </a:pPr>
            <a:r>
              <a:rPr lang="en-US" sz="2400" dirty="0">
                <a:latin typeface="Times New Roman" pitchFamily="18" charset="0"/>
                <a:cs typeface="Times New Roman" pitchFamily="18" charset="0"/>
              </a:rPr>
              <a:t>Expenditure in significant in amount</a:t>
            </a:r>
          </a:p>
          <a:p>
            <a:pPr indent="361950">
              <a:tabLst>
                <a:tab pos="723900" algn="l"/>
              </a:tabLst>
            </a:pPr>
            <a:endParaRPr lang="en-US" sz="2400" b="1" dirty="0">
              <a:latin typeface="Times New Roman" pitchFamily="18" charset="0"/>
              <a:cs typeface="Times New Roman" pitchFamily="18" charset="0"/>
            </a:endParaRPr>
          </a:p>
          <a:p>
            <a:pPr algn="just">
              <a:tabLst>
                <a:tab pos="723900" algn="l"/>
              </a:tabLst>
            </a:pPr>
            <a:r>
              <a:rPr lang="en-US" sz="2400" b="1" dirty="0">
                <a:latin typeface="Times New Roman" pitchFamily="18" charset="0"/>
                <a:cs typeface="Times New Roman" pitchFamily="18" charset="0"/>
              </a:rPr>
              <a:t>Revenue Expenditure (Major Head 2037/2038/2216)</a:t>
            </a:r>
          </a:p>
          <a:p>
            <a:pPr marL="246888" lvl="2" indent="361950" algn="just">
              <a:tabLst>
                <a:tab pos="723900" algn="l"/>
              </a:tabLst>
            </a:pPr>
            <a:r>
              <a:rPr lang="en-US" dirty="0">
                <a:latin typeface="Times New Roman" pitchFamily="18" charset="0"/>
                <a:cs typeface="Times New Roman" pitchFamily="18" charset="0"/>
              </a:rPr>
              <a:t>Necessary for repair and up-keep of the asset.</a:t>
            </a:r>
          </a:p>
          <a:p>
            <a:pPr marL="246888" lvl="2" indent="361950" algn="just">
              <a:buFont typeface="Arial" pitchFamily="34" charset="0"/>
              <a:buChar char="•"/>
              <a:tabLst>
                <a:tab pos="723900" algn="l"/>
              </a:tabLst>
            </a:pPr>
            <a:r>
              <a:rPr lang="en-US" dirty="0">
                <a:latin typeface="Times New Roman" pitchFamily="18" charset="0"/>
                <a:cs typeface="Times New Roman" pitchFamily="18" charset="0"/>
              </a:rPr>
              <a:t>Yearly maintenance and repair</a:t>
            </a:r>
          </a:p>
          <a:p>
            <a:pPr marL="246888" lvl="2" indent="361950" algn="just">
              <a:buFont typeface="Arial" pitchFamily="34" charset="0"/>
              <a:buChar char="•"/>
              <a:tabLst>
                <a:tab pos="723900" algn="l"/>
              </a:tabLst>
            </a:pPr>
            <a:r>
              <a:rPr lang="en-US" dirty="0">
                <a:latin typeface="Times New Roman" pitchFamily="18" charset="0"/>
                <a:cs typeface="Times New Roman" pitchFamily="18" charset="0"/>
              </a:rPr>
              <a:t>Special repair/One Time repair.</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35E2A42F-3747-4313-B8AA-F8C71D2DB211}" type="slidenum">
              <a:rPr lang="en-IN" smtClean="0"/>
              <a:pPr/>
              <a:t>42</a:t>
            </a:fld>
            <a:endParaRPr lang="en-IN"/>
          </a:p>
        </p:txBody>
      </p:sp>
      <p:graphicFrame>
        <p:nvGraphicFramePr>
          <p:cNvPr id="4" name="Table 3"/>
          <p:cNvGraphicFramePr>
            <a:graphicFrameLocks noGrp="1"/>
          </p:cNvGraphicFramePr>
          <p:nvPr>
            <p:extLst>
              <p:ext uri="{D42A27DB-BD31-4B8C-83A1-F6EECF244321}">
                <p14:modId xmlns="" xmlns:p14="http://schemas.microsoft.com/office/powerpoint/2010/main" val="993737589"/>
              </p:ext>
            </p:extLst>
          </p:nvPr>
        </p:nvGraphicFramePr>
        <p:xfrm>
          <a:off x="228600" y="533400"/>
          <a:ext cx="8429684" cy="5547360"/>
        </p:xfrm>
        <a:graphic>
          <a:graphicData uri="http://schemas.openxmlformats.org/drawingml/2006/table">
            <a:tbl>
              <a:tblPr firstRow="1" bandRow="1">
                <a:tableStyleId>{5C22544A-7EE6-4342-B048-85BDC9FD1C3A}</a:tableStyleId>
              </a:tblPr>
              <a:tblGrid>
                <a:gridCol w="4214842">
                  <a:extLst>
                    <a:ext uri="{9D8B030D-6E8A-4147-A177-3AD203B41FA5}">
                      <a16:colId xmlns="" xmlns:a16="http://schemas.microsoft.com/office/drawing/2014/main" val="20000"/>
                    </a:ext>
                  </a:extLst>
                </a:gridCol>
                <a:gridCol w="4214842">
                  <a:extLst>
                    <a:ext uri="{9D8B030D-6E8A-4147-A177-3AD203B41FA5}">
                      <a16:colId xmlns="" xmlns:a16="http://schemas.microsoft.com/office/drawing/2014/main" val="20001"/>
                    </a:ext>
                  </a:extLst>
                </a:gridCol>
              </a:tblGrid>
              <a:tr h="1095019">
                <a:tc>
                  <a:txBody>
                    <a:bodyPr/>
                    <a:lstStyle/>
                    <a:p>
                      <a:pPr algn="ctr"/>
                      <a:r>
                        <a:rPr lang="en-US" dirty="0"/>
                        <a:t>Original works</a:t>
                      </a:r>
                      <a:r>
                        <a:rPr lang="en-US" baseline="0" dirty="0"/>
                        <a:t> </a:t>
                      </a:r>
                    </a:p>
                    <a:p>
                      <a:pPr algn="ctr"/>
                      <a:r>
                        <a:rPr lang="en-US" baseline="0" dirty="0"/>
                        <a:t>(</a:t>
                      </a:r>
                      <a:r>
                        <a:rPr lang="en-US" dirty="0"/>
                        <a:t>Capital</a:t>
                      </a:r>
                      <a:r>
                        <a:rPr lang="en-US" baseline="0" dirty="0"/>
                        <a:t> Expenditure)</a:t>
                      </a:r>
                    </a:p>
                    <a:p>
                      <a:pPr algn="ctr"/>
                      <a:endParaRPr lang="en-US" baseline="0" dirty="0"/>
                    </a:p>
                    <a:p>
                      <a:pPr algn="ctr"/>
                      <a:r>
                        <a:rPr lang="en-US" baseline="0" dirty="0"/>
                        <a:t>Major Head :  4059/4216</a:t>
                      </a:r>
                      <a:endParaRPr lang="en-US" dirty="0"/>
                    </a:p>
                  </a:txBody>
                  <a:tcPr/>
                </a:tc>
                <a:tc>
                  <a:txBody>
                    <a:bodyPr/>
                    <a:lstStyle/>
                    <a:p>
                      <a:pPr algn="ctr"/>
                      <a:r>
                        <a:rPr lang="en-US" dirty="0"/>
                        <a:t>Special</a:t>
                      </a:r>
                      <a:r>
                        <a:rPr lang="en-US" baseline="0" dirty="0"/>
                        <a:t> Repairs/Renovation/Minor Works </a:t>
                      </a:r>
                    </a:p>
                    <a:p>
                      <a:pPr algn="ctr"/>
                      <a:r>
                        <a:rPr lang="en-US" baseline="0" dirty="0"/>
                        <a:t>(Revenue Expenditure)</a:t>
                      </a:r>
                    </a:p>
                    <a:p>
                      <a:pPr algn="ctr"/>
                      <a:r>
                        <a:rPr lang="en-US" baseline="0" dirty="0"/>
                        <a:t>Major Head : 2038/2037/2216</a:t>
                      </a:r>
                      <a:endParaRPr lang="en-US" dirty="0"/>
                    </a:p>
                  </a:txBody>
                  <a:tcPr/>
                </a:tc>
                <a:extLst>
                  <a:ext uri="{0D108BD9-81ED-4DB2-BD59-A6C34878D82A}">
                    <a16:rowId xmlns="" xmlns:a16="http://schemas.microsoft.com/office/drawing/2014/main" val="10000"/>
                  </a:ext>
                </a:extLst>
              </a:tr>
              <a:tr h="3723063">
                <a:tc>
                  <a:txBody>
                    <a:bodyPr/>
                    <a:lstStyle/>
                    <a:p>
                      <a:pPr marL="361950" indent="-361950" algn="just">
                        <a:buFont typeface="Wingdings" pitchFamily="2" charset="2"/>
                        <a:buChar char="Ø"/>
                      </a:pPr>
                      <a:r>
                        <a:rPr lang="en-US" sz="2000" dirty="0"/>
                        <a:t>Construction of additional</a:t>
                      </a:r>
                      <a:r>
                        <a:rPr lang="en-US" sz="2000" baseline="0" dirty="0"/>
                        <a:t> floors/conference rooms in office building. </a:t>
                      </a:r>
                    </a:p>
                    <a:p>
                      <a:pPr marL="361950" indent="-361950" algn="just">
                        <a:buFont typeface="Wingdings" pitchFamily="2" charset="2"/>
                        <a:buChar char="Ø"/>
                      </a:pPr>
                      <a:r>
                        <a:rPr lang="en-US" sz="2000" baseline="0" dirty="0"/>
                        <a:t>Replacement/Up-gradation of lifts.</a:t>
                      </a:r>
                    </a:p>
                    <a:p>
                      <a:pPr marL="361950" indent="-361950" algn="just">
                        <a:buFont typeface="Wingdings" pitchFamily="2" charset="2"/>
                        <a:buChar char="Ø"/>
                      </a:pPr>
                      <a:r>
                        <a:rPr lang="en-US" sz="2000" baseline="0" dirty="0"/>
                        <a:t>Installation/Replacement of DG Sets.</a:t>
                      </a:r>
                    </a:p>
                    <a:p>
                      <a:pPr marL="361950" indent="-361950" algn="just">
                        <a:buFont typeface="Wingdings" pitchFamily="2" charset="2"/>
                        <a:buChar char="Ø"/>
                      </a:pPr>
                      <a:r>
                        <a:rPr lang="en-US" sz="2000" baseline="0" dirty="0"/>
                        <a:t>Installation of Deep Tube Wells or Water Reservoirs in Residential Buildings.  </a:t>
                      </a:r>
                    </a:p>
                    <a:p>
                      <a:pPr marL="361950" indent="-361950" algn="just">
                        <a:buFont typeface="Wingdings" pitchFamily="2" charset="2"/>
                        <a:buChar char="Ø"/>
                      </a:pPr>
                      <a:r>
                        <a:rPr lang="en-US" sz="2000" baseline="0" dirty="0"/>
                        <a:t>Major up-gradation work in </a:t>
                      </a:r>
                      <a:r>
                        <a:rPr lang="en-US" sz="2000" baseline="0" dirty="0">
                          <a:solidFill>
                            <a:schemeClr val="tx1"/>
                          </a:solidFill>
                        </a:rPr>
                        <a:t>residential/office buildings in which the expenditure in significant.</a:t>
                      </a:r>
                      <a:endParaRPr lang="en-US" sz="2000" dirty="0">
                        <a:solidFill>
                          <a:schemeClr val="tx1"/>
                        </a:solidFill>
                      </a:endParaRPr>
                    </a:p>
                  </a:txBody>
                  <a:tcPr/>
                </a:tc>
                <a:tc>
                  <a:txBody>
                    <a:bodyPr/>
                    <a:lstStyle/>
                    <a:p>
                      <a:pPr marL="361950" indent="-361950" algn="just">
                        <a:buFont typeface="Wingdings" pitchFamily="2" charset="2"/>
                        <a:buChar char="Ø"/>
                      </a:pPr>
                      <a:r>
                        <a:rPr lang="en-US" sz="2000" dirty="0"/>
                        <a:t>Electrical</a:t>
                      </a:r>
                      <a:r>
                        <a:rPr lang="en-US" sz="2000" baseline="0" dirty="0"/>
                        <a:t> Rewiring of office/residential building.</a:t>
                      </a:r>
                    </a:p>
                    <a:p>
                      <a:pPr marL="361950" indent="-361950" algn="just">
                        <a:buFont typeface="Wingdings" pitchFamily="2" charset="2"/>
                        <a:buChar char="Ø"/>
                      </a:pPr>
                      <a:r>
                        <a:rPr lang="en-US" sz="2000" baseline="0" dirty="0"/>
                        <a:t>Civil up-gradation of office/residential building.</a:t>
                      </a:r>
                    </a:p>
                    <a:p>
                      <a:pPr marL="361950" indent="-361950" algn="just">
                        <a:buFont typeface="Wingdings" pitchFamily="2" charset="2"/>
                        <a:buChar char="Ø"/>
                      </a:pPr>
                      <a:r>
                        <a:rPr lang="en-US" sz="2000" baseline="0" dirty="0"/>
                        <a:t>Annual civil repair and maintenance work in office/residential building.</a:t>
                      </a:r>
                      <a:endParaRPr lang="en-US" sz="2000" dirty="0"/>
                    </a:p>
                  </a:txBody>
                  <a:tcPr/>
                </a:tc>
                <a:extLst>
                  <a:ext uri="{0D108BD9-81ED-4DB2-BD59-A6C34878D82A}">
                    <a16:rowId xmlns="" xmlns:a16="http://schemas.microsoft.com/office/drawing/2014/main" val="10001"/>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35E2A42F-3747-4313-B8AA-F8C71D2DB211}" type="slidenum">
              <a:rPr lang="en-IN" smtClean="0"/>
              <a:pPr/>
              <a:t>43</a:t>
            </a:fld>
            <a:endParaRPr lang="en-IN"/>
          </a:p>
        </p:txBody>
      </p:sp>
      <p:graphicFrame>
        <p:nvGraphicFramePr>
          <p:cNvPr id="4" name="Table 3"/>
          <p:cNvGraphicFramePr>
            <a:graphicFrameLocks noGrp="1"/>
          </p:cNvGraphicFramePr>
          <p:nvPr>
            <p:extLst>
              <p:ext uri="{D42A27DB-BD31-4B8C-83A1-F6EECF244321}">
                <p14:modId xmlns="" xmlns:p14="http://schemas.microsoft.com/office/powerpoint/2010/main" val="1745425006"/>
              </p:ext>
            </p:extLst>
          </p:nvPr>
        </p:nvGraphicFramePr>
        <p:xfrm>
          <a:off x="685800" y="1219200"/>
          <a:ext cx="7704856" cy="3544172"/>
        </p:xfrm>
        <a:graphic>
          <a:graphicData uri="http://schemas.openxmlformats.org/drawingml/2006/table">
            <a:tbl>
              <a:tblPr firstRow="1" bandRow="1">
                <a:tableStyleId>{5C22544A-7EE6-4342-B048-85BDC9FD1C3A}</a:tableStyleId>
              </a:tblPr>
              <a:tblGrid>
                <a:gridCol w="2169328">
                  <a:extLst>
                    <a:ext uri="{9D8B030D-6E8A-4147-A177-3AD203B41FA5}">
                      <a16:colId xmlns="" xmlns:a16="http://schemas.microsoft.com/office/drawing/2014/main" val="20000"/>
                    </a:ext>
                  </a:extLst>
                </a:gridCol>
                <a:gridCol w="2670902">
                  <a:extLst>
                    <a:ext uri="{9D8B030D-6E8A-4147-A177-3AD203B41FA5}">
                      <a16:colId xmlns="" xmlns:a16="http://schemas.microsoft.com/office/drawing/2014/main" val="20001"/>
                    </a:ext>
                  </a:extLst>
                </a:gridCol>
                <a:gridCol w="2864626">
                  <a:extLst>
                    <a:ext uri="{9D8B030D-6E8A-4147-A177-3AD203B41FA5}">
                      <a16:colId xmlns="" xmlns:a16="http://schemas.microsoft.com/office/drawing/2014/main" val="20002"/>
                    </a:ext>
                  </a:extLst>
                </a:gridCol>
              </a:tblGrid>
              <a:tr h="64807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Office</a:t>
                      </a:r>
                      <a:r>
                        <a:rPr lang="en-US" baseline="0" dirty="0"/>
                        <a:t> building </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Residential</a:t>
                      </a:r>
                      <a:r>
                        <a:rPr lang="en-US" baseline="0" dirty="0"/>
                        <a:t> building </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0"/>
                  </a:ext>
                </a:extLst>
              </a:tr>
              <a:tr h="596256">
                <a:tc rowSpan="2">
                  <a:txBody>
                    <a:bodyPr/>
                    <a:lstStyle/>
                    <a:p>
                      <a:pPr algn="ctr"/>
                      <a:r>
                        <a:rPr lang="en-US" b="1" dirty="0"/>
                        <a:t>Revenue</a:t>
                      </a:r>
                    </a:p>
                    <a:p>
                      <a:pPr algn="ctr"/>
                      <a:r>
                        <a:rPr lang="en-US" b="1" dirty="0"/>
                        <a:t>Expenditure</a:t>
                      </a:r>
                    </a:p>
                    <a:p>
                      <a:pPr algn="ct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dirty="0"/>
                        <a:t>2038</a:t>
                      </a:r>
                      <a:r>
                        <a:rPr lang="en-US" baseline="0" dirty="0"/>
                        <a:t> (GST)</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rowSpan="2">
                  <a:txBody>
                    <a:bodyPr/>
                    <a:lstStyle/>
                    <a:p>
                      <a:pPr algn="ctr"/>
                      <a:r>
                        <a:rPr lang="en-US" dirty="0"/>
                        <a:t>2216 (GST &amp; Customs)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 xmlns:a16="http://schemas.microsoft.com/office/drawing/2014/main" val="10001"/>
                  </a:ext>
                </a:extLst>
              </a:tr>
              <a:tr h="596256">
                <a:tc vMerge="1">
                  <a:txBody>
                    <a:bodyPr/>
                    <a:lstStyle/>
                    <a:p>
                      <a:endParaRPr lang="en-US" dirty="0"/>
                    </a:p>
                  </a:txBody>
                  <a:tcPr/>
                </a:tc>
                <a:tc>
                  <a:txBody>
                    <a:bodyPr/>
                    <a:lstStyle/>
                    <a:p>
                      <a:pPr algn="ctr"/>
                      <a:r>
                        <a:rPr lang="en-US" dirty="0"/>
                        <a:t>2037 (Customs)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vMerge="1">
                  <a:txBody>
                    <a:bodyPr/>
                    <a:lstStyle/>
                    <a:p>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2"/>
                  </a:ext>
                </a:extLst>
              </a:tr>
              <a:tr h="1703588">
                <a:tc>
                  <a:txBody>
                    <a:bodyPr/>
                    <a:lstStyle/>
                    <a:p>
                      <a:pPr algn="ctr"/>
                      <a:r>
                        <a:rPr lang="en-US" b="1" dirty="0"/>
                        <a:t>Capital</a:t>
                      </a:r>
                    </a:p>
                    <a:p>
                      <a:pPr algn="ctr"/>
                      <a:r>
                        <a:rPr lang="en-US" b="1" dirty="0"/>
                        <a:t>Expenditure</a:t>
                      </a:r>
                    </a:p>
                    <a:p>
                      <a:endParaRPr lang="en-US" dirty="0"/>
                    </a:p>
                    <a:p>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dirty="0"/>
                        <a:t>4059 (GST &amp; Customs)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en-US" dirty="0"/>
                        <a:t>4216 (GST &amp; Customs)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 xmlns:a16="http://schemas.microsoft.com/office/drawing/2014/main" val="10003"/>
                  </a:ext>
                </a:extLst>
              </a:tr>
            </a:tbl>
          </a:graphicData>
        </a:graphic>
      </p:graphicFrame>
    </p:spTree>
    <p:extLst>
      <p:ext uri="{BB962C8B-B14F-4D97-AF65-F5344CB8AC3E}">
        <p14:creationId xmlns="" xmlns:p14="http://schemas.microsoft.com/office/powerpoint/2010/main" val="517380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4900" b="1" dirty="0">
                <a:solidFill>
                  <a:schemeClr val="accent1">
                    <a:lumMod val="75000"/>
                  </a:schemeClr>
                </a:solidFill>
                <a:latin typeface="Times New Roman" pitchFamily="18" charset="0"/>
                <a:cs typeface="Times New Roman" pitchFamily="18" charset="0"/>
              </a:rPr>
              <a:t>Power to Sanction Works</a:t>
            </a:r>
            <a:r>
              <a:rPr lang="en-IN" sz="4400" b="1" dirty="0">
                <a:latin typeface="Times New Roman" pitchFamily="18" charset="0"/>
                <a:cs typeface="Times New Roman" pitchFamily="18" charset="0"/>
              </a:rPr>
              <a:t/>
            </a:r>
            <a:br>
              <a:rPr lang="en-IN" sz="4400" b="1" dirty="0">
                <a:latin typeface="Times New Roman" pitchFamily="18" charset="0"/>
                <a:cs typeface="Times New Roman" pitchFamily="18" charset="0"/>
              </a:rPr>
            </a:br>
            <a:endParaRPr lang="en-US" dirty="0"/>
          </a:p>
        </p:txBody>
      </p:sp>
      <p:sp>
        <p:nvSpPr>
          <p:cNvPr id="3" name="Content Placeholder 2"/>
          <p:cNvSpPr>
            <a:spLocks noGrp="1"/>
          </p:cNvSpPr>
          <p:nvPr>
            <p:ph sz="quarter" idx="1"/>
          </p:nvPr>
        </p:nvSpPr>
        <p:spPr/>
        <p:txBody>
          <a:bodyPr>
            <a:normAutofit/>
          </a:bodyPr>
          <a:lstStyle/>
          <a:p>
            <a:pPr algn="just"/>
            <a:r>
              <a:rPr lang="en-IN" sz="2000" dirty="0">
                <a:latin typeface="Times New Roman" pitchFamily="18" charset="0"/>
                <a:cs typeface="Times New Roman" pitchFamily="18" charset="0"/>
              </a:rPr>
              <a:t>As per Rule 133 of GFR, 2017:</a:t>
            </a:r>
          </a:p>
          <a:p>
            <a:pPr lvl="0" algn="just"/>
            <a:endParaRPr lang="en-IN" sz="2000" b="1" dirty="0">
              <a:latin typeface="Times New Roman" pitchFamily="18" charset="0"/>
              <a:cs typeface="Times New Roman" pitchFamily="18" charset="0"/>
            </a:endParaRPr>
          </a:p>
          <a:p>
            <a:pPr lvl="1" algn="just"/>
            <a:r>
              <a:rPr lang="en-IN" sz="1700" b="1" dirty="0">
                <a:latin typeface="Times New Roman" pitchFamily="18" charset="0"/>
                <a:cs typeface="Times New Roman" pitchFamily="18" charset="0"/>
              </a:rPr>
              <a:t>‘Works’ </a:t>
            </a:r>
            <a:r>
              <a:rPr lang="en-IN" sz="1700" b="1" dirty="0" err="1">
                <a:latin typeface="Times New Roman" pitchFamily="18" charset="0"/>
                <a:cs typeface="Times New Roman" pitchFamily="18" charset="0"/>
              </a:rPr>
              <a:t>upto</a:t>
            </a:r>
            <a:r>
              <a:rPr lang="en-IN" sz="1700" b="1" dirty="0">
                <a:latin typeface="Times New Roman" pitchFamily="18" charset="0"/>
                <a:cs typeface="Times New Roman" pitchFamily="18" charset="0"/>
              </a:rPr>
              <a:t> ₹ 30 lakhs - Rule 133(1)</a:t>
            </a:r>
            <a:endParaRPr lang="en-IN" sz="1700" dirty="0">
              <a:latin typeface="Times New Roman" pitchFamily="18" charset="0"/>
              <a:cs typeface="Times New Roman" pitchFamily="18" charset="0"/>
            </a:endParaRPr>
          </a:p>
          <a:p>
            <a:pPr marL="0" lvl="0" indent="0" algn="just">
              <a:buNone/>
            </a:pPr>
            <a:endParaRPr lang="en-IN" sz="2000" b="1" dirty="0">
              <a:latin typeface="Times New Roman" pitchFamily="18" charset="0"/>
              <a:cs typeface="Times New Roman" pitchFamily="18" charset="0"/>
            </a:endParaRPr>
          </a:p>
          <a:p>
            <a:pPr lvl="1" algn="just"/>
            <a:r>
              <a:rPr lang="en-IN" sz="1700" b="1" dirty="0">
                <a:latin typeface="Times New Roman" pitchFamily="18" charset="0"/>
                <a:cs typeface="Times New Roman" pitchFamily="18" charset="0"/>
              </a:rPr>
              <a:t>‘Works’ more than ₹ 30 lakhs - Rule 133 (2)</a:t>
            </a:r>
          </a:p>
          <a:p>
            <a:pPr lvl="0" algn="just"/>
            <a:endParaRPr lang="en-IN" sz="2000" dirty="0">
              <a:latin typeface="Times New Roman" pitchFamily="18" charset="0"/>
              <a:cs typeface="Times New Roman" pitchFamily="18" charset="0"/>
            </a:endParaRPr>
          </a:p>
          <a:p>
            <a:pPr algn="just"/>
            <a:r>
              <a:rPr lang="en-IN" sz="2000" b="1" dirty="0">
                <a:latin typeface="Times New Roman" pitchFamily="18" charset="0"/>
                <a:cs typeface="Times New Roman" pitchFamily="18" charset="0"/>
              </a:rPr>
              <a:t> Work may be assigned to:</a:t>
            </a:r>
          </a:p>
          <a:p>
            <a:pPr indent="361950" algn="just">
              <a:buFont typeface="Arial" pitchFamily="34" charset="0"/>
              <a:buChar char="•"/>
            </a:pPr>
            <a:r>
              <a:rPr lang="en-IN" sz="2000" dirty="0">
                <a:latin typeface="Times New Roman" pitchFamily="18" charset="0"/>
                <a:cs typeface="Times New Roman" pitchFamily="18" charset="0"/>
              </a:rPr>
              <a:t>Any Public Works Organisation e.g., CPWD, State PWD.</a:t>
            </a:r>
          </a:p>
          <a:p>
            <a:pPr indent="361950" algn="just">
              <a:buFont typeface="Arial" pitchFamily="34" charset="0"/>
              <a:buChar char="•"/>
            </a:pPr>
            <a:r>
              <a:rPr lang="en-IN" sz="2000" dirty="0">
                <a:latin typeface="Times New Roman" pitchFamily="18" charset="0"/>
                <a:cs typeface="Times New Roman" pitchFamily="18" charset="0"/>
              </a:rPr>
              <a:t>Central Government organizations authorized to carry out civil or electrical works such as Military Engineering Service (MES), Border Roads Organisation (BRO) etc., or Ministry/Department’s construction wings of Ministries of and Departments of Posts, and Space, etc. </a:t>
            </a:r>
            <a:endParaRPr lang="en-IN" sz="2400" dirty="0">
              <a:latin typeface="Times New Roman" pitchFamily="18" charset="0"/>
              <a:cs typeface="Times New Roman" pitchFamily="18" charset="0"/>
            </a:endParaRPr>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35E2A42F-3747-4313-B8AA-F8C71D2DB211}" type="slidenum">
              <a:rPr lang="en-IN" smtClean="0"/>
              <a:pPr/>
              <a:t>45</a:t>
            </a:fld>
            <a:endParaRPr lang="en-IN"/>
          </a:p>
        </p:txBody>
      </p:sp>
      <p:sp>
        <p:nvSpPr>
          <p:cNvPr id="4" name="Rectangle 3"/>
          <p:cNvSpPr/>
          <p:nvPr/>
        </p:nvSpPr>
        <p:spPr>
          <a:xfrm>
            <a:off x="242316" y="1143000"/>
            <a:ext cx="8229600" cy="5632311"/>
          </a:xfrm>
          <a:prstGeom prst="rect">
            <a:avLst/>
          </a:prstGeom>
        </p:spPr>
        <p:txBody>
          <a:bodyPr wrap="square">
            <a:spAutoFit/>
          </a:bodyPr>
          <a:lstStyle/>
          <a:p>
            <a:pPr algn="just"/>
            <a:endParaRPr lang="en-IN" sz="2000" dirty="0">
              <a:latin typeface="Times New Roman" pitchFamily="18" charset="0"/>
              <a:cs typeface="Times New Roman" pitchFamily="18" charset="0"/>
            </a:endParaRPr>
          </a:p>
          <a:p>
            <a:pPr marL="342900" indent="-342900" algn="just">
              <a:buFont typeface="Arial" panose="020B0604020202020204" pitchFamily="34" charset="0"/>
              <a:buChar char="•"/>
            </a:pPr>
            <a:r>
              <a:rPr lang="en-IN" sz="2000" b="1" dirty="0">
                <a:latin typeface="Times New Roman" pitchFamily="18" charset="0"/>
                <a:cs typeface="Times New Roman" pitchFamily="18" charset="0"/>
              </a:rPr>
              <a:t>Rule 133 (3) - </a:t>
            </a:r>
            <a:r>
              <a:rPr lang="en-IN" sz="2000" dirty="0">
                <a:latin typeface="Times New Roman" pitchFamily="18" charset="0"/>
                <a:cs typeface="Times New Roman" pitchFamily="18" charset="0"/>
              </a:rPr>
              <a:t>As an alternative to 133(2), works may be awarded to :</a:t>
            </a:r>
          </a:p>
          <a:p>
            <a:pPr algn="just">
              <a:tabLst>
                <a:tab pos="452438" algn="l"/>
              </a:tabLst>
            </a:pPr>
            <a:endParaRPr lang="en-IN" sz="2000" dirty="0">
              <a:latin typeface="Times New Roman" pitchFamily="18" charset="0"/>
              <a:cs typeface="Times New Roman" pitchFamily="18" charset="0"/>
            </a:endParaRPr>
          </a:p>
          <a:p>
            <a:pPr marL="981075" indent="-981075" algn="just">
              <a:tabLst>
                <a:tab pos="452438" algn="l"/>
              </a:tabLst>
            </a:pPr>
            <a:r>
              <a:rPr lang="en-IN" sz="2000" dirty="0">
                <a:latin typeface="Times New Roman" pitchFamily="18" charset="0"/>
                <a:cs typeface="Times New Roman" pitchFamily="18" charset="0"/>
              </a:rPr>
              <a:t>	(</a:t>
            </a:r>
            <a:r>
              <a:rPr lang="en-IN" sz="2000" dirty="0" err="1">
                <a:latin typeface="Times New Roman" pitchFamily="18" charset="0"/>
                <a:cs typeface="Times New Roman" pitchFamily="18" charset="0"/>
              </a:rPr>
              <a:t>i</a:t>
            </a:r>
            <a:r>
              <a:rPr lang="en-IN" sz="2000" dirty="0">
                <a:latin typeface="Times New Roman" pitchFamily="18" charset="0"/>
                <a:cs typeface="Times New Roman" pitchFamily="18" charset="0"/>
              </a:rPr>
              <a:t>)	any Public Sector Undertaking set up by the Central or State Government to carry out civil or electrical works or,</a:t>
            </a:r>
          </a:p>
          <a:p>
            <a:pPr marL="981075" indent="-981075" algn="just">
              <a:tabLst>
                <a:tab pos="452438" algn="l"/>
              </a:tabLst>
            </a:pPr>
            <a:r>
              <a:rPr lang="en-IN" sz="2000" dirty="0">
                <a:latin typeface="Times New Roman" pitchFamily="18" charset="0"/>
                <a:cs typeface="Times New Roman" pitchFamily="18" charset="0"/>
              </a:rPr>
              <a:t>	(ii)	any other Central/State Government organization/PSU which may be notified by the Ministry of Urban Development (</a:t>
            </a:r>
            <a:r>
              <a:rPr lang="en-IN" sz="2000" dirty="0" err="1">
                <a:latin typeface="Times New Roman" pitchFamily="18" charset="0"/>
                <a:cs typeface="Times New Roman" pitchFamily="18" charset="0"/>
              </a:rPr>
              <a:t>MoUD</a:t>
            </a:r>
            <a:r>
              <a:rPr lang="en-IN" sz="2000" dirty="0">
                <a:latin typeface="Times New Roman" pitchFamily="18" charset="0"/>
                <a:cs typeface="Times New Roman" pitchFamily="18" charset="0"/>
              </a:rPr>
              <a:t>) for such purpose after evaluating their financial strength and technical competence. </a:t>
            </a:r>
          </a:p>
          <a:p>
            <a:pPr marL="981075" indent="-981075" algn="just">
              <a:tabLst>
                <a:tab pos="452438" algn="l"/>
              </a:tabLst>
            </a:pPr>
            <a:endParaRPr lang="en-IN" sz="2000" dirty="0">
              <a:latin typeface="Times New Roman" pitchFamily="18" charset="0"/>
              <a:cs typeface="Times New Roman" pitchFamily="18" charset="0"/>
            </a:endParaRPr>
          </a:p>
          <a:p>
            <a:pPr marL="981075" indent="-981075" algn="just">
              <a:buFont typeface="Arial" panose="020B0604020202020204" pitchFamily="34" charset="0"/>
              <a:buChar char="•"/>
              <a:tabLst>
                <a:tab pos="452438" algn="l"/>
              </a:tabLst>
            </a:pPr>
            <a:r>
              <a:rPr lang="en-IN" sz="2000" dirty="0">
                <a:latin typeface="Times New Roman" pitchFamily="18" charset="0"/>
                <a:cs typeface="Times New Roman" pitchFamily="18" charset="0"/>
              </a:rPr>
              <a:t>For the award of work under this sub-rule, the Ministry/Department shall normally ensure competition among such PSUs/organizations. </a:t>
            </a:r>
            <a:r>
              <a:rPr lang="en-IN" sz="2000" b="1" i="1" dirty="0">
                <a:solidFill>
                  <a:schemeClr val="accent1">
                    <a:lumMod val="75000"/>
                  </a:schemeClr>
                </a:solidFill>
                <a:latin typeface="Times New Roman" pitchFamily="18" charset="0"/>
                <a:cs typeface="Times New Roman" pitchFamily="18" charset="0"/>
              </a:rPr>
              <a:t>This competition shall be essentially on the lump sum service charges to be claimed for the execution of work.</a:t>
            </a:r>
          </a:p>
          <a:p>
            <a:pPr algn="just">
              <a:tabLst>
                <a:tab pos="452438" algn="l"/>
              </a:tabLst>
            </a:pPr>
            <a:endParaRPr lang="en-IN" sz="2000" dirty="0">
              <a:latin typeface="Times New Roman" pitchFamily="18" charset="0"/>
              <a:cs typeface="Times New Roman" pitchFamily="18" charset="0"/>
            </a:endParaRPr>
          </a:p>
          <a:p>
            <a:pPr algn="just"/>
            <a:endParaRPr lang="en-IN" sz="2000" dirty="0">
              <a:latin typeface="Times New Roman" pitchFamily="18" charset="0"/>
              <a:cs typeface="Times New Roman" pitchFamily="18" charset="0"/>
            </a:endParaRPr>
          </a:p>
          <a:p>
            <a:pPr algn="just"/>
            <a:endParaRPr lang="en-IN" sz="2000" dirty="0">
              <a:latin typeface="Times New Roman" pitchFamily="18" charset="0"/>
              <a:cs typeface="Times New Roman" pitchFamily="18" charset="0"/>
            </a:endParaRPr>
          </a:p>
          <a:p>
            <a:pPr algn="just"/>
            <a:r>
              <a:rPr lang="en-IN" sz="2000" dirty="0">
                <a:latin typeface="Times New Roman" pitchFamily="18" charset="0"/>
                <a:cs typeface="Times New Roman" pitchFamily="18" charset="0"/>
              </a:rPr>
              <a:t>	</a:t>
            </a:r>
          </a:p>
        </p:txBody>
      </p:sp>
      <p:sp>
        <p:nvSpPr>
          <p:cNvPr id="5" name="Title 1"/>
          <p:cNvSpPr txBox="1">
            <a:spLocks/>
          </p:cNvSpPr>
          <p:nvPr/>
        </p:nvSpPr>
        <p:spPr>
          <a:xfrm>
            <a:off x="457200" y="274638"/>
            <a:ext cx="7467600" cy="1143000"/>
          </a:xfrm>
          <a:prstGeom prst="rect">
            <a:avLst/>
          </a:prstGeom>
        </p:spPr>
        <p:txBody>
          <a:bodyPr>
            <a:normAutofit fontScale="975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4000" b="1" i="0" u="none" strike="noStrike" kern="1200" cap="small" spc="0" normalizeH="0" baseline="0" noProof="0" dirty="0">
                <a:ln>
                  <a:noFill/>
                </a:ln>
                <a:solidFill>
                  <a:schemeClr val="accent1">
                    <a:lumMod val="75000"/>
                  </a:schemeClr>
                </a:solidFill>
                <a:effectLst/>
                <a:uLnTx/>
                <a:uFillTx/>
                <a:latin typeface="Times New Roman" pitchFamily="18" charset="0"/>
                <a:ea typeface="+mj-ea"/>
                <a:cs typeface="Times New Roman" pitchFamily="18" charset="0"/>
              </a:rPr>
              <a:t>Power to Sanction Works</a:t>
            </a:r>
            <a:r>
              <a:rPr kumimoji="0" lang="en-IN" sz="4400" b="1" i="0" u="none" strike="noStrike" kern="1200" cap="small" spc="0" normalizeH="0" baseline="0" noProof="0" dirty="0">
                <a:ln>
                  <a:noFill/>
                </a:ln>
                <a:solidFill>
                  <a:schemeClr val="tx2"/>
                </a:solidFill>
                <a:effectLst/>
                <a:uLnTx/>
                <a:uFillTx/>
                <a:latin typeface="Times New Roman" pitchFamily="18" charset="0"/>
                <a:ea typeface="+mj-ea"/>
                <a:cs typeface="Times New Roman" pitchFamily="18" charset="0"/>
              </a:rPr>
              <a:t/>
            </a:r>
            <a:br>
              <a:rPr kumimoji="0" lang="en-IN" sz="4400" b="1" i="0" u="none" strike="noStrike" kern="1200" cap="small" spc="0" normalizeH="0" baseline="0" noProof="0" dirty="0">
                <a:ln>
                  <a:noFill/>
                </a:ln>
                <a:solidFill>
                  <a:schemeClr val="tx2"/>
                </a:solidFill>
                <a:effectLst/>
                <a:uLnTx/>
                <a:uFillTx/>
                <a:latin typeface="Times New Roman" pitchFamily="18" charset="0"/>
                <a:ea typeface="+mj-ea"/>
                <a:cs typeface="Times New Roman" pitchFamily="18" charset="0"/>
              </a:rPr>
            </a:b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35E2A42F-3747-4313-B8AA-F8C71D2DB211}" type="slidenum">
              <a:rPr lang="en-IN" smtClean="0"/>
              <a:pPr/>
              <a:t>46</a:t>
            </a:fld>
            <a:endParaRPr lang="en-IN"/>
          </a:p>
        </p:txBody>
      </p:sp>
      <p:sp>
        <p:nvSpPr>
          <p:cNvPr id="4" name="Rectangle 3"/>
          <p:cNvSpPr/>
          <p:nvPr/>
        </p:nvSpPr>
        <p:spPr>
          <a:xfrm>
            <a:off x="457200" y="1219200"/>
            <a:ext cx="8072494" cy="2923877"/>
          </a:xfrm>
          <a:prstGeom prst="rect">
            <a:avLst/>
          </a:prstGeom>
        </p:spPr>
        <p:txBody>
          <a:bodyPr wrap="square">
            <a:spAutoFit/>
          </a:bodyPr>
          <a:lstStyle/>
          <a:p>
            <a:pPr algn="just">
              <a:tabLst>
                <a:tab pos="452438" algn="l"/>
              </a:tabLst>
            </a:pPr>
            <a:r>
              <a:rPr lang="en-IN" sz="2800" b="1" dirty="0">
                <a:latin typeface="Times New Roman" pitchFamily="18" charset="0"/>
                <a:cs typeface="Times New Roman" pitchFamily="18" charset="0"/>
              </a:rPr>
              <a:t>Rule 194 - </a:t>
            </a:r>
            <a:r>
              <a:rPr lang="en-IN" sz="2400" dirty="0">
                <a:latin typeface="Times New Roman" pitchFamily="18" charset="0"/>
                <a:cs typeface="Times New Roman" pitchFamily="18" charset="0"/>
              </a:rPr>
              <a:t>In exceptional cases, for award of work under (</a:t>
            </a:r>
            <a:r>
              <a:rPr lang="en-IN" sz="2400" dirty="0" err="1">
                <a:latin typeface="Times New Roman" pitchFamily="18" charset="0"/>
                <a:cs typeface="Times New Roman" pitchFamily="18" charset="0"/>
              </a:rPr>
              <a:t>i</a:t>
            </a:r>
            <a:r>
              <a:rPr lang="en-IN" sz="2400" dirty="0">
                <a:latin typeface="Times New Roman" pitchFamily="18" charset="0"/>
                <a:cs typeface="Times New Roman" pitchFamily="18" charset="0"/>
              </a:rPr>
              <a:t>) and (ii) above, on nomination basis, the conditions contained in Rule 194 would apply. The work in these cases shall be awarded only on the basis of </a:t>
            </a:r>
            <a:r>
              <a:rPr lang="en-IN" sz="2400" b="1" i="1" dirty="0" err="1">
                <a:latin typeface="Times New Roman" pitchFamily="18" charset="0"/>
                <a:cs typeface="Times New Roman" pitchFamily="18" charset="0"/>
              </a:rPr>
              <a:t>lumpsum</a:t>
            </a:r>
            <a:r>
              <a:rPr lang="en-IN" sz="2400" b="1" i="1" dirty="0">
                <a:latin typeface="Times New Roman" pitchFamily="18" charset="0"/>
                <a:cs typeface="Times New Roman" pitchFamily="18" charset="0"/>
              </a:rPr>
              <a:t> service charge.</a:t>
            </a:r>
          </a:p>
          <a:p>
            <a:pPr algn="just">
              <a:tabLst>
                <a:tab pos="452438" algn="l"/>
              </a:tabLst>
            </a:pPr>
            <a:endParaRPr lang="en-IN" sz="2400" dirty="0">
              <a:latin typeface="Times New Roman" pitchFamily="18" charset="0"/>
              <a:cs typeface="Times New Roman" pitchFamily="18" charset="0"/>
            </a:endParaRPr>
          </a:p>
          <a:p>
            <a:pPr algn="just">
              <a:tabLst>
                <a:tab pos="452438" algn="l"/>
              </a:tabLst>
            </a:pPr>
            <a:r>
              <a:rPr lang="en-IN" sz="2400" dirty="0">
                <a:latin typeface="Times New Roman" pitchFamily="18" charset="0"/>
                <a:cs typeface="Times New Roman" pitchFamily="18" charset="0"/>
              </a:rPr>
              <a:t>e.g., INTACH /ASI for restoration/renovation work in ‘Heritage Buildings’ under the department</a:t>
            </a:r>
            <a:r>
              <a:rPr lang="en-IN" sz="3200" dirty="0">
                <a:latin typeface="Times New Roman" pitchFamily="18" charset="0"/>
                <a:cs typeface="Times New Roman" pitchFamily="18" charset="0"/>
              </a:rPr>
              <a:t>.</a:t>
            </a:r>
          </a:p>
        </p:txBody>
      </p:sp>
      <p:sp>
        <p:nvSpPr>
          <p:cNvPr id="5" name="Title 1"/>
          <p:cNvSpPr txBox="1">
            <a:spLocks/>
          </p:cNvSpPr>
          <p:nvPr/>
        </p:nvSpPr>
        <p:spPr>
          <a:xfrm>
            <a:off x="457200" y="274638"/>
            <a:ext cx="7467600" cy="1143000"/>
          </a:xfrm>
          <a:prstGeom prst="rect">
            <a:avLst/>
          </a:prstGeom>
        </p:spPr>
        <p:txBody>
          <a:bodyPr>
            <a:normAutofit fontScale="975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4000" b="1" i="0" u="none" strike="noStrike" kern="1200" cap="small" spc="0" normalizeH="0" baseline="0" noProof="0" dirty="0">
                <a:ln>
                  <a:noFill/>
                </a:ln>
                <a:solidFill>
                  <a:schemeClr val="accent1">
                    <a:lumMod val="75000"/>
                  </a:schemeClr>
                </a:solidFill>
                <a:effectLst/>
                <a:uLnTx/>
                <a:uFillTx/>
                <a:latin typeface="Times New Roman" pitchFamily="18" charset="0"/>
                <a:ea typeface="+mj-ea"/>
                <a:cs typeface="Times New Roman" pitchFamily="18" charset="0"/>
              </a:rPr>
              <a:t>Power to Sanction Works</a:t>
            </a:r>
            <a:r>
              <a:rPr kumimoji="0" lang="en-IN" sz="4400" b="1" i="0" u="none" strike="noStrike" kern="1200" cap="small" spc="0" normalizeH="0" baseline="0" noProof="0" dirty="0">
                <a:ln>
                  <a:noFill/>
                </a:ln>
                <a:solidFill>
                  <a:schemeClr val="tx2"/>
                </a:solidFill>
                <a:effectLst/>
                <a:uLnTx/>
                <a:uFillTx/>
                <a:latin typeface="Times New Roman" pitchFamily="18" charset="0"/>
                <a:ea typeface="+mj-ea"/>
                <a:cs typeface="Times New Roman" pitchFamily="18" charset="0"/>
              </a:rPr>
              <a:t/>
            </a:r>
            <a:br>
              <a:rPr kumimoji="0" lang="en-IN" sz="4400" b="1" i="0" u="none" strike="noStrike" kern="1200" cap="small" spc="0" normalizeH="0" baseline="0" noProof="0" dirty="0">
                <a:ln>
                  <a:noFill/>
                </a:ln>
                <a:solidFill>
                  <a:schemeClr val="tx2"/>
                </a:solidFill>
                <a:effectLst/>
                <a:uLnTx/>
                <a:uFillTx/>
                <a:latin typeface="Times New Roman" pitchFamily="18" charset="0"/>
                <a:ea typeface="+mj-ea"/>
                <a:cs typeface="Times New Roman" pitchFamily="18" charset="0"/>
              </a:rPr>
            </a:br>
            <a:endParaRPr kumimoji="0" lang="en-US" sz="3000" b="0" i="0" u="none" strike="noStrike" kern="1200" cap="small" spc="0" normalizeH="0" baseline="0" noProof="0" dirty="0">
              <a:ln>
                <a:noFill/>
              </a:ln>
              <a:solidFill>
                <a:schemeClr val="tx2"/>
              </a:solidFill>
              <a:effectLst/>
              <a:uLnTx/>
              <a:uFillTx/>
              <a:latin typeface="+mj-lt"/>
              <a:ea typeface="+mj-ea"/>
              <a:cs typeface="+mj-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35E2A42F-3747-4313-B8AA-F8C71D2DB211}" type="slidenum">
              <a:rPr lang="en-IN" smtClean="0"/>
              <a:pPr/>
              <a:t>47</a:t>
            </a:fld>
            <a:endParaRPr lang="en-IN"/>
          </a:p>
        </p:txBody>
      </p:sp>
      <p:sp>
        <p:nvSpPr>
          <p:cNvPr id="5" name="Rectangle 4"/>
          <p:cNvSpPr/>
          <p:nvPr/>
        </p:nvSpPr>
        <p:spPr>
          <a:xfrm>
            <a:off x="642910" y="428605"/>
            <a:ext cx="7929618" cy="2185214"/>
          </a:xfrm>
          <a:prstGeom prst="rect">
            <a:avLst/>
          </a:prstGeom>
        </p:spPr>
        <p:txBody>
          <a:bodyPr wrap="square">
            <a:spAutoFit/>
          </a:bodyPr>
          <a:lstStyle/>
          <a:p>
            <a:pPr algn="ctr"/>
            <a:r>
              <a:rPr lang="en-IN" sz="2800" b="1" dirty="0">
                <a:solidFill>
                  <a:schemeClr val="accent1">
                    <a:lumMod val="75000"/>
                  </a:schemeClr>
                </a:solidFill>
                <a:latin typeface="Times New Roman" pitchFamily="18" charset="0"/>
                <a:cs typeface="Times New Roman" pitchFamily="18" charset="0"/>
              </a:rPr>
              <a:t>Major Head(s) </a:t>
            </a:r>
          </a:p>
          <a:p>
            <a:pPr algn="ctr"/>
            <a:r>
              <a:rPr lang="en-IN" sz="2800" b="1" dirty="0">
                <a:solidFill>
                  <a:schemeClr val="accent1">
                    <a:lumMod val="75000"/>
                  </a:schemeClr>
                </a:solidFill>
                <a:latin typeface="Times New Roman" pitchFamily="18" charset="0"/>
                <a:cs typeface="Times New Roman" pitchFamily="18" charset="0"/>
              </a:rPr>
              <a:t>As per Nature of Work</a:t>
            </a:r>
          </a:p>
          <a:p>
            <a:pPr algn="ctr"/>
            <a:r>
              <a:rPr lang="en-IN" sz="2800" b="1" dirty="0">
                <a:solidFill>
                  <a:schemeClr val="accent1">
                    <a:lumMod val="75000"/>
                  </a:schemeClr>
                </a:solidFill>
                <a:latin typeface="Times New Roman" pitchFamily="18" charset="0"/>
                <a:cs typeface="Times New Roman" pitchFamily="18" charset="0"/>
              </a:rPr>
              <a:t> </a:t>
            </a:r>
            <a:r>
              <a:rPr lang="en-IN" sz="2000" b="1" dirty="0">
                <a:latin typeface="Times New Roman" pitchFamily="18" charset="0"/>
                <a:cs typeface="Times New Roman" pitchFamily="18" charset="0"/>
              </a:rPr>
              <a:t> </a:t>
            </a:r>
            <a:endParaRPr lang="en-IN" sz="2000" dirty="0"/>
          </a:p>
          <a:p>
            <a:r>
              <a:rPr lang="en-IN" sz="2000" b="1" dirty="0">
                <a:latin typeface="Times New Roman" pitchFamily="18" charset="0"/>
                <a:cs typeface="Times New Roman" pitchFamily="18" charset="0"/>
              </a:rPr>
              <a:t>Grant/Demand No.35-Indirect Taxes:- </a:t>
            </a:r>
          </a:p>
          <a:p>
            <a:r>
              <a:rPr lang="en-IN" sz="1600" b="1" dirty="0">
                <a:latin typeface="Times New Roman" pitchFamily="18" charset="0"/>
                <a:cs typeface="Times New Roman" pitchFamily="18" charset="0"/>
              </a:rPr>
              <a:t> </a:t>
            </a:r>
            <a:endParaRPr lang="en-IN" sz="1600" dirty="0">
              <a:latin typeface="Times New Roman" pitchFamily="18" charset="0"/>
              <a:cs typeface="Times New Roman" pitchFamily="18" charset="0"/>
            </a:endParaRPr>
          </a:p>
          <a:p>
            <a:endParaRPr lang="en-IN" sz="1600" dirty="0"/>
          </a:p>
        </p:txBody>
      </p:sp>
      <p:graphicFrame>
        <p:nvGraphicFramePr>
          <p:cNvPr id="9" name="Table 8"/>
          <p:cNvGraphicFramePr>
            <a:graphicFrameLocks noGrp="1"/>
          </p:cNvGraphicFramePr>
          <p:nvPr>
            <p:extLst>
              <p:ext uri="{D42A27DB-BD31-4B8C-83A1-F6EECF244321}">
                <p14:modId xmlns="" xmlns:p14="http://schemas.microsoft.com/office/powerpoint/2010/main" val="4281850923"/>
              </p:ext>
            </p:extLst>
          </p:nvPr>
        </p:nvGraphicFramePr>
        <p:xfrm>
          <a:off x="228600" y="2362200"/>
          <a:ext cx="8358245" cy="4023360"/>
        </p:xfrm>
        <a:graphic>
          <a:graphicData uri="http://schemas.openxmlformats.org/drawingml/2006/table">
            <a:tbl>
              <a:tblPr/>
              <a:tblGrid>
                <a:gridCol w="5014947">
                  <a:extLst>
                    <a:ext uri="{9D8B030D-6E8A-4147-A177-3AD203B41FA5}">
                      <a16:colId xmlns="" xmlns:a16="http://schemas.microsoft.com/office/drawing/2014/main" val="20000"/>
                    </a:ext>
                  </a:extLst>
                </a:gridCol>
                <a:gridCol w="2202977">
                  <a:extLst>
                    <a:ext uri="{9D8B030D-6E8A-4147-A177-3AD203B41FA5}">
                      <a16:colId xmlns="" xmlns:a16="http://schemas.microsoft.com/office/drawing/2014/main" val="20001"/>
                    </a:ext>
                  </a:extLst>
                </a:gridCol>
                <a:gridCol w="1140321">
                  <a:extLst>
                    <a:ext uri="{9D8B030D-6E8A-4147-A177-3AD203B41FA5}">
                      <a16:colId xmlns="" xmlns:a16="http://schemas.microsoft.com/office/drawing/2014/main" val="20002"/>
                    </a:ext>
                  </a:extLst>
                </a:gridCol>
              </a:tblGrid>
              <a:tr h="660506">
                <a:tc>
                  <a:txBody>
                    <a:bodyPr/>
                    <a:lstStyle/>
                    <a:p>
                      <a:pPr algn="ctr">
                        <a:spcAft>
                          <a:spcPts val="0"/>
                        </a:spcAft>
                      </a:pPr>
                      <a:r>
                        <a:rPr lang="en-IN" sz="2400" b="1" dirty="0">
                          <a:latin typeface="Times New Roman"/>
                          <a:ea typeface="Calibri"/>
                          <a:cs typeface="Times New Roman"/>
                        </a:rPr>
                        <a:t>Item of expenditure</a:t>
                      </a:r>
                      <a:endParaRPr lang="en-IN"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400" b="1" dirty="0">
                          <a:latin typeface="Times New Roman"/>
                          <a:ea typeface="Calibri"/>
                          <a:cs typeface="Times New Roman"/>
                        </a:rPr>
                        <a:t>Object Head</a:t>
                      </a:r>
                      <a:endParaRPr lang="en-IN"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400" b="1" dirty="0">
                          <a:latin typeface="Times New Roman"/>
                          <a:ea typeface="Calibri"/>
                          <a:cs typeface="Times New Roman"/>
                        </a:rPr>
                        <a:t>Major Head</a:t>
                      </a:r>
                      <a:endParaRPr lang="en-IN"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r h="995873">
                <a:tc>
                  <a:txBody>
                    <a:bodyPr/>
                    <a:lstStyle/>
                    <a:p>
                      <a:pPr algn="just">
                        <a:spcAft>
                          <a:spcPts val="0"/>
                        </a:spcAft>
                      </a:pPr>
                      <a:r>
                        <a:rPr lang="en-IN" sz="2400" dirty="0">
                          <a:latin typeface="Times New Roman"/>
                          <a:ea typeface="Calibri"/>
                          <a:cs typeface="Times New Roman"/>
                        </a:rPr>
                        <a:t>Repairs/maintenance (</a:t>
                      </a:r>
                      <a:r>
                        <a:rPr lang="en-IN" sz="2400" i="1" dirty="0">
                          <a:solidFill>
                            <a:srgbClr val="FF0000"/>
                          </a:solidFill>
                          <a:latin typeface="Times New Roman"/>
                          <a:ea typeface="Calibri"/>
                          <a:cs typeface="Times New Roman"/>
                        </a:rPr>
                        <a:t>including special repairs</a:t>
                      </a:r>
                      <a:r>
                        <a:rPr lang="en-IN" sz="2400" dirty="0">
                          <a:latin typeface="Times New Roman"/>
                          <a:ea typeface="Calibri"/>
                          <a:cs typeface="Times New Roman"/>
                        </a:rPr>
                        <a:t>) of Departmental </a:t>
                      </a:r>
                      <a:r>
                        <a:rPr lang="en-IN" sz="2400" dirty="0">
                          <a:solidFill>
                            <a:schemeClr val="accent2">
                              <a:lumMod val="75000"/>
                            </a:schemeClr>
                          </a:solidFill>
                          <a:latin typeface="Times New Roman"/>
                          <a:ea typeface="Calibri"/>
                          <a:cs typeface="Times New Roman"/>
                        </a:rPr>
                        <a:t>Office Building of Customs.</a:t>
                      </a:r>
                      <a:endParaRPr lang="en-IN" sz="2400" dirty="0">
                        <a:solidFill>
                          <a:schemeClr val="accent2">
                            <a:lumMod val="75000"/>
                          </a:schemeClr>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400" dirty="0">
                          <a:latin typeface="Times New Roman"/>
                          <a:ea typeface="Calibri"/>
                          <a:cs typeface="Times New Roman"/>
                        </a:rPr>
                        <a:t>Minor Works</a:t>
                      </a:r>
                      <a:endParaRPr lang="en-IN"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400">
                          <a:latin typeface="Times New Roman"/>
                          <a:ea typeface="Calibri"/>
                          <a:cs typeface="Times New Roman"/>
                        </a:rPr>
                        <a:t>2037</a:t>
                      </a:r>
                      <a:endParaRPr lang="en-IN" sz="24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995873">
                <a:tc>
                  <a:txBody>
                    <a:bodyPr/>
                    <a:lstStyle/>
                    <a:p>
                      <a:pPr algn="just">
                        <a:spcAft>
                          <a:spcPts val="0"/>
                        </a:spcAft>
                      </a:pPr>
                      <a:r>
                        <a:rPr lang="en-IN" sz="2400" dirty="0">
                          <a:latin typeface="Times New Roman"/>
                          <a:ea typeface="Calibri"/>
                          <a:cs typeface="Times New Roman"/>
                        </a:rPr>
                        <a:t>Repairs/maintenance (</a:t>
                      </a:r>
                      <a:r>
                        <a:rPr lang="en-IN" sz="2400" i="1" dirty="0">
                          <a:solidFill>
                            <a:srgbClr val="FF0000"/>
                          </a:solidFill>
                          <a:latin typeface="Times New Roman"/>
                          <a:ea typeface="Calibri"/>
                          <a:cs typeface="Times New Roman"/>
                        </a:rPr>
                        <a:t>including special repairs)</a:t>
                      </a:r>
                      <a:r>
                        <a:rPr lang="en-IN" sz="2400" dirty="0">
                          <a:latin typeface="Times New Roman"/>
                          <a:ea typeface="Calibri"/>
                          <a:cs typeface="Times New Roman"/>
                        </a:rPr>
                        <a:t> of Departmental </a:t>
                      </a:r>
                      <a:r>
                        <a:rPr lang="en-IN" sz="2400" dirty="0">
                          <a:solidFill>
                            <a:schemeClr val="accent2">
                              <a:lumMod val="75000"/>
                            </a:schemeClr>
                          </a:solidFill>
                          <a:latin typeface="Times New Roman"/>
                          <a:ea typeface="Calibri"/>
                          <a:cs typeface="Times New Roman"/>
                        </a:rPr>
                        <a:t>Office Building of Central GST.</a:t>
                      </a:r>
                      <a:endParaRPr lang="en-IN" sz="2400" dirty="0">
                        <a:solidFill>
                          <a:schemeClr val="accent2">
                            <a:lumMod val="75000"/>
                          </a:schemeClr>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400" dirty="0">
                          <a:latin typeface="Times New Roman"/>
                          <a:ea typeface="Calibri"/>
                          <a:cs typeface="Times New Roman"/>
                        </a:rPr>
                        <a:t>Minor Works</a:t>
                      </a:r>
                      <a:endParaRPr lang="en-IN"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400" dirty="0">
                          <a:latin typeface="Times New Roman"/>
                          <a:ea typeface="Calibri"/>
                          <a:cs typeface="Times New Roman"/>
                        </a:rPr>
                        <a:t>2038</a:t>
                      </a:r>
                      <a:endParaRPr lang="en-IN"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r h="834065">
                <a:tc>
                  <a:txBody>
                    <a:bodyPr/>
                    <a:lstStyle/>
                    <a:p>
                      <a:pPr algn="just">
                        <a:spcAft>
                          <a:spcPts val="0"/>
                        </a:spcAft>
                      </a:pPr>
                      <a:r>
                        <a:rPr lang="en-IN" sz="2400" dirty="0">
                          <a:latin typeface="Times New Roman"/>
                          <a:ea typeface="Calibri"/>
                          <a:cs typeface="Times New Roman"/>
                        </a:rPr>
                        <a:t>Repairs/maintenance (</a:t>
                      </a:r>
                      <a:r>
                        <a:rPr lang="en-IN" sz="2400" i="1" dirty="0">
                          <a:solidFill>
                            <a:srgbClr val="FF0000"/>
                          </a:solidFill>
                          <a:latin typeface="Times New Roman"/>
                          <a:ea typeface="Calibri"/>
                          <a:cs typeface="Times New Roman"/>
                        </a:rPr>
                        <a:t>including special repairs</a:t>
                      </a:r>
                      <a:r>
                        <a:rPr lang="en-IN" sz="2400" dirty="0">
                          <a:latin typeface="Times New Roman"/>
                          <a:ea typeface="Calibri"/>
                          <a:cs typeface="Times New Roman"/>
                        </a:rPr>
                        <a:t>)  of </a:t>
                      </a:r>
                      <a:r>
                        <a:rPr lang="en-IN" sz="2400" dirty="0">
                          <a:solidFill>
                            <a:schemeClr val="accent2">
                              <a:lumMod val="75000"/>
                            </a:schemeClr>
                          </a:solidFill>
                          <a:latin typeface="Times New Roman"/>
                          <a:ea typeface="Calibri"/>
                          <a:cs typeface="Times New Roman"/>
                        </a:rPr>
                        <a:t>Departmental Residential Building of Customs and Central GST</a:t>
                      </a:r>
                      <a:r>
                        <a:rPr lang="en-IN" sz="2400" dirty="0">
                          <a:solidFill>
                            <a:schemeClr val="tx2"/>
                          </a:solidFill>
                          <a:latin typeface="Times New Roman"/>
                          <a:ea typeface="Calibri"/>
                          <a:cs typeface="Times New Roman"/>
                        </a:rPr>
                        <a:t>.</a:t>
                      </a:r>
                      <a:endParaRPr lang="en-IN" sz="2400" dirty="0">
                        <a:solidFill>
                          <a:schemeClr val="tx2"/>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400" dirty="0">
                          <a:latin typeface="Times New Roman"/>
                          <a:ea typeface="Calibri"/>
                          <a:cs typeface="Times New Roman"/>
                        </a:rPr>
                        <a:t>Minor Works</a:t>
                      </a:r>
                      <a:endParaRPr lang="en-IN"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400" dirty="0">
                          <a:latin typeface="Times New Roman"/>
                          <a:ea typeface="Calibri"/>
                          <a:cs typeface="Times New Roman"/>
                        </a:rPr>
                        <a:t>2216</a:t>
                      </a:r>
                      <a:endParaRPr lang="en-IN"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14348" y="214290"/>
            <a:ext cx="7858180" cy="461665"/>
          </a:xfrm>
          <a:prstGeom prst="rect">
            <a:avLst/>
          </a:prstGeom>
        </p:spPr>
        <p:txBody>
          <a:bodyPr wrap="square">
            <a:spAutoFit/>
          </a:bodyPr>
          <a:lstStyle/>
          <a:p>
            <a:r>
              <a:rPr lang="en-IN" sz="2400" b="1" dirty="0">
                <a:latin typeface="Times New Roman" pitchFamily="18" charset="0"/>
                <a:cs typeface="Times New Roman" pitchFamily="18" charset="0"/>
              </a:rPr>
              <a:t>Grant /Demand No.35 Indirect Taxes (Lumpsum</a:t>
            </a:r>
            <a:r>
              <a:rPr lang="en-IN" b="1" dirty="0">
                <a:latin typeface="Times New Roman" pitchFamily="18" charset="0"/>
                <a:cs typeface="Times New Roman" pitchFamily="18" charset="0"/>
              </a:rPr>
              <a:t>) </a:t>
            </a:r>
            <a:endParaRPr lang="en-IN" dirty="0">
              <a:latin typeface="Times New Roman" pitchFamily="18" charset="0"/>
              <a:cs typeface="Times New Roman" pitchFamily="18" charset="0"/>
            </a:endParaRPr>
          </a:p>
        </p:txBody>
      </p:sp>
      <p:sp>
        <p:nvSpPr>
          <p:cNvPr id="7" name="Slide Number Placeholder 6"/>
          <p:cNvSpPr>
            <a:spLocks noGrp="1"/>
          </p:cNvSpPr>
          <p:nvPr>
            <p:ph type="sldNum" sz="quarter" idx="12"/>
          </p:nvPr>
        </p:nvSpPr>
        <p:spPr>
          <a:xfrm>
            <a:off x="7924800" y="6215082"/>
            <a:ext cx="762000" cy="365125"/>
          </a:xfrm>
        </p:spPr>
        <p:txBody>
          <a:bodyPr/>
          <a:lstStyle/>
          <a:p>
            <a:fld id="{35E2A42F-3747-4313-B8AA-F8C71D2DB211}" type="slidenum">
              <a:rPr lang="en-IN" smtClean="0"/>
              <a:pPr/>
              <a:t>48</a:t>
            </a:fld>
            <a:endParaRPr lang="en-IN" dirty="0"/>
          </a:p>
        </p:txBody>
      </p:sp>
      <p:graphicFrame>
        <p:nvGraphicFramePr>
          <p:cNvPr id="8" name="Table 7"/>
          <p:cNvGraphicFramePr>
            <a:graphicFrameLocks noGrp="1"/>
          </p:cNvGraphicFramePr>
          <p:nvPr/>
        </p:nvGraphicFramePr>
        <p:xfrm>
          <a:off x="714348" y="1214422"/>
          <a:ext cx="7715304" cy="2479201"/>
        </p:xfrm>
        <a:graphic>
          <a:graphicData uri="http://schemas.openxmlformats.org/drawingml/2006/table">
            <a:tbl>
              <a:tblPr/>
              <a:tblGrid>
                <a:gridCol w="6285972">
                  <a:extLst>
                    <a:ext uri="{9D8B030D-6E8A-4147-A177-3AD203B41FA5}">
                      <a16:colId xmlns="" xmlns:a16="http://schemas.microsoft.com/office/drawing/2014/main" val="20000"/>
                    </a:ext>
                  </a:extLst>
                </a:gridCol>
                <a:gridCol w="1429332">
                  <a:extLst>
                    <a:ext uri="{9D8B030D-6E8A-4147-A177-3AD203B41FA5}">
                      <a16:colId xmlns="" xmlns:a16="http://schemas.microsoft.com/office/drawing/2014/main" val="20001"/>
                    </a:ext>
                  </a:extLst>
                </a:gridCol>
              </a:tblGrid>
              <a:tr h="650401">
                <a:tc>
                  <a:txBody>
                    <a:bodyPr/>
                    <a:lstStyle/>
                    <a:p>
                      <a:pPr algn="just">
                        <a:spcAft>
                          <a:spcPts val="0"/>
                        </a:spcAft>
                      </a:pPr>
                      <a:r>
                        <a:rPr lang="en-IN" sz="2000" b="1" dirty="0">
                          <a:latin typeface="Times New Roman"/>
                          <a:ea typeface="Calibri"/>
                          <a:cs typeface="Times New Roman"/>
                        </a:rPr>
                        <a:t>Item of expenditure</a:t>
                      </a:r>
                      <a:endParaRPr lang="en-IN"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000" b="1" dirty="0">
                          <a:latin typeface="Times New Roman"/>
                          <a:ea typeface="Calibri"/>
                          <a:cs typeface="Times New Roman"/>
                        </a:rPr>
                        <a:t>Major Head</a:t>
                      </a:r>
                      <a:endParaRPr lang="en-IN"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r h="439211">
                <a:tc>
                  <a:txBody>
                    <a:bodyPr/>
                    <a:lstStyle/>
                    <a:p>
                      <a:pPr algn="just">
                        <a:spcAft>
                          <a:spcPts val="0"/>
                        </a:spcAft>
                      </a:pPr>
                      <a:r>
                        <a:rPr lang="en-IN" sz="2000" dirty="0">
                          <a:solidFill>
                            <a:srgbClr val="FF0000"/>
                          </a:solidFill>
                          <a:latin typeface="Times New Roman"/>
                          <a:ea typeface="Calibri"/>
                          <a:cs typeface="Times New Roman"/>
                        </a:rPr>
                        <a:t>Original works</a:t>
                      </a:r>
                      <a:r>
                        <a:rPr lang="en-IN" sz="2000" dirty="0">
                          <a:latin typeface="Times New Roman"/>
                          <a:ea typeface="Calibri"/>
                          <a:cs typeface="Times New Roman"/>
                        </a:rPr>
                        <a:t> of Departmental </a:t>
                      </a:r>
                      <a:r>
                        <a:rPr lang="en-IN" sz="2000" dirty="0">
                          <a:solidFill>
                            <a:srgbClr val="0070C0"/>
                          </a:solidFill>
                          <a:latin typeface="Times New Roman"/>
                          <a:ea typeface="Calibri"/>
                          <a:cs typeface="Times New Roman"/>
                        </a:rPr>
                        <a:t>Office</a:t>
                      </a:r>
                      <a:r>
                        <a:rPr lang="en-IN" sz="2000" dirty="0">
                          <a:latin typeface="Times New Roman"/>
                          <a:ea typeface="Calibri"/>
                          <a:cs typeface="Times New Roman"/>
                        </a:rPr>
                        <a:t> building of </a:t>
                      </a:r>
                      <a:r>
                        <a:rPr lang="en-IN" sz="2000" dirty="0">
                          <a:solidFill>
                            <a:srgbClr val="0070C0"/>
                          </a:solidFill>
                          <a:latin typeface="Times New Roman"/>
                          <a:ea typeface="Calibri"/>
                          <a:cs typeface="Times New Roman"/>
                        </a:rPr>
                        <a:t>Customs</a:t>
                      </a:r>
                      <a:r>
                        <a:rPr lang="en-IN" sz="2000" dirty="0">
                          <a:latin typeface="Times New Roman"/>
                          <a:ea typeface="Calibri"/>
                          <a:cs typeface="Times New Roman"/>
                        </a:rPr>
                        <a:t>.</a:t>
                      </a:r>
                      <a:endParaRPr lang="en-IN"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000" dirty="0">
                          <a:latin typeface="Calibri"/>
                          <a:ea typeface="Calibri"/>
                          <a:cs typeface="Times New Roman"/>
                        </a:rPr>
                        <a:t>4059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439211">
                <a:tc>
                  <a:txBody>
                    <a:bodyPr/>
                    <a:lstStyle/>
                    <a:p>
                      <a:pPr algn="just">
                        <a:spcAft>
                          <a:spcPts val="0"/>
                        </a:spcAft>
                      </a:pPr>
                      <a:r>
                        <a:rPr lang="en-IN" sz="2000" dirty="0">
                          <a:solidFill>
                            <a:srgbClr val="FF0000"/>
                          </a:solidFill>
                          <a:latin typeface="Times New Roman"/>
                          <a:ea typeface="Calibri"/>
                          <a:cs typeface="Times New Roman"/>
                        </a:rPr>
                        <a:t>Original</a:t>
                      </a:r>
                      <a:r>
                        <a:rPr lang="en-IN" sz="2000" baseline="0" dirty="0">
                          <a:solidFill>
                            <a:srgbClr val="FF0000"/>
                          </a:solidFill>
                          <a:latin typeface="Times New Roman"/>
                          <a:ea typeface="Calibri"/>
                          <a:cs typeface="Times New Roman"/>
                        </a:rPr>
                        <a:t> works </a:t>
                      </a:r>
                      <a:r>
                        <a:rPr lang="en-IN" sz="2000" dirty="0">
                          <a:latin typeface="Times New Roman"/>
                          <a:ea typeface="Calibri"/>
                          <a:cs typeface="Times New Roman"/>
                        </a:rPr>
                        <a:t>of Departmental </a:t>
                      </a:r>
                      <a:r>
                        <a:rPr lang="en-IN" sz="2000" dirty="0">
                          <a:solidFill>
                            <a:srgbClr val="0070C0"/>
                          </a:solidFill>
                          <a:latin typeface="Times New Roman"/>
                          <a:ea typeface="Calibri"/>
                          <a:cs typeface="Times New Roman"/>
                        </a:rPr>
                        <a:t>Office</a:t>
                      </a:r>
                      <a:r>
                        <a:rPr lang="en-IN" sz="2000" baseline="0" dirty="0">
                          <a:latin typeface="Times New Roman"/>
                          <a:ea typeface="Calibri"/>
                          <a:cs typeface="Times New Roman"/>
                        </a:rPr>
                        <a:t> </a:t>
                      </a:r>
                      <a:r>
                        <a:rPr lang="en-IN" sz="2000" dirty="0">
                          <a:latin typeface="Times New Roman"/>
                          <a:ea typeface="Calibri"/>
                          <a:cs typeface="Times New Roman"/>
                        </a:rPr>
                        <a:t> Building of </a:t>
                      </a:r>
                      <a:r>
                        <a:rPr lang="en-IN" sz="2000" dirty="0">
                          <a:solidFill>
                            <a:srgbClr val="0070C0"/>
                          </a:solidFill>
                          <a:latin typeface="Times New Roman"/>
                          <a:ea typeface="Calibri"/>
                          <a:cs typeface="Times New Roman"/>
                        </a:rPr>
                        <a:t>Central GST</a:t>
                      </a:r>
                      <a:r>
                        <a:rPr lang="en-IN" sz="2000" dirty="0">
                          <a:latin typeface="Times New Roman"/>
                          <a:ea typeface="Calibri"/>
                          <a:cs typeface="Times New Roman"/>
                        </a:rPr>
                        <a:t>.</a:t>
                      </a:r>
                      <a:endParaRPr lang="en-IN"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000" dirty="0">
                          <a:latin typeface="Times New Roman"/>
                          <a:ea typeface="Calibri"/>
                          <a:cs typeface="Times New Roman"/>
                        </a:rPr>
                        <a:t>4059</a:t>
                      </a:r>
                      <a:endParaRPr lang="en-IN"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r h="542879">
                <a:tc>
                  <a:txBody>
                    <a:bodyPr/>
                    <a:lstStyle/>
                    <a:p>
                      <a:pPr algn="just">
                        <a:spcAft>
                          <a:spcPts val="0"/>
                        </a:spcAft>
                      </a:pPr>
                      <a:r>
                        <a:rPr lang="en-IN" sz="2000" dirty="0">
                          <a:solidFill>
                            <a:srgbClr val="FF0000"/>
                          </a:solidFill>
                          <a:latin typeface="Times New Roman"/>
                          <a:ea typeface="Calibri"/>
                          <a:cs typeface="Times New Roman"/>
                        </a:rPr>
                        <a:t>Original works </a:t>
                      </a:r>
                      <a:r>
                        <a:rPr lang="en-IN" sz="2000" dirty="0">
                          <a:latin typeface="Times New Roman"/>
                          <a:ea typeface="Calibri"/>
                          <a:cs typeface="Times New Roman"/>
                        </a:rPr>
                        <a:t>of Departmental </a:t>
                      </a:r>
                      <a:r>
                        <a:rPr lang="en-IN" sz="2000" dirty="0">
                          <a:solidFill>
                            <a:srgbClr val="0070C0"/>
                          </a:solidFill>
                          <a:latin typeface="Times New Roman"/>
                          <a:ea typeface="Calibri"/>
                          <a:cs typeface="Times New Roman"/>
                        </a:rPr>
                        <a:t>Residential </a:t>
                      </a:r>
                      <a:r>
                        <a:rPr lang="en-IN" sz="2000" dirty="0">
                          <a:latin typeface="Times New Roman"/>
                          <a:ea typeface="Calibri"/>
                          <a:cs typeface="Times New Roman"/>
                        </a:rPr>
                        <a:t> Building of Customs and Central GST.</a:t>
                      </a:r>
                      <a:endParaRPr lang="en-IN"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000" dirty="0">
                          <a:latin typeface="Times New Roman"/>
                          <a:ea typeface="Calibri"/>
                          <a:cs typeface="Times New Roman"/>
                        </a:rPr>
                        <a:t>4216</a:t>
                      </a:r>
                      <a:endParaRPr lang="en-IN"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bl>
          </a:graphicData>
        </a:graphic>
      </p:graphicFrame>
      <p:sp>
        <p:nvSpPr>
          <p:cNvPr id="9" name="Rectangle 8"/>
          <p:cNvSpPr/>
          <p:nvPr/>
        </p:nvSpPr>
        <p:spPr>
          <a:xfrm>
            <a:off x="714348" y="3845486"/>
            <a:ext cx="7215238" cy="369332"/>
          </a:xfrm>
          <a:prstGeom prst="rect">
            <a:avLst/>
          </a:prstGeom>
        </p:spPr>
        <p:txBody>
          <a:bodyPr wrap="square">
            <a:spAutoFit/>
          </a:bodyPr>
          <a:lstStyle/>
          <a:p>
            <a:r>
              <a:rPr lang="en-IN" b="1" dirty="0">
                <a:latin typeface="Times New Roman" pitchFamily="18" charset="0"/>
                <a:cs typeface="Times New Roman" pitchFamily="18" charset="0"/>
              </a:rPr>
              <a:t>Grant/Demand No.95-</a:t>
            </a:r>
            <a:r>
              <a:rPr lang="en-IN" dirty="0">
                <a:latin typeface="Times New Roman" pitchFamily="18" charset="0"/>
                <a:cs typeface="Times New Roman" pitchFamily="18" charset="0"/>
              </a:rPr>
              <a:t>Public Works (in F.Y. 2018-19) </a:t>
            </a:r>
          </a:p>
        </p:txBody>
      </p:sp>
      <p:graphicFrame>
        <p:nvGraphicFramePr>
          <p:cNvPr id="10" name="Table 9"/>
          <p:cNvGraphicFramePr>
            <a:graphicFrameLocks noGrp="1"/>
          </p:cNvGraphicFramePr>
          <p:nvPr/>
        </p:nvGraphicFramePr>
        <p:xfrm>
          <a:off x="785786" y="4416919"/>
          <a:ext cx="7715304" cy="1869601"/>
        </p:xfrm>
        <a:graphic>
          <a:graphicData uri="http://schemas.openxmlformats.org/drawingml/2006/table">
            <a:tbl>
              <a:tblPr/>
              <a:tblGrid>
                <a:gridCol w="6130375">
                  <a:extLst>
                    <a:ext uri="{9D8B030D-6E8A-4147-A177-3AD203B41FA5}">
                      <a16:colId xmlns="" xmlns:a16="http://schemas.microsoft.com/office/drawing/2014/main" val="20000"/>
                    </a:ext>
                  </a:extLst>
                </a:gridCol>
                <a:gridCol w="1584929">
                  <a:extLst>
                    <a:ext uri="{9D8B030D-6E8A-4147-A177-3AD203B41FA5}">
                      <a16:colId xmlns="" xmlns:a16="http://schemas.microsoft.com/office/drawing/2014/main" val="20001"/>
                    </a:ext>
                  </a:extLst>
                </a:gridCol>
              </a:tblGrid>
              <a:tr h="650401">
                <a:tc>
                  <a:txBody>
                    <a:bodyPr/>
                    <a:lstStyle/>
                    <a:p>
                      <a:pPr algn="just">
                        <a:spcAft>
                          <a:spcPts val="0"/>
                        </a:spcAft>
                      </a:pPr>
                      <a:r>
                        <a:rPr lang="en-IN" sz="2000" b="1" dirty="0">
                          <a:latin typeface="Times New Roman"/>
                          <a:ea typeface="Calibri"/>
                          <a:cs typeface="Times New Roman"/>
                        </a:rPr>
                        <a:t>Item of expenditure</a:t>
                      </a:r>
                      <a:endParaRPr lang="en-IN"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IN" sz="2000" b="1" dirty="0">
                          <a:latin typeface="Times New Roman"/>
                          <a:ea typeface="Calibri"/>
                          <a:cs typeface="Times New Roman"/>
                        </a:rPr>
                        <a:t>Major Head</a:t>
                      </a:r>
                      <a:endParaRPr lang="en-IN"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r h="439211">
                <a:tc>
                  <a:txBody>
                    <a:bodyPr/>
                    <a:lstStyle/>
                    <a:p>
                      <a:pPr algn="just">
                        <a:spcAft>
                          <a:spcPts val="0"/>
                        </a:spcAft>
                      </a:pPr>
                      <a:r>
                        <a:rPr lang="en-IN" sz="2000" dirty="0">
                          <a:solidFill>
                            <a:srgbClr val="FF0000"/>
                          </a:solidFill>
                          <a:latin typeface="Times New Roman"/>
                          <a:ea typeface="Calibri"/>
                          <a:cs typeface="Times New Roman"/>
                        </a:rPr>
                        <a:t>Original Works </a:t>
                      </a:r>
                      <a:r>
                        <a:rPr lang="en-IN" sz="2000" dirty="0">
                          <a:latin typeface="Times New Roman"/>
                          <a:ea typeface="Calibri"/>
                          <a:cs typeface="Times New Roman"/>
                        </a:rPr>
                        <a:t>of </a:t>
                      </a:r>
                      <a:r>
                        <a:rPr lang="en-IN" sz="2000" dirty="0">
                          <a:solidFill>
                            <a:srgbClr val="0070C0"/>
                          </a:solidFill>
                          <a:latin typeface="Times New Roman"/>
                          <a:ea typeface="Calibri"/>
                          <a:cs typeface="Times New Roman"/>
                        </a:rPr>
                        <a:t>Office</a:t>
                      </a:r>
                      <a:r>
                        <a:rPr lang="en-IN" sz="2000" dirty="0">
                          <a:latin typeface="Times New Roman"/>
                          <a:ea typeface="Calibri"/>
                          <a:cs typeface="Times New Roman"/>
                        </a:rPr>
                        <a:t> Building for </a:t>
                      </a:r>
                      <a:r>
                        <a:rPr lang="en-IN" sz="2000" dirty="0">
                          <a:solidFill>
                            <a:srgbClr val="0070C0"/>
                          </a:solidFill>
                          <a:latin typeface="Times New Roman"/>
                          <a:ea typeface="Calibri"/>
                          <a:cs typeface="Times New Roman"/>
                        </a:rPr>
                        <a:t>Customs and Central GST</a:t>
                      </a:r>
                      <a:r>
                        <a:rPr lang="en-IN" sz="2000" dirty="0">
                          <a:latin typeface="Times New Roman"/>
                          <a:ea typeface="Calibri"/>
                          <a:cs typeface="Times New Roman"/>
                        </a:rPr>
                        <a:t>. </a:t>
                      </a:r>
                      <a:endParaRPr lang="en-IN"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000" dirty="0">
                          <a:latin typeface="Times New Roman"/>
                          <a:ea typeface="Calibri"/>
                          <a:cs typeface="Times New Roman"/>
                        </a:rPr>
                        <a:t>4059 (</a:t>
                      </a:r>
                      <a:r>
                        <a:rPr lang="en-IN" sz="2000" dirty="0" err="1">
                          <a:latin typeface="Times New Roman"/>
                          <a:ea typeface="Calibri"/>
                          <a:cs typeface="Times New Roman"/>
                        </a:rPr>
                        <a:t>Lumpsum</a:t>
                      </a:r>
                      <a:r>
                        <a:rPr lang="en-IN" sz="2000" dirty="0">
                          <a:latin typeface="Times New Roman"/>
                          <a:ea typeface="Calibri"/>
                          <a:cs typeface="Times New Roman"/>
                        </a:rPr>
                        <a:t>)</a:t>
                      </a:r>
                      <a:endParaRPr lang="en-IN"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542879">
                <a:tc>
                  <a:txBody>
                    <a:bodyPr/>
                    <a:lstStyle/>
                    <a:p>
                      <a:pPr algn="just">
                        <a:spcAft>
                          <a:spcPts val="0"/>
                        </a:spcAft>
                      </a:pPr>
                      <a:r>
                        <a:rPr lang="en-IN" sz="2000" dirty="0">
                          <a:solidFill>
                            <a:srgbClr val="FF0000"/>
                          </a:solidFill>
                          <a:latin typeface="Times New Roman"/>
                          <a:ea typeface="Calibri"/>
                          <a:cs typeface="Times New Roman"/>
                        </a:rPr>
                        <a:t>Original Works </a:t>
                      </a:r>
                      <a:r>
                        <a:rPr lang="en-IN" sz="2000" dirty="0">
                          <a:latin typeface="Times New Roman"/>
                          <a:ea typeface="Calibri"/>
                          <a:cs typeface="Times New Roman"/>
                        </a:rPr>
                        <a:t>of </a:t>
                      </a:r>
                      <a:r>
                        <a:rPr lang="en-IN" sz="2000" dirty="0">
                          <a:solidFill>
                            <a:srgbClr val="0070C0"/>
                          </a:solidFill>
                          <a:latin typeface="Times New Roman"/>
                          <a:ea typeface="Calibri"/>
                          <a:cs typeface="Times New Roman"/>
                        </a:rPr>
                        <a:t>Residential</a:t>
                      </a:r>
                      <a:r>
                        <a:rPr lang="en-IN" sz="2000" dirty="0">
                          <a:latin typeface="Times New Roman"/>
                          <a:ea typeface="Calibri"/>
                          <a:cs typeface="Times New Roman"/>
                        </a:rPr>
                        <a:t> Building for Customs and Central GST. </a:t>
                      </a:r>
                      <a:endParaRPr lang="en-IN"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IN" sz="2000" dirty="0">
                          <a:latin typeface="Times New Roman"/>
                          <a:ea typeface="Calibri"/>
                          <a:cs typeface="Times New Roman"/>
                        </a:rPr>
                        <a:t>4216</a:t>
                      </a:r>
                    </a:p>
                    <a:p>
                      <a:pPr algn="ctr">
                        <a:spcAft>
                          <a:spcPts val="0"/>
                        </a:spcAft>
                      </a:pPr>
                      <a:r>
                        <a:rPr lang="en-IN" sz="2000" dirty="0">
                          <a:latin typeface="Times New Roman"/>
                          <a:ea typeface="Calibri"/>
                          <a:cs typeface="Times New Roman"/>
                        </a:rPr>
                        <a:t>(</a:t>
                      </a:r>
                      <a:r>
                        <a:rPr lang="en-IN" sz="2000" dirty="0" err="1">
                          <a:latin typeface="Times New Roman"/>
                          <a:ea typeface="Calibri"/>
                          <a:cs typeface="Times New Roman"/>
                        </a:rPr>
                        <a:t>Lumpsum</a:t>
                      </a:r>
                      <a:r>
                        <a:rPr lang="en-IN" sz="2000" dirty="0">
                          <a:latin typeface="Times New Roman"/>
                          <a:ea typeface="Calibri"/>
                          <a:cs typeface="Times New Roman"/>
                        </a:rPr>
                        <a:t>)</a:t>
                      </a:r>
                      <a:endParaRPr lang="en-IN"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304800" y="228600"/>
            <a:ext cx="8424936" cy="175432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r>
              <a:rPr lang="en-IN" sz="2400" b="1" dirty="0">
                <a:solidFill>
                  <a:schemeClr val="accent1">
                    <a:lumMod val="75000"/>
                  </a:schemeClr>
                </a:solidFill>
                <a:latin typeface="Times New Roman" pitchFamily="18" charset="0"/>
                <a:cs typeface="Times New Roman" pitchFamily="18" charset="0"/>
              </a:rPr>
              <a:t>DELEGATION OF FINANCIAL POWERS TO THE </a:t>
            </a:r>
            <a:r>
              <a:rPr lang="en-IN" sz="2400" b="1" dirty="0" err="1">
                <a:solidFill>
                  <a:schemeClr val="accent1">
                    <a:lumMod val="75000"/>
                  </a:schemeClr>
                </a:solidFill>
                <a:latin typeface="Times New Roman" pitchFamily="18" charset="0"/>
                <a:cs typeface="Times New Roman" pitchFamily="18" charset="0"/>
              </a:rPr>
              <a:t>HoDs</a:t>
            </a:r>
            <a:endParaRPr lang="en-IN" sz="2400" dirty="0">
              <a:solidFill>
                <a:schemeClr val="accent1">
                  <a:lumMod val="75000"/>
                </a:schemeClr>
              </a:solidFill>
              <a:latin typeface="Times New Roman" pitchFamily="18" charset="0"/>
              <a:cs typeface="Times New Roman" pitchFamily="18" charset="0"/>
            </a:endParaRPr>
          </a:p>
          <a:p>
            <a:pPr algn="just"/>
            <a:r>
              <a:rPr lang="en-IN" sz="2000" b="1" dirty="0">
                <a:latin typeface="Times New Roman" pitchFamily="18" charset="0"/>
                <a:cs typeface="Times New Roman" pitchFamily="18" charset="0"/>
              </a:rPr>
              <a:t> </a:t>
            </a:r>
          </a:p>
          <a:p>
            <a:pPr algn="just"/>
            <a:r>
              <a:rPr lang="en-IN" sz="2000" dirty="0">
                <a:latin typeface="Times New Roman" pitchFamily="18" charset="0"/>
                <a:cs typeface="Times New Roman" pitchFamily="18" charset="0"/>
              </a:rPr>
              <a:t>As per Ministry of Finance O.M. Dated 15.09.2011-The Financial Power(s) of HOD is </a:t>
            </a:r>
            <a:r>
              <a:rPr lang="en-US" sz="2000" b="1" dirty="0">
                <a:solidFill>
                  <a:schemeClr val="accent1">
                    <a:lumMod val="75000"/>
                  </a:schemeClr>
                </a:solidFill>
              </a:rPr>
              <a:t>₹</a:t>
            </a:r>
            <a:r>
              <a:rPr lang="en-IN" sz="2000" b="1" dirty="0">
                <a:solidFill>
                  <a:schemeClr val="accent1">
                    <a:lumMod val="75000"/>
                  </a:schemeClr>
                </a:solidFill>
                <a:latin typeface="Times New Roman" pitchFamily="18" charset="0"/>
                <a:cs typeface="Times New Roman" pitchFamily="18" charset="0"/>
              </a:rPr>
              <a:t> 30 lakh per annum </a:t>
            </a:r>
            <a:r>
              <a:rPr lang="en-IN" sz="2000" dirty="0">
                <a:latin typeface="Times New Roman" pitchFamily="18" charset="0"/>
                <a:cs typeface="Times New Roman" pitchFamily="18" charset="0"/>
              </a:rPr>
              <a:t>which is </a:t>
            </a:r>
            <a:r>
              <a:rPr lang="en-IN" sz="2000" b="1" i="1" dirty="0">
                <a:solidFill>
                  <a:schemeClr val="accent1">
                    <a:lumMod val="75000"/>
                  </a:schemeClr>
                </a:solidFill>
                <a:latin typeface="Times New Roman" pitchFamily="18" charset="0"/>
                <a:cs typeface="Times New Roman" pitchFamily="18" charset="0"/>
              </a:rPr>
              <a:t>inclusive</a:t>
            </a:r>
            <a:r>
              <a:rPr lang="en-IN" sz="2000" dirty="0">
                <a:latin typeface="Times New Roman" pitchFamily="18" charset="0"/>
                <a:cs typeface="Times New Roman" pitchFamily="18" charset="0"/>
              </a:rPr>
              <a:t> of repair works in Office (MH 2037/2038) and Residential (MH 2216</a:t>
            </a:r>
            <a:r>
              <a:rPr lang="en-IN" sz="2400" dirty="0">
                <a:latin typeface="Times New Roman" pitchFamily="18" charset="0"/>
                <a:cs typeface="Times New Roman" pitchFamily="18" charset="0"/>
              </a:rPr>
              <a:t>)</a:t>
            </a:r>
          </a:p>
        </p:txBody>
      </p:sp>
      <p:sp>
        <p:nvSpPr>
          <p:cNvPr id="5" name="Slide Number Placeholder 4"/>
          <p:cNvSpPr>
            <a:spLocks noGrp="1"/>
          </p:cNvSpPr>
          <p:nvPr>
            <p:ph type="sldNum" sz="quarter" idx="12"/>
          </p:nvPr>
        </p:nvSpPr>
        <p:spPr>
          <a:xfrm>
            <a:off x="7924800" y="6286520"/>
            <a:ext cx="762000" cy="365125"/>
          </a:xfrm>
        </p:spPr>
        <p:txBody>
          <a:bodyPr/>
          <a:lstStyle/>
          <a:p>
            <a:fld id="{35E2A42F-3747-4313-B8AA-F8C71D2DB211}" type="slidenum">
              <a:rPr lang="en-IN" smtClean="0"/>
              <a:pPr/>
              <a:t>49</a:t>
            </a:fld>
            <a:endParaRPr lang="en-IN" dirty="0"/>
          </a:p>
        </p:txBody>
      </p:sp>
      <p:graphicFrame>
        <p:nvGraphicFramePr>
          <p:cNvPr id="6" name="Table 5"/>
          <p:cNvGraphicFramePr>
            <a:graphicFrameLocks noGrp="1"/>
          </p:cNvGraphicFramePr>
          <p:nvPr/>
        </p:nvGraphicFramePr>
        <p:xfrm>
          <a:off x="304800" y="2286000"/>
          <a:ext cx="8215370" cy="4262628"/>
        </p:xfrm>
        <a:graphic>
          <a:graphicData uri="http://schemas.openxmlformats.org/drawingml/2006/table">
            <a:tbl>
              <a:tblPr/>
              <a:tblGrid>
                <a:gridCol w="659349">
                  <a:extLst>
                    <a:ext uri="{9D8B030D-6E8A-4147-A177-3AD203B41FA5}">
                      <a16:colId xmlns="" xmlns:a16="http://schemas.microsoft.com/office/drawing/2014/main" val="20000"/>
                    </a:ext>
                  </a:extLst>
                </a:gridCol>
                <a:gridCol w="4269873">
                  <a:extLst>
                    <a:ext uri="{9D8B030D-6E8A-4147-A177-3AD203B41FA5}">
                      <a16:colId xmlns="" xmlns:a16="http://schemas.microsoft.com/office/drawing/2014/main" val="20001"/>
                    </a:ext>
                  </a:extLst>
                </a:gridCol>
                <a:gridCol w="928694">
                  <a:extLst>
                    <a:ext uri="{9D8B030D-6E8A-4147-A177-3AD203B41FA5}">
                      <a16:colId xmlns="" xmlns:a16="http://schemas.microsoft.com/office/drawing/2014/main" val="20002"/>
                    </a:ext>
                  </a:extLst>
                </a:gridCol>
                <a:gridCol w="2357454">
                  <a:extLst>
                    <a:ext uri="{9D8B030D-6E8A-4147-A177-3AD203B41FA5}">
                      <a16:colId xmlns="" xmlns:a16="http://schemas.microsoft.com/office/drawing/2014/main" val="20003"/>
                    </a:ext>
                  </a:extLst>
                </a:gridCol>
              </a:tblGrid>
              <a:tr h="650401">
                <a:tc>
                  <a:txBody>
                    <a:bodyPr/>
                    <a:lstStyle/>
                    <a:p>
                      <a:pPr algn="ctr">
                        <a:lnSpc>
                          <a:spcPct val="115000"/>
                        </a:lnSpc>
                        <a:spcAft>
                          <a:spcPts val="1000"/>
                        </a:spcAft>
                      </a:pPr>
                      <a:r>
                        <a:rPr lang="en-IN" sz="1800" b="1" dirty="0" err="1">
                          <a:latin typeface="Times New Roman" pitchFamily="18" charset="0"/>
                          <a:ea typeface="Calibri"/>
                          <a:cs typeface="Times New Roman" pitchFamily="18" charset="0"/>
                        </a:rPr>
                        <a:t>S.No</a:t>
                      </a:r>
                      <a:r>
                        <a:rPr lang="en-IN" sz="1800" b="1" dirty="0">
                          <a:latin typeface="Times New Roman" pitchFamily="18" charset="0"/>
                          <a:ea typeface="Calibri"/>
                          <a:cs typeface="Times New Roman" pitchFamily="18" charset="0"/>
                        </a:rPr>
                        <a:t>.</a:t>
                      </a:r>
                      <a:r>
                        <a:rPr lang="en-IN" sz="1800" dirty="0">
                          <a:latin typeface="Times New Roman" pitchFamily="18" charset="0"/>
                          <a:ea typeface="Calibri"/>
                          <a:cs typeface="Times New Roman" pitchFamily="18" charset="0"/>
                        </a:rPr>
                        <a:t> </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IN" sz="1800" b="1" dirty="0">
                          <a:latin typeface="Times New Roman" pitchFamily="18" charset="0"/>
                          <a:ea typeface="Calibri"/>
                          <a:cs typeface="Times New Roman" pitchFamily="18" charset="0"/>
                        </a:rPr>
                        <a:t>Item of Expenditure/Subject </a:t>
                      </a:r>
                      <a:endParaRPr lang="en-IN" sz="1800" dirty="0">
                        <a:latin typeface="Times New Roman" pitchFamily="18" charset="0"/>
                        <a:ea typeface="Calibri"/>
                        <a:cs typeface="Times New Roman" pitchFamily="18" charset="0"/>
                      </a:endParaRPr>
                    </a:p>
                    <a:p>
                      <a:pPr algn="l">
                        <a:lnSpc>
                          <a:spcPct val="115000"/>
                        </a:lnSpc>
                        <a:spcAft>
                          <a:spcPts val="1000"/>
                        </a:spcAft>
                      </a:pPr>
                      <a:r>
                        <a:rPr lang="en-IN" sz="1800" b="1" dirty="0">
                          <a:latin typeface="Times New Roman" pitchFamily="18" charset="0"/>
                          <a:ea typeface="Calibri"/>
                          <a:cs typeface="Times New Roman" pitchFamily="18" charset="0"/>
                        </a:rPr>
                        <a:t>(Nature of Work)</a:t>
                      </a:r>
                      <a:r>
                        <a:rPr lang="en-IN" sz="1800" dirty="0">
                          <a:latin typeface="Times New Roman" pitchFamily="18" charset="0"/>
                          <a:ea typeface="Calibri"/>
                          <a:cs typeface="Times New Roman" pitchFamily="18" charset="0"/>
                        </a:rPr>
                        <a:t> </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IN" sz="1800" b="1" dirty="0">
                          <a:latin typeface="Times New Roman" pitchFamily="18" charset="0"/>
                          <a:ea typeface="Calibri"/>
                          <a:cs typeface="Times New Roman" pitchFamily="18" charset="0"/>
                        </a:rPr>
                        <a:t>Budget Head</a:t>
                      </a:r>
                      <a:r>
                        <a:rPr lang="en-IN" sz="1800" dirty="0">
                          <a:latin typeface="Times New Roman" pitchFamily="18" charset="0"/>
                          <a:ea typeface="Calibri"/>
                          <a:cs typeface="Times New Roman" pitchFamily="18" charset="0"/>
                        </a:rPr>
                        <a:t> </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IN" sz="1800" b="1" dirty="0">
                          <a:latin typeface="Times New Roman" pitchFamily="18" charset="0"/>
                          <a:ea typeface="Calibri"/>
                          <a:cs typeface="Times New Roman" pitchFamily="18" charset="0"/>
                        </a:rPr>
                        <a:t>Power delegated to</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r h="439211">
                <a:tc>
                  <a:txBody>
                    <a:bodyPr/>
                    <a:lstStyle/>
                    <a:p>
                      <a:pPr algn="ctr">
                        <a:lnSpc>
                          <a:spcPct val="115000"/>
                        </a:lnSpc>
                        <a:spcAft>
                          <a:spcPts val="1000"/>
                        </a:spcAft>
                      </a:pPr>
                      <a:r>
                        <a:rPr lang="en-IN" sz="1800" dirty="0">
                          <a:latin typeface="Times New Roman" pitchFamily="18" charset="0"/>
                          <a:ea typeface="Calibri"/>
                          <a:cs typeface="Times New Roman" pitchFamily="18" charset="0"/>
                        </a:rPr>
                        <a:t>1 </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IN" sz="1800" dirty="0">
                          <a:latin typeface="Times New Roman" pitchFamily="18" charset="0"/>
                          <a:ea typeface="Calibri"/>
                          <a:cs typeface="Times New Roman" pitchFamily="18" charset="0"/>
                        </a:rPr>
                        <a:t>Repairs/Maintenance of Departmental Office Building of Customs. </a:t>
                      </a:r>
                    </a:p>
                    <a:p>
                      <a:pPr algn="l">
                        <a:lnSpc>
                          <a:spcPct val="115000"/>
                        </a:lnSpc>
                        <a:spcAft>
                          <a:spcPts val="1000"/>
                        </a:spcAft>
                      </a:pPr>
                      <a:r>
                        <a:rPr lang="en-IN" sz="1800" b="1" dirty="0">
                          <a:latin typeface="Times New Roman" pitchFamily="18" charset="0"/>
                          <a:ea typeface="Calibri"/>
                          <a:cs typeface="Times New Roman" pitchFamily="18" charset="0"/>
                        </a:rPr>
                        <a:t>(Minor Works) </a:t>
                      </a:r>
                      <a:r>
                        <a:rPr lang="en-IN" sz="1800" dirty="0">
                          <a:latin typeface="Times New Roman" pitchFamily="18" charset="0"/>
                          <a:ea typeface="Calibri"/>
                          <a:cs typeface="Times New Roman" pitchFamily="18" charset="0"/>
                        </a:rPr>
                        <a:t>through CBIC.</a:t>
                      </a:r>
                      <a:r>
                        <a:rPr lang="en-IN" sz="1800" b="1" dirty="0">
                          <a:latin typeface="Times New Roman" pitchFamily="18" charset="0"/>
                          <a:ea typeface="Calibri"/>
                          <a:cs typeface="Times New Roman" pitchFamily="18" charset="0"/>
                        </a:rPr>
                        <a:t> </a:t>
                      </a:r>
                      <a:endParaRPr lang="en-IN" sz="1800" dirty="0">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IN" sz="1800" b="1" dirty="0">
                          <a:latin typeface="Times New Roman" pitchFamily="18" charset="0"/>
                          <a:ea typeface="Calibri"/>
                          <a:cs typeface="Times New Roman" pitchFamily="18" charset="0"/>
                        </a:rPr>
                        <a:t>2037 </a:t>
                      </a:r>
                      <a:endParaRPr lang="en-IN" sz="1800" dirty="0">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IN" sz="1800" dirty="0">
                          <a:latin typeface="Times New Roman" pitchFamily="18" charset="0"/>
                          <a:ea typeface="Calibri"/>
                          <a:cs typeface="Times New Roman" pitchFamily="18" charset="0"/>
                        </a:rPr>
                        <a:t>Pr.</a:t>
                      </a:r>
                      <a:r>
                        <a:rPr lang="en-IN" sz="1800" baseline="0" dirty="0">
                          <a:latin typeface="Times New Roman" pitchFamily="18" charset="0"/>
                          <a:ea typeface="Calibri"/>
                          <a:cs typeface="Times New Roman" pitchFamily="18" charset="0"/>
                        </a:rPr>
                        <a:t> Commissioner/</a:t>
                      </a:r>
                    </a:p>
                    <a:p>
                      <a:pPr algn="ctr">
                        <a:lnSpc>
                          <a:spcPct val="115000"/>
                        </a:lnSpc>
                        <a:spcAft>
                          <a:spcPts val="1000"/>
                        </a:spcAft>
                      </a:pPr>
                      <a:r>
                        <a:rPr lang="en-IN" sz="1800" baseline="0" dirty="0">
                          <a:latin typeface="Times New Roman" pitchFamily="18" charset="0"/>
                          <a:ea typeface="Calibri"/>
                          <a:cs typeface="Times New Roman" pitchFamily="18" charset="0"/>
                        </a:rPr>
                        <a:t>Commissioner</a:t>
                      </a:r>
                      <a:endParaRPr lang="en-IN" sz="1800" b="0" dirty="0">
                        <a:solidFill>
                          <a:schemeClr val="tx1"/>
                        </a:solidFill>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1094921">
                <a:tc>
                  <a:txBody>
                    <a:bodyPr/>
                    <a:lstStyle/>
                    <a:p>
                      <a:pPr algn="ctr">
                        <a:lnSpc>
                          <a:spcPct val="115000"/>
                        </a:lnSpc>
                        <a:spcAft>
                          <a:spcPts val="1000"/>
                        </a:spcAft>
                      </a:pPr>
                      <a:r>
                        <a:rPr lang="en-IN" sz="1800">
                          <a:latin typeface="Times New Roman" pitchFamily="18" charset="0"/>
                          <a:ea typeface="Calibri"/>
                          <a:cs typeface="Times New Roman" pitchFamily="18" charset="0"/>
                        </a:rPr>
                        <a:t>2 </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IN" sz="1800" dirty="0">
                          <a:latin typeface="Times New Roman" pitchFamily="18" charset="0"/>
                          <a:ea typeface="Calibri"/>
                          <a:cs typeface="Times New Roman" pitchFamily="18" charset="0"/>
                        </a:rPr>
                        <a:t>Repairs/Maintenance of Departmental Office Building of Central GST. </a:t>
                      </a:r>
                    </a:p>
                    <a:p>
                      <a:pPr algn="l">
                        <a:lnSpc>
                          <a:spcPct val="115000"/>
                        </a:lnSpc>
                        <a:spcAft>
                          <a:spcPts val="1000"/>
                        </a:spcAft>
                      </a:pPr>
                      <a:r>
                        <a:rPr lang="en-IN" sz="1800" b="1" dirty="0">
                          <a:latin typeface="Times New Roman" pitchFamily="18" charset="0"/>
                          <a:ea typeface="Calibri"/>
                          <a:cs typeface="Times New Roman" pitchFamily="18" charset="0"/>
                        </a:rPr>
                        <a:t>(Minor Works) </a:t>
                      </a:r>
                      <a:r>
                        <a:rPr lang="en-IN" sz="1800" dirty="0">
                          <a:latin typeface="Times New Roman" pitchFamily="18" charset="0"/>
                          <a:ea typeface="Calibri"/>
                          <a:cs typeface="Times New Roman" pitchFamily="18" charset="0"/>
                        </a:rPr>
                        <a:t>through CBIC.</a:t>
                      </a:r>
                      <a:r>
                        <a:rPr lang="en-IN" sz="1800" b="1" dirty="0">
                          <a:latin typeface="Times New Roman" pitchFamily="18" charset="0"/>
                          <a:ea typeface="Calibri"/>
                          <a:cs typeface="Times New Roman" pitchFamily="18" charset="0"/>
                        </a:rPr>
                        <a:t> </a:t>
                      </a:r>
                      <a:endParaRPr lang="en-IN" sz="1800" dirty="0">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IN" sz="1800" b="1" dirty="0">
                          <a:latin typeface="Times New Roman" pitchFamily="18" charset="0"/>
                          <a:ea typeface="Calibri"/>
                          <a:cs typeface="Times New Roman" pitchFamily="18" charset="0"/>
                        </a:rPr>
                        <a:t>2038 </a:t>
                      </a:r>
                      <a:endParaRPr lang="en-IN" sz="1800" dirty="0">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15000"/>
                        </a:lnSpc>
                        <a:spcBef>
                          <a:spcPts val="0"/>
                        </a:spcBef>
                        <a:spcAft>
                          <a:spcPts val="1000"/>
                        </a:spcAft>
                        <a:buClrTx/>
                        <a:buSzTx/>
                        <a:buFontTx/>
                        <a:buNone/>
                        <a:tabLst/>
                        <a:defRPr/>
                      </a:pPr>
                      <a:r>
                        <a:rPr lang="en-IN" sz="1800" dirty="0">
                          <a:latin typeface="Times New Roman" pitchFamily="18" charset="0"/>
                          <a:ea typeface="Calibri"/>
                          <a:cs typeface="Times New Roman" pitchFamily="18" charset="0"/>
                        </a:rPr>
                        <a:t>Pr.</a:t>
                      </a:r>
                      <a:r>
                        <a:rPr lang="en-IN" sz="1800" baseline="0" dirty="0">
                          <a:latin typeface="Times New Roman" pitchFamily="18" charset="0"/>
                          <a:ea typeface="Calibri"/>
                          <a:cs typeface="Times New Roman" pitchFamily="18" charset="0"/>
                        </a:rPr>
                        <a:t> Commissioner/</a:t>
                      </a:r>
                    </a:p>
                    <a:p>
                      <a:pPr marL="0" marR="0" indent="0" algn="ctr" defTabSz="914400" rtl="0" eaLnBrk="1" fontAlgn="auto" latinLnBrk="0" hangingPunct="1">
                        <a:lnSpc>
                          <a:spcPct val="115000"/>
                        </a:lnSpc>
                        <a:spcBef>
                          <a:spcPts val="0"/>
                        </a:spcBef>
                        <a:spcAft>
                          <a:spcPts val="1000"/>
                        </a:spcAft>
                        <a:buClrTx/>
                        <a:buSzTx/>
                        <a:buFontTx/>
                        <a:buNone/>
                        <a:tabLst/>
                        <a:defRPr/>
                      </a:pPr>
                      <a:r>
                        <a:rPr lang="en-IN" sz="1800" baseline="0" dirty="0">
                          <a:latin typeface="Times New Roman" pitchFamily="18" charset="0"/>
                          <a:ea typeface="Calibri"/>
                          <a:cs typeface="Times New Roman" pitchFamily="18" charset="0"/>
                        </a:rPr>
                        <a:t>Commissioner</a:t>
                      </a:r>
                      <a:endParaRPr lang="en-IN" sz="1800" b="0" dirty="0">
                        <a:solidFill>
                          <a:schemeClr val="tx1"/>
                        </a:solidFill>
                        <a:latin typeface="Times New Roman" pitchFamily="18" charset="0"/>
                        <a:ea typeface="Calibri"/>
                        <a:cs typeface="Times New Roman" pitchFamily="18" charset="0"/>
                      </a:endParaRPr>
                    </a:p>
                    <a:p>
                      <a:pPr algn="ctr">
                        <a:lnSpc>
                          <a:spcPct val="115000"/>
                        </a:lnSpc>
                        <a:spcAft>
                          <a:spcPts val="1000"/>
                        </a:spcAft>
                      </a:pPr>
                      <a:endParaRPr lang="en-IN" sz="1800" dirty="0">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r h="542879">
                <a:tc>
                  <a:txBody>
                    <a:bodyPr/>
                    <a:lstStyle/>
                    <a:p>
                      <a:pPr algn="ctr">
                        <a:lnSpc>
                          <a:spcPct val="115000"/>
                        </a:lnSpc>
                        <a:spcAft>
                          <a:spcPts val="1000"/>
                        </a:spcAft>
                      </a:pPr>
                      <a:r>
                        <a:rPr lang="en-IN" sz="1800" dirty="0">
                          <a:latin typeface="Times New Roman"/>
                          <a:ea typeface="Calibri"/>
                          <a:cs typeface="Times New Roman"/>
                        </a:rPr>
                        <a:t>3 </a:t>
                      </a:r>
                      <a:endParaRPr lang="en-IN" sz="1800" dirty="0">
                        <a:latin typeface="Calibri"/>
                        <a:ea typeface="Calibri"/>
                        <a:cs typeface="Times New Roman"/>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IN" sz="1800" dirty="0">
                          <a:latin typeface="Times New Roman"/>
                          <a:ea typeface="Calibri"/>
                          <a:cs typeface="Times New Roman"/>
                        </a:rPr>
                        <a:t>Repairs/Maintenance of Departmental Residential Building of  Customs and Central GST </a:t>
                      </a:r>
                      <a:r>
                        <a:rPr lang="en-IN" sz="1800" b="1" dirty="0">
                          <a:latin typeface="Times New Roman"/>
                          <a:ea typeface="Calibri"/>
                          <a:cs typeface="Times New Roman"/>
                        </a:rPr>
                        <a:t>(Minor Works) </a:t>
                      </a:r>
                      <a:r>
                        <a:rPr lang="en-IN" sz="1800" dirty="0">
                          <a:latin typeface="Times New Roman"/>
                          <a:ea typeface="Calibri"/>
                          <a:cs typeface="Times New Roman"/>
                        </a:rPr>
                        <a:t>through CBIC. </a:t>
                      </a:r>
                      <a:endParaRPr lang="en-IN" sz="1800" dirty="0">
                        <a:latin typeface="Calibri"/>
                        <a:ea typeface="Calibri"/>
                        <a:cs typeface="Times New Roman"/>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IN" sz="1800" b="1" dirty="0">
                          <a:latin typeface="Times New Roman"/>
                          <a:ea typeface="Calibri"/>
                          <a:cs typeface="Times New Roman"/>
                        </a:rPr>
                        <a:t>2216 </a:t>
                      </a:r>
                      <a:endParaRPr lang="en-IN" sz="1800" dirty="0">
                        <a:latin typeface="Calibri"/>
                        <a:ea typeface="Calibri"/>
                        <a:cs typeface="Times New Roman"/>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15000"/>
                        </a:lnSpc>
                        <a:spcBef>
                          <a:spcPts val="0"/>
                        </a:spcBef>
                        <a:spcAft>
                          <a:spcPts val="1000"/>
                        </a:spcAft>
                        <a:buClrTx/>
                        <a:buSzTx/>
                        <a:buFontTx/>
                        <a:buNone/>
                        <a:tabLst/>
                        <a:defRPr/>
                      </a:pPr>
                      <a:r>
                        <a:rPr lang="en-IN" sz="1800" dirty="0">
                          <a:latin typeface="Times New Roman" pitchFamily="18" charset="0"/>
                          <a:ea typeface="Calibri"/>
                          <a:cs typeface="Times New Roman" pitchFamily="18" charset="0"/>
                        </a:rPr>
                        <a:t>Pr.</a:t>
                      </a:r>
                      <a:r>
                        <a:rPr lang="en-IN" sz="1800" baseline="0" dirty="0">
                          <a:latin typeface="Times New Roman" pitchFamily="18" charset="0"/>
                          <a:ea typeface="Calibri"/>
                          <a:cs typeface="Times New Roman" pitchFamily="18" charset="0"/>
                        </a:rPr>
                        <a:t> Commissioner/</a:t>
                      </a:r>
                    </a:p>
                    <a:p>
                      <a:pPr marL="0" marR="0" indent="0" algn="ctr" defTabSz="914400" rtl="0" eaLnBrk="1" fontAlgn="auto" latinLnBrk="0" hangingPunct="1">
                        <a:lnSpc>
                          <a:spcPct val="115000"/>
                        </a:lnSpc>
                        <a:spcBef>
                          <a:spcPts val="0"/>
                        </a:spcBef>
                        <a:spcAft>
                          <a:spcPts val="1000"/>
                        </a:spcAft>
                        <a:buClrTx/>
                        <a:buSzTx/>
                        <a:buFontTx/>
                        <a:buNone/>
                        <a:tabLst/>
                        <a:defRPr/>
                      </a:pPr>
                      <a:r>
                        <a:rPr lang="en-IN" sz="1800" baseline="0" dirty="0">
                          <a:latin typeface="Times New Roman" pitchFamily="18" charset="0"/>
                          <a:ea typeface="Calibri"/>
                          <a:cs typeface="Times New Roman" pitchFamily="18" charset="0"/>
                        </a:rPr>
                        <a:t>Commissioner</a:t>
                      </a:r>
                      <a:endParaRPr lang="en-IN" sz="1800" b="0" dirty="0">
                        <a:solidFill>
                          <a:schemeClr val="tx1"/>
                        </a:solidFill>
                        <a:latin typeface="Times New Roman" pitchFamily="18" charset="0"/>
                        <a:ea typeface="Calibri"/>
                        <a:cs typeface="Times New Roman" pitchFamily="18" charset="0"/>
                      </a:endParaRPr>
                    </a:p>
                    <a:p>
                      <a:pPr algn="ctr">
                        <a:lnSpc>
                          <a:spcPct val="115000"/>
                        </a:lnSpc>
                        <a:spcAft>
                          <a:spcPts val="1000"/>
                        </a:spcAft>
                      </a:pPr>
                      <a:endParaRPr lang="en-IN" sz="1800" dirty="0">
                        <a:latin typeface="Calibri"/>
                        <a:ea typeface="Calibri"/>
                        <a:cs typeface="Times New Roman"/>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428596" y="355824"/>
            <a:ext cx="8424936" cy="78483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r>
              <a:rPr lang="en-IN" sz="1300" b="1" dirty="0">
                <a:solidFill>
                  <a:schemeClr val="accent1">
                    <a:lumMod val="75000"/>
                  </a:schemeClr>
                </a:solidFill>
                <a:latin typeface="Times New Roman" pitchFamily="18" charset="0"/>
                <a:cs typeface="Times New Roman" pitchFamily="18" charset="0"/>
              </a:rPr>
              <a:t> </a:t>
            </a:r>
            <a:endParaRPr lang="en-IN" sz="2000" b="1" dirty="0">
              <a:solidFill>
                <a:schemeClr val="accent1">
                  <a:lumMod val="75000"/>
                </a:schemeClr>
              </a:solidFill>
              <a:latin typeface="Times New Roman" pitchFamily="18" charset="0"/>
              <a:cs typeface="Times New Roman" pitchFamily="18" charset="0"/>
            </a:endParaRPr>
          </a:p>
          <a:p>
            <a:r>
              <a:rPr lang="en-IN" sz="3200" b="1" dirty="0">
                <a:solidFill>
                  <a:schemeClr val="accent1">
                    <a:lumMod val="75000"/>
                  </a:schemeClr>
                </a:solidFill>
                <a:latin typeface="Times New Roman" pitchFamily="18" charset="0"/>
                <a:cs typeface="Times New Roman" pitchFamily="18" charset="0"/>
              </a:rPr>
              <a:t>Funds  provided by </a:t>
            </a:r>
            <a:r>
              <a:rPr lang="en-IN" sz="3200" b="1" dirty="0" err="1">
                <a:solidFill>
                  <a:schemeClr val="accent1">
                    <a:lumMod val="75000"/>
                  </a:schemeClr>
                </a:solidFill>
                <a:latin typeface="Times New Roman" pitchFamily="18" charset="0"/>
                <a:cs typeface="Times New Roman" pitchFamily="18" charset="0"/>
              </a:rPr>
              <a:t>MoUD</a:t>
            </a:r>
            <a:r>
              <a:rPr lang="en-IN" sz="3200" b="1" dirty="0">
                <a:solidFill>
                  <a:schemeClr val="accent1">
                    <a:lumMod val="75000"/>
                  </a:schemeClr>
                </a:solidFill>
                <a:latin typeface="Times New Roman" pitchFamily="18" charset="0"/>
                <a:cs typeface="Times New Roman" pitchFamily="18" charset="0"/>
              </a:rPr>
              <a:t>/CPWD</a:t>
            </a:r>
            <a:endParaRPr lang="en-IN" sz="1400" dirty="0">
              <a:solidFill>
                <a:schemeClr val="accent1">
                  <a:lumMod val="75000"/>
                </a:schemeClr>
              </a:solidFill>
              <a:latin typeface="Times New Roman" pitchFamily="18" charset="0"/>
              <a:cs typeface="Times New Roman" pitchFamily="18" charset="0"/>
            </a:endParaRPr>
          </a:p>
        </p:txBody>
      </p:sp>
      <p:sp>
        <p:nvSpPr>
          <p:cNvPr id="5" name="Slide Number Placeholder 4"/>
          <p:cNvSpPr>
            <a:spLocks noGrp="1"/>
          </p:cNvSpPr>
          <p:nvPr>
            <p:ph type="sldNum" sz="quarter" idx="12"/>
          </p:nvPr>
        </p:nvSpPr>
        <p:spPr>
          <a:xfrm>
            <a:off x="7924800" y="6286520"/>
            <a:ext cx="762000" cy="365125"/>
          </a:xfrm>
        </p:spPr>
        <p:txBody>
          <a:bodyPr/>
          <a:lstStyle/>
          <a:p>
            <a:fld id="{35E2A42F-3747-4313-B8AA-F8C71D2DB211}" type="slidenum">
              <a:rPr lang="en-IN" smtClean="0"/>
              <a:pPr/>
              <a:t>50</a:t>
            </a:fld>
            <a:endParaRPr lang="en-IN" dirty="0"/>
          </a:p>
        </p:txBody>
      </p:sp>
      <p:graphicFrame>
        <p:nvGraphicFramePr>
          <p:cNvPr id="6" name="Table 5"/>
          <p:cNvGraphicFramePr>
            <a:graphicFrameLocks noGrp="1"/>
          </p:cNvGraphicFramePr>
          <p:nvPr>
            <p:extLst>
              <p:ext uri="{D42A27DB-BD31-4B8C-83A1-F6EECF244321}">
                <p14:modId xmlns="" xmlns:p14="http://schemas.microsoft.com/office/powerpoint/2010/main" val="622123452"/>
              </p:ext>
            </p:extLst>
          </p:nvPr>
        </p:nvGraphicFramePr>
        <p:xfrm>
          <a:off x="642910" y="1498492"/>
          <a:ext cx="7929618" cy="4744720"/>
        </p:xfrm>
        <a:graphic>
          <a:graphicData uri="http://schemas.openxmlformats.org/drawingml/2006/table">
            <a:tbl>
              <a:tblPr/>
              <a:tblGrid>
                <a:gridCol w="484034">
                  <a:extLst>
                    <a:ext uri="{9D8B030D-6E8A-4147-A177-3AD203B41FA5}">
                      <a16:colId xmlns="" xmlns:a16="http://schemas.microsoft.com/office/drawing/2014/main" val="20000"/>
                    </a:ext>
                  </a:extLst>
                </a:gridCol>
                <a:gridCol w="2587800">
                  <a:extLst>
                    <a:ext uri="{9D8B030D-6E8A-4147-A177-3AD203B41FA5}">
                      <a16:colId xmlns="" xmlns:a16="http://schemas.microsoft.com/office/drawing/2014/main" val="20001"/>
                    </a:ext>
                  </a:extLst>
                </a:gridCol>
                <a:gridCol w="1060502">
                  <a:extLst>
                    <a:ext uri="{9D8B030D-6E8A-4147-A177-3AD203B41FA5}">
                      <a16:colId xmlns="" xmlns:a16="http://schemas.microsoft.com/office/drawing/2014/main" val="20002"/>
                    </a:ext>
                  </a:extLst>
                </a:gridCol>
                <a:gridCol w="2511398">
                  <a:extLst>
                    <a:ext uri="{9D8B030D-6E8A-4147-A177-3AD203B41FA5}">
                      <a16:colId xmlns="" xmlns:a16="http://schemas.microsoft.com/office/drawing/2014/main" val="20003"/>
                    </a:ext>
                  </a:extLst>
                </a:gridCol>
                <a:gridCol w="1285884">
                  <a:extLst>
                    <a:ext uri="{9D8B030D-6E8A-4147-A177-3AD203B41FA5}">
                      <a16:colId xmlns="" xmlns:a16="http://schemas.microsoft.com/office/drawing/2014/main" val="20004"/>
                    </a:ext>
                  </a:extLst>
                </a:gridCol>
              </a:tblGrid>
              <a:tr h="650401">
                <a:tc>
                  <a:txBody>
                    <a:bodyPr/>
                    <a:lstStyle/>
                    <a:p>
                      <a:pPr algn="ctr">
                        <a:lnSpc>
                          <a:spcPct val="115000"/>
                        </a:lnSpc>
                        <a:spcAft>
                          <a:spcPts val="1000"/>
                        </a:spcAft>
                      </a:pPr>
                      <a:r>
                        <a:rPr lang="en-IN" sz="2000" b="1" dirty="0" err="1">
                          <a:solidFill>
                            <a:schemeClr val="tx1"/>
                          </a:solidFill>
                          <a:latin typeface="Times New Roman" pitchFamily="18" charset="0"/>
                          <a:ea typeface="Calibri"/>
                          <a:cs typeface="Times New Roman" pitchFamily="18" charset="0"/>
                        </a:rPr>
                        <a:t>S.No</a:t>
                      </a:r>
                      <a:endParaRPr lang="en-IN" sz="2000" dirty="0">
                        <a:solidFill>
                          <a:schemeClr val="tx1"/>
                        </a:solidFill>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IN" sz="2000" b="1" dirty="0">
                          <a:solidFill>
                            <a:schemeClr val="tx1"/>
                          </a:solidFill>
                          <a:latin typeface="Times New Roman" pitchFamily="18" charset="0"/>
                          <a:ea typeface="Calibri"/>
                          <a:cs typeface="Times New Roman" pitchFamily="18" charset="0"/>
                        </a:rPr>
                        <a:t>Item of Expenditure/Subject </a:t>
                      </a:r>
                      <a:endParaRPr lang="en-IN" sz="2000" dirty="0">
                        <a:solidFill>
                          <a:schemeClr val="tx1"/>
                        </a:solidFill>
                        <a:latin typeface="Times New Roman" pitchFamily="18" charset="0"/>
                        <a:ea typeface="Calibri"/>
                        <a:cs typeface="Times New Roman" pitchFamily="18" charset="0"/>
                      </a:endParaRPr>
                    </a:p>
                    <a:p>
                      <a:pPr algn="l">
                        <a:lnSpc>
                          <a:spcPct val="115000"/>
                        </a:lnSpc>
                        <a:spcAft>
                          <a:spcPts val="1000"/>
                        </a:spcAft>
                      </a:pPr>
                      <a:r>
                        <a:rPr lang="en-IN" sz="2000" b="1" dirty="0">
                          <a:solidFill>
                            <a:schemeClr val="tx1"/>
                          </a:solidFill>
                          <a:latin typeface="Times New Roman" pitchFamily="18" charset="0"/>
                          <a:ea typeface="Calibri"/>
                          <a:cs typeface="Times New Roman" pitchFamily="18" charset="0"/>
                        </a:rPr>
                        <a:t>(Nature of Work)</a:t>
                      </a:r>
                      <a:r>
                        <a:rPr lang="en-IN" sz="2000" dirty="0">
                          <a:solidFill>
                            <a:schemeClr val="tx1"/>
                          </a:solidFill>
                          <a:latin typeface="Times New Roman" pitchFamily="18" charset="0"/>
                          <a:ea typeface="Calibri"/>
                          <a:cs typeface="Times New Roman" pitchFamily="18" charset="0"/>
                        </a:rPr>
                        <a:t> </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IN" sz="2000" b="1" dirty="0">
                          <a:latin typeface="Times New Roman" pitchFamily="18" charset="0"/>
                          <a:ea typeface="Calibri"/>
                          <a:cs typeface="Times New Roman" pitchFamily="18" charset="0"/>
                        </a:rPr>
                        <a:t>Budget Head</a:t>
                      </a:r>
                      <a:r>
                        <a:rPr lang="en-IN" sz="2000" dirty="0">
                          <a:latin typeface="Times New Roman" pitchFamily="18" charset="0"/>
                          <a:ea typeface="Calibri"/>
                          <a:cs typeface="Times New Roman" pitchFamily="18" charset="0"/>
                        </a:rPr>
                        <a:t> </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IN" sz="2000" b="1" dirty="0">
                          <a:latin typeface="Times New Roman" pitchFamily="18" charset="0"/>
                          <a:ea typeface="Calibri"/>
                          <a:cs typeface="Times New Roman" pitchFamily="18" charset="0"/>
                        </a:rPr>
                        <a:t>Power delegated to</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IN" sz="2000" b="1" dirty="0">
                          <a:latin typeface="Times New Roman" pitchFamily="18" charset="0"/>
                          <a:ea typeface="Calibri"/>
                          <a:cs typeface="Times New Roman" pitchFamily="18" charset="0"/>
                        </a:rPr>
                        <a:t>Financial Power</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r h="956960">
                <a:tc>
                  <a:txBody>
                    <a:bodyPr/>
                    <a:lstStyle/>
                    <a:p>
                      <a:pPr algn="ctr">
                        <a:lnSpc>
                          <a:spcPct val="115000"/>
                        </a:lnSpc>
                        <a:spcAft>
                          <a:spcPts val="1000"/>
                        </a:spcAft>
                      </a:pPr>
                      <a:r>
                        <a:rPr lang="en-IN" sz="2000" dirty="0">
                          <a:solidFill>
                            <a:schemeClr val="tx1"/>
                          </a:solidFill>
                          <a:latin typeface="Times New Roman" pitchFamily="18" charset="0"/>
                          <a:ea typeface="Calibri"/>
                          <a:cs typeface="Times New Roman" pitchFamily="18" charset="0"/>
                        </a:rPr>
                        <a:t>1 </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IN" sz="2000" dirty="0">
                          <a:solidFill>
                            <a:schemeClr val="tx1"/>
                          </a:solidFill>
                          <a:latin typeface="Times New Roman" pitchFamily="18" charset="0"/>
                          <a:ea typeface="Calibri"/>
                          <a:cs typeface="Times New Roman" pitchFamily="18" charset="0"/>
                        </a:rPr>
                        <a:t>Original Works in office</a:t>
                      </a:r>
                    </a:p>
                    <a:p>
                      <a:pPr algn="l">
                        <a:lnSpc>
                          <a:spcPct val="115000"/>
                        </a:lnSpc>
                        <a:spcAft>
                          <a:spcPts val="1000"/>
                        </a:spcAft>
                      </a:pPr>
                      <a:endParaRPr lang="en-IN" sz="2000" dirty="0">
                        <a:solidFill>
                          <a:schemeClr val="tx1"/>
                        </a:solidFill>
                        <a:latin typeface="Times New Roman" pitchFamily="18" charset="0"/>
                        <a:ea typeface="Calibri"/>
                        <a:cs typeface="Times New Roman" pitchFamily="18" charset="0"/>
                      </a:endParaRPr>
                    </a:p>
                    <a:p>
                      <a:pPr algn="l">
                        <a:lnSpc>
                          <a:spcPct val="115000"/>
                        </a:lnSpc>
                        <a:spcAft>
                          <a:spcPts val="1000"/>
                        </a:spcAft>
                      </a:pPr>
                      <a:endParaRPr lang="en-IN" sz="2000" dirty="0">
                        <a:solidFill>
                          <a:schemeClr val="tx1"/>
                        </a:solidFill>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IN" sz="2000" b="1" dirty="0">
                          <a:latin typeface="Times New Roman" pitchFamily="18" charset="0"/>
                          <a:ea typeface="Calibri"/>
                          <a:cs typeface="Times New Roman" pitchFamily="18" charset="0"/>
                        </a:rPr>
                        <a:t>4059</a:t>
                      </a:r>
                      <a:endParaRPr lang="en-IN" sz="2000" dirty="0">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IN" sz="2000" dirty="0">
                          <a:latin typeface="Times New Roman" pitchFamily="18" charset="0"/>
                          <a:ea typeface="Calibri"/>
                          <a:cs typeface="Times New Roman" pitchFamily="18" charset="0"/>
                        </a:rPr>
                        <a:t>Pr. Chief Commissioner/</a:t>
                      </a:r>
                      <a:br>
                        <a:rPr lang="en-IN" sz="2000" dirty="0">
                          <a:latin typeface="Times New Roman" pitchFamily="18" charset="0"/>
                          <a:ea typeface="Calibri"/>
                          <a:cs typeface="Times New Roman" pitchFamily="18" charset="0"/>
                        </a:rPr>
                      </a:br>
                      <a:r>
                        <a:rPr lang="en-IN" sz="2000" dirty="0">
                          <a:latin typeface="Times New Roman" pitchFamily="18" charset="0"/>
                          <a:ea typeface="Calibri"/>
                          <a:cs typeface="Times New Roman" pitchFamily="18" charset="0"/>
                        </a:rPr>
                        <a:t>Chief Commissioner</a:t>
                      </a:r>
                      <a:endParaRPr lang="en-IN" sz="2000" b="0" dirty="0">
                        <a:solidFill>
                          <a:schemeClr val="tx1"/>
                        </a:solidFill>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kumimoji="0" lang="en-US" sz="1800" kern="1200" dirty="0">
                          <a:solidFill>
                            <a:schemeClr val="tx1"/>
                          </a:solidFill>
                          <a:effectLst/>
                          <a:latin typeface="+mn-lt"/>
                          <a:ea typeface="+mn-ea"/>
                          <a:cs typeface="+mn-cs"/>
                        </a:rPr>
                        <a:t>₹</a:t>
                      </a:r>
                      <a:r>
                        <a:rPr lang="en-IN" sz="2000" b="0" dirty="0">
                          <a:solidFill>
                            <a:schemeClr val="tx1"/>
                          </a:solidFill>
                          <a:latin typeface="Times New Roman" pitchFamily="18" charset="0"/>
                          <a:cs typeface="Times New Roman" pitchFamily="18" charset="0"/>
                        </a:rPr>
                        <a:t> 1 </a:t>
                      </a:r>
                      <a:r>
                        <a:rPr lang="en-IN" sz="2000" b="0" dirty="0" err="1">
                          <a:solidFill>
                            <a:schemeClr val="tx1"/>
                          </a:solidFill>
                          <a:latin typeface="Times New Roman" pitchFamily="18" charset="0"/>
                          <a:cs typeface="Times New Roman" pitchFamily="18" charset="0"/>
                        </a:rPr>
                        <a:t>cr</a:t>
                      </a:r>
                      <a:r>
                        <a:rPr lang="en-IN" sz="2000" b="0" dirty="0">
                          <a:solidFill>
                            <a:schemeClr val="tx1"/>
                          </a:solidFill>
                          <a:latin typeface="Times New Roman" pitchFamily="18" charset="0"/>
                          <a:cs typeface="Times New Roman" pitchFamily="18" charset="0"/>
                        </a:rPr>
                        <a:t/>
                      </a:r>
                      <a:br>
                        <a:rPr lang="en-IN" sz="2000" b="0" dirty="0">
                          <a:solidFill>
                            <a:schemeClr val="tx1"/>
                          </a:solidFill>
                          <a:latin typeface="Times New Roman" pitchFamily="18" charset="0"/>
                          <a:cs typeface="Times New Roman" pitchFamily="18" charset="0"/>
                        </a:rPr>
                      </a:br>
                      <a:endParaRPr lang="en-IN" sz="2000" b="0" dirty="0">
                        <a:solidFill>
                          <a:schemeClr val="tx1"/>
                        </a:solidFill>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455500">
                <a:tc>
                  <a:txBody>
                    <a:bodyPr/>
                    <a:lstStyle/>
                    <a:p>
                      <a:pPr algn="ctr">
                        <a:lnSpc>
                          <a:spcPct val="115000"/>
                        </a:lnSpc>
                        <a:spcAft>
                          <a:spcPts val="1000"/>
                        </a:spcAft>
                      </a:pPr>
                      <a:r>
                        <a:rPr lang="en-IN" sz="2000">
                          <a:solidFill>
                            <a:schemeClr val="tx1"/>
                          </a:solidFill>
                          <a:latin typeface="Times New Roman" pitchFamily="18" charset="0"/>
                          <a:ea typeface="Calibri"/>
                          <a:cs typeface="Times New Roman" pitchFamily="18" charset="0"/>
                        </a:rPr>
                        <a:t>2 </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IN" sz="2000" dirty="0">
                          <a:solidFill>
                            <a:schemeClr val="tx1"/>
                          </a:solidFill>
                          <a:latin typeface="Times New Roman" pitchFamily="18" charset="0"/>
                          <a:ea typeface="Calibri"/>
                          <a:cs typeface="Times New Roman" pitchFamily="18" charset="0"/>
                        </a:rPr>
                        <a:t>Original Works in office</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IN" sz="2000" b="1" dirty="0">
                          <a:latin typeface="Times New Roman" pitchFamily="18" charset="0"/>
                          <a:ea typeface="Calibri"/>
                          <a:cs typeface="Times New Roman" pitchFamily="18" charset="0"/>
                        </a:rPr>
                        <a:t>4059 </a:t>
                      </a:r>
                      <a:endParaRPr lang="en-IN" sz="2000" dirty="0">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IN" sz="2000" dirty="0">
                          <a:latin typeface="Times New Roman" pitchFamily="18" charset="0"/>
                          <a:ea typeface="Calibri"/>
                          <a:cs typeface="Times New Roman" pitchFamily="18" charset="0"/>
                        </a:rPr>
                        <a:t>Pr. Commissioner/</a:t>
                      </a:r>
                      <a:br>
                        <a:rPr lang="en-IN" sz="2000" dirty="0">
                          <a:latin typeface="Times New Roman" pitchFamily="18" charset="0"/>
                          <a:ea typeface="Calibri"/>
                          <a:cs typeface="Times New Roman" pitchFamily="18" charset="0"/>
                        </a:rPr>
                      </a:br>
                      <a:r>
                        <a:rPr lang="en-IN" sz="2000" dirty="0">
                          <a:latin typeface="Times New Roman" pitchFamily="18" charset="0"/>
                          <a:ea typeface="Calibri"/>
                          <a:cs typeface="Times New Roman" pitchFamily="18" charset="0"/>
                        </a:rPr>
                        <a:t>Commissioner </a:t>
                      </a:r>
                      <a:endParaRPr lang="en-IN" sz="2000" b="0" dirty="0">
                        <a:solidFill>
                          <a:schemeClr val="tx1"/>
                        </a:solidFill>
                        <a:latin typeface="Times New Roman" pitchFamily="18" charset="0"/>
                        <a:ea typeface="Calibri"/>
                        <a:cs typeface="Times New Roman" pitchFamily="18" charset="0"/>
                      </a:endParaRPr>
                    </a:p>
                    <a:p>
                      <a:pPr algn="ctr">
                        <a:lnSpc>
                          <a:spcPct val="115000"/>
                        </a:lnSpc>
                        <a:spcAft>
                          <a:spcPts val="1000"/>
                        </a:spcAft>
                      </a:pPr>
                      <a:endParaRPr lang="en-IN" sz="2000" dirty="0">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15000"/>
                        </a:lnSpc>
                        <a:spcBef>
                          <a:spcPts val="0"/>
                        </a:spcBef>
                        <a:spcAft>
                          <a:spcPts val="1000"/>
                        </a:spcAft>
                        <a:buClrTx/>
                        <a:buSzTx/>
                        <a:buFontTx/>
                        <a:buNone/>
                        <a:tabLst/>
                        <a:defRPr/>
                      </a:pPr>
                      <a:r>
                        <a:rPr kumimoji="0" lang="en-US" sz="1800" kern="1200" dirty="0">
                          <a:solidFill>
                            <a:schemeClr val="tx1"/>
                          </a:solidFill>
                          <a:effectLst/>
                          <a:latin typeface="+mn-lt"/>
                          <a:ea typeface="+mn-ea"/>
                          <a:cs typeface="+mn-cs"/>
                        </a:rPr>
                        <a:t>₹</a:t>
                      </a:r>
                      <a:r>
                        <a:rPr lang="en-IN" sz="2000" b="0" dirty="0">
                          <a:solidFill>
                            <a:schemeClr val="tx1"/>
                          </a:solidFill>
                          <a:latin typeface="Times New Roman" pitchFamily="18" charset="0"/>
                          <a:cs typeface="Times New Roman" pitchFamily="18" charset="0"/>
                        </a:rPr>
                        <a:t>10 lakh</a:t>
                      </a:r>
                      <a:br>
                        <a:rPr lang="en-IN" sz="2000" b="0" dirty="0">
                          <a:solidFill>
                            <a:schemeClr val="tx1"/>
                          </a:solidFill>
                          <a:latin typeface="Times New Roman" pitchFamily="18" charset="0"/>
                          <a:cs typeface="Times New Roman" pitchFamily="18" charset="0"/>
                        </a:rPr>
                      </a:br>
                      <a:endParaRPr lang="en-IN" sz="2000" b="0" dirty="0">
                        <a:solidFill>
                          <a:schemeClr val="tx1"/>
                        </a:solidFill>
                        <a:latin typeface="Times New Roman" pitchFamily="18" charset="0"/>
                        <a:ea typeface="Calibri"/>
                        <a:cs typeface="Times New Roman" pitchFamily="18" charset="0"/>
                      </a:endParaRPr>
                    </a:p>
                    <a:p>
                      <a:pPr algn="ctr">
                        <a:lnSpc>
                          <a:spcPct val="115000"/>
                        </a:lnSpc>
                        <a:spcAft>
                          <a:spcPts val="1000"/>
                        </a:spcAft>
                      </a:pPr>
                      <a:endParaRPr lang="en-IN" sz="2000" dirty="0">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r h="542879">
                <a:tc>
                  <a:txBody>
                    <a:bodyPr/>
                    <a:lstStyle/>
                    <a:p>
                      <a:pPr algn="ctr">
                        <a:lnSpc>
                          <a:spcPct val="115000"/>
                        </a:lnSpc>
                        <a:spcAft>
                          <a:spcPts val="1000"/>
                        </a:spcAft>
                      </a:pPr>
                      <a:r>
                        <a:rPr lang="en-IN" sz="2000" dirty="0">
                          <a:solidFill>
                            <a:schemeClr val="tx1"/>
                          </a:solidFill>
                          <a:latin typeface="Times New Roman"/>
                          <a:ea typeface="Calibri"/>
                          <a:cs typeface="Times New Roman"/>
                        </a:rPr>
                        <a:t>3 </a:t>
                      </a:r>
                      <a:endParaRPr lang="en-IN" sz="2000" dirty="0">
                        <a:solidFill>
                          <a:schemeClr val="tx1"/>
                        </a:solidFill>
                        <a:latin typeface="Calibri"/>
                        <a:ea typeface="Calibri"/>
                        <a:cs typeface="Times New Roman"/>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IN" sz="2000" dirty="0">
                          <a:solidFill>
                            <a:schemeClr val="tx1"/>
                          </a:solidFill>
                          <a:latin typeface="Times New Roman" pitchFamily="18" charset="0"/>
                          <a:ea typeface="Calibri"/>
                          <a:cs typeface="Times New Roman" pitchFamily="18" charset="0"/>
                        </a:rPr>
                        <a:t>Original Works in residential.</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IN" sz="2000" b="1" dirty="0">
                          <a:latin typeface="Times New Roman"/>
                          <a:ea typeface="Calibri"/>
                          <a:cs typeface="Times New Roman"/>
                        </a:rPr>
                        <a:t>4216</a:t>
                      </a:r>
                      <a:endParaRPr lang="en-IN" sz="2000" dirty="0">
                        <a:latin typeface="Calibri"/>
                        <a:ea typeface="Calibri"/>
                        <a:cs typeface="Times New Roman"/>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15000"/>
                        </a:lnSpc>
                        <a:spcBef>
                          <a:spcPts val="0"/>
                        </a:spcBef>
                        <a:spcAft>
                          <a:spcPts val="1000"/>
                        </a:spcAft>
                        <a:buClrTx/>
                        <a:buSzTx/>
                        <a:buFontTx/>
                        <a:buNone/>
                        <a:tabLst/>
                        <a:defRPr/>
                      </a:pPr>
                      <a:r>
                        <a:rPr lang="en-IN" sz="2000" dirty="0">
                          <a:latin typeface="Times New Roman" pitchFamily="18" charset="0"/>
                          <a:ea typeface="Calibri"/>
                          <a:cs typeface="Times New Roman" pitchFamily="18" charset="0"/>
                        </a:rPr>
                        <a:t>Pr. Commissioner/</a:t>
                      </a:r>
                      <a:br>
                        <a:rPr lang="en-IN" sz="2000" dirty="0">
                          <a:latin typeface="Times New Roman" pitchFamily="18" charset="0"/>
                          <a:ea typeface="Calibri"/>
                          <a:cs typeface="Times New Roman" pitchFamily="18" charset="0"/>
                        </a:rPr>
                      </a:br>
                      <a:r>
                        <a:rPr lang="en-IN" sz="2000" dirty="0">
                          <a:latin typeface="Times New Roman" pitchFamily="18" charset="0"/>
                          <a:ea typeface="Calibri"/>
                          <a:cs typeface="Times New Roman" pitchFamily="18" charset="0"/>
                        </a:rPr>
                        <a:t>Commissioner </a:t>
                      </a:r>
                      <a:endParaRPr lang="en-IN" sz="2000" dirty="0">
                        <a:latin typeface="Calibri"/>
                        <a:ea typeface="Calibri"/>
                        <a:cs typeface="Times New Roman"/>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kumimoji="0" lang="en-US" sz="1800" kern="1200" dirty="0">
                          <a:solidFill>
                            <a:schemeClr val="tx1"/>
                          </a:solidFill>
                          <a:effectLst/>
                          <a:latin typeface="+mn-lt"/>
                          <a:ea typeface="+mn-ea"/>
                          <a:cs typeface="+mn-cs"/>
                        </a:rPr>
                        <a:t>₹</a:t>
                      </a:r>
                      <a:r>
                        <a:rPr lang="en-IN" sz="2000" b="0" dirty="0">
                          <a:solidFill>
                            <a:schemeClr val="tx1"/>
                          </a:solidFill>
                          <a:latin typeface="Times New Roman" pitchFamily="18" charset="0"/>
                          <a:cs typeface="Times New Roman" pitchFamily="18" charset="0"/>
                        </a:rPr>
                        <a:t>10 lakh</a:t>
                      </a:r>
                      <a:endParaRPr lang="en-IN" sz="2000" dirty="0">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a:off x="7924800" y="6072206"/>
            <a:ext cx="762000" cy="365125"/>
          </a:xfrm>
        </p:spPr>
        <p:txBody>
          <a:bodyPr/>
          <a:lstStyle/>
          <a:p>
            <a:fld id="{35E2A42F-3747-4313-B8AA-F8C71D2DB211}" type="slidenum">
              <a:rPr lang="en-IN" smtClean="0"/>
              <a:pPr/>
              <a:t>51</a:t>
            </a:fld>
            <a:endParaRPr lang="en-IN" dirty="0"/>
          </a:p>
        </p:txBody>
      </p:sp>
      <p:sp>
        <p:nvSpPr>
          <p:cNvPr id="1025" name="Rectangle 1"/>
          <p:cNvSpPr>
            <a:spLocks noChangeArrowheads="1"/>
          </p:cNvSpPr>
          <p:nvPr/>
        </p:nvSpPr>
        <p:spPr bwMode="auto">
          <a:xfrm flipH="1">
            <a:off x="152400" y="1473478"/>
            <a:ext cx="8358246" cy="483209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indent="457200" algn="just" fontAlgn="base">
              <a:spcBef>
                <a:spcPct val="0"/>
              </a:spcBef>
              <a:spcAft>
                <a:spcPct val="0"/>
              </a:spcAft>
              <a:buFont typeface="Arial" pitchFamily="34" charset="0"/>
              <a:buChar char="•"/>
              <a:tabLst>
                <a:tab pos="361950" algn="l"/>
              </a:tabLst>
            </a:pPr>
            <a:r>
              <a:rPr lang="en-US" sz="2800" dirty="0">
                <a:latin typeface="Times New Roman" pitchFamily="18" charset="0"/>
                <a:ea typeface="Times New Roman" pitchFamily="18" charset="0"/>
                <a:cs typeface="Times New Roman" pitchFamily="18" charset="0"/>
              </a:rPr>
              <a:t>IFU/Ministry OM dated 15.09.11 refers.</a:t>
            </a:r>
          </a:p>
          <a:p>
            <a:pPr lvl="0" indent="457200" algn="just" fontAlgn="base">
              <a:spcBef>
                <a:spcPct val="0"/>
              </a:spcBef>
              <a:spcAft>
                <a:spcPct val="0"/>
              </a:spcAft>
              <a:tabLst>
                <a:tab pos="361950" algn="l"/>
              </a:tabLst>
            </a:pPr>
            <a:endParaRPr lang="en-US" sz="2800" dirty="0">
              <a:latin typeface="Times New Roman" pitchFamily="18" charset="0"/>
              <a:ea typeface="Times New Roman" pitchFamily="18" charset="0"/>
              <a:cs typeface="Times New Roman" pitchFamily="18" charset="0"/>
            </a:endParaRPr>
          </a:p>
          <a:p>
            <a:pPr lvl="0" indent="457200" algn="just" fontAlgn="base">
              <a:spcBef>
                <a:spcPct val="0"/>
              </a:spcBef>
              <a:spcAft>
                <a:spcPct val="0"/>
              </a:spcAft>
              <a:buFont typeface="Arial" pitchFamily="34" charset="0"/>
              <a:buChar char="•"/>
            </a:pPr>
            <a:r>
              <a:rPr kumimoji="0" lang="en-US" sz="28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Expenditure</a:t>
            </a:r>
            <a:r>
              <a:rPr kumimoji="0" lang="en-US" sz="2800" b="0" i="0" u="none" strike="noStrike" cap="none" normalizeH="0" dirty="0">
                <a:ln>
                  <a:noFill/>
                </a:ln>
                <a:solidFill>
                  <a:schemeClr val="tx1"/>
                </a:solidFill>
                <a:effectLst/>
                <a:latin typeface="Times New Roman" pitchFamily="18" charset="0"/>
                <a:ea typeface="Times New Roman" pitchFamily="18" charset="0"/>
                <a:cs typeface="Times New Roman" pitchFamily="18" charset="0"/>
              </a:rPr>
              <a:t> of Rs. 30 Lakhs or below.</a:t>
            </a:r>
          </a:p>
          <a:p>
            <a:pPr lvl="0" indent="457200" algn="just" fontAlgn="base">
              <a:spcBef>
                <a:spcPct val="0"/>
              </a:spcBef>
              <a:spcAft>
                <a:spcPct val="0"/>
              </a:spcAft>
            </a:pPr>
            <a:endParaRPr kumimoji="0" lang="en-US" sz="2800" b="0" i="0" u="none" strike="noStrike" cap="none" normalizeH="0" dirty="0">
              <a:ln>
                <a:noFill/>
              </a:ln>
              <a:solidFill>
                <a:schemeClr val="tx1"/>
              </a:solidFill>
              <a:effectLst/>
              <a:latin typeface="Times New Roman" pitchFamily="18" charset="0"/>
              <a:ea typeface="Times New Roman" pitchFamily="18" charset="0"/>
              <a:cs typeface="Times New Roman" pitchFamily="18" charset="0"/>
            </a:endParaRPr>
          </a:p>
          <a:p>
            <a:pPr marL="3175" marR="0" lvl="0" indent="442913"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US" sz="2800"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HoD</a:t>
            </a:r>
            <a:r>
              <a:rPr kumimoji="0" lang="en-US" sz="28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may:</a:t>
            </a:r>
          </a:p>
          <a:p>
            <a:pPr marL="3175" marR="0" lvl="0" indent="442913" algn="just" defTabSz="914400" rtl="0" eaLnBrk="0" fontAlgn="base" latinLnBrk="0" hangingPunct="0">
              <a:lnSpc>
                <a:spcPct val="100000"/>
              </a:lnSpc>
              <a:spcBef>
                <a:spcPct val="0"/>
              </a:spcBef>
              <a:spcAft>
                <a:spcPct val="0"/>
              </a:spcAft>
              <a:buClrTx/>
              <a:buSzTx/>
              <a:tabLst/>
            </a:pPr>
            <a:endParaRPr kumimoji="0" lang="en-US" sz="280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endParaRPr>
          </a:p>
          <a:p>
            <a:pPr marL="460375" lvl="1" indent="442913" algn="just" eaLnBrk="0" fontAlgn="base" hangingPunct="0">
              <a:spcBef>
                <a:spcPct val="0"/>
              </a:spcBef>
              <a:spcAft>
                <a:spcPct val="0"/>
              </a:spcAft>
              <a:buFontTx/>
              <a:buAutoNum type="romanLcParenBoth"/>
              <a:tabLst>
                <a:tab pos="446088" algn="l"/>
              </a:tabLst>
            </a:pPr>
            <a:r>
              <a:rPr kumimoji="0" lang="en-US" sz="28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Accord a/a and e/s to the proposal under the Financial Power delegated to </a:t>
            </a:r>
            <a:r>
              <a:rPr kumimoji="0" lang="en-US" sz="2800" b="0"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HoD</a:t>
            </a:r>
            <a:r>
              <a:rPr kumimoji="0" lang="en-US" sz="28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(s) </a:t>
            </a:r>
          </a:p>
          <a:p>
            <a:pPr marL="460375" lvl="1" indent="-3175" algn="just" eaLnBrk="0" fontAlgn="base" hangingPunct="0">
              <a:spcBef>
                <a:spcPct val="0"/>
              </a:spcBef>
              <a:spcAft>
                <a:spcPct val="0"/>
              </a:spcAft>
              <a:tabLst>
                <a:tab pos="446088" algn="l"/>
              </a:tabLst>
            </a:pPr>
            <a:r>
              <a:rPr kumimoji="0" lang="en-US" sz="28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(ii)</a:t>
            </a:r>
            <a:r>
              <a:rPr kumimoji="0" lang="en-US" sz="2800" b="0" i="0" u="none" strike="noStrike" cap="none" normalizeH="0" dirty="0">
                <a:ln>
                  <a:noFill/>
                </a:ln>
                <a:solidFill>
                  <a:schemeClr val="tx1"/>
                </a:solidFill>
                <a:effectLst/>
                <a:latin typeface="Times New Roman" pitchFamily="18" charset="0"/>
                <a:ea typeface="Times New Roman" pitchFamily="18" charset="0"/>
                <a:cs typeface="Times New Roman" pitchFamily="18" charset="0"/>
              </a:rPr>
              <a:t> </a:t>
            </a:r>
            <a:r>
              <a:rPr lang="en-US" sz="2800" dirty="0">
                <a:latin typeface="Times New Roman" pitchFamily="18" charset="0"/>
                <a:ea typeface="Times New Roman" pitchFamily="18" charset="0"/>
                <a:cs typeface="Times New Roman" pitchFamily="18" charset="0"/>
              </a:rPr>
              <a:t>S</a:t>
            </a:r>
            <a:r>
              <a:rPr kumimoji="0" lang="en-US" sz="28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imultaneously approach EMC wing of DGHRD through budgetary authority (CC office)</a:t>
            </a:r>
            <a:r>
              <a:rPr kumimoji="0" lang="en-US" sz="2800" b="0" i="0" u="none" strike="noStrike" cap="none" normalizeH="0" dirty="0">
                <a:ln>
                  <a:noFill/>
                </a:ln>
                <a:solidFill>
                  <a:schemeClr val="tx1"/>
                </a:solidFill>
                <a:effectLst/>
                <a:latin typeface="Times New Roman" pitchFamily="18" charset="0"/>
                <a:ea typeface="Times New Roman" pitchFamily="18" charset="0"/>
                <a:cs typeface="Times New Roman" pitchFamily="18" charset="0"/>
              </a:rPr>
              <a:t> </a:t>
            </a:r>
            <a:r>
              <a:rPr kumimoji="0" lang="en-US" sz="28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for provision of funds for the proposal.</a:t>
            </a:r>
            <a:endParaRPr kumimoji="0" lang="en-US" sz="2800" b="0" i="0" u="none" strike="noStrike" cap="none" normalizeH="0" baseline="0" dirty="0">
              <a:ln>
                <a:noFill/>
              </a:ln>
              <a:solidFill>
                <a:schemeClr val="tx1"/>
              </a:solidFill>
              <a:effectLst/>
              <a:latin typeface="Times New Roman" pitchFamily="18" charset="0"/>
              <a:cs typeface="Times New Roman" pitchFamily="18" charset="0"/>
            </a:endParaRPr>
          </a:p>
        </p:txBody>
      </p:sp>
      <p:sp>
        <p:nvSpPr>
          <p:cNvPr id="5" name="TextBox 4"/>
          <p:cNvSpPr txBox="1"/>
          <p:nvPr/>
        </p:nvSpPr>
        <p:spPr>
          <a:xfrm>
            <a:off x="500034" y="571480"/>
            <a:ext cx="8143900" cy="646331"/>
          </a:xfrm>
          <a:prstGeom prst="rect">
            <a:avLst/>
          </a:prstGeom>
          <a:noFill/>
        </p:spPr>
        <p:txBody>
          <a:bodyPr wrap="square" rtlCol="0">
            <a:spAutoFit/>
          </a:bodyPr>
          <a:lstStyle/>
          <a:p>
            <a:r>
              <a:rPr lang="en-US" sz="3600" b="1" dirty="0">
                <a:solidFill>
                  <a:schemeClr val="accent1">
                    <a:lumMod val="75000"/>
                  </a:schemeClr>
                </a:solidFill>
                <a:latin typeface="Times New Roman" pitchFamily="18" charset="0"/>
                <a:cs typeface="Times New Roman" pitchFamily="18" charset="0"/>
              </a:rPr>
              <a:t>Sanction under HoD Financial Powers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3568" y="620688"/>
            <a:ext cx="7920880" cy="2585323"/>
          </a:xfrm>
          <a:prstGeom prst="rect">
            <a:avLst/>
          </a:prstGeom>
          <a:noFill/>
        </p:spPr>
        <p:txBody>
          <a:bodyPr wrap="square" rtlCol="0">
            <a:spAutoFit/>
          </a:bodyPr>
          <a:lstStyle/>
          <a:p>
            <a:r>
              <a:rPr lang="en-IN" dirty="0"/>
              <a:t> </a:t>
            </a:r>
          </a:p>
          <a:p>
            <a:endParaRPr lang="en-IN" sz="2400" dirty="0">
              <a:latin typeface="Times New Roman" pitchFamily="18" charset="0"/>
              <a:cs typeface="Times New Roman" pitchFamily="18" charset="0"/>
            </a:endParaRPr>
          </a:p>
          <a:p>
            <a:r>
              <a:rPr lang="en-IN" sz="2400" b="1" dirty="0">
                <a:latin typeface="Times New Roman" pitchFamily="18" charset="0"/>
                <a:cs typeface="Times New Roman" pitchFamily="18" charset="0"/>
              </a:rPr>
              <a:t> </a:t>
            </a:r>
            <a:endParaRPr lang="en-IN" sz="2400" dirty="0">
              <a:latin typeface="Times New Roman" pitchFamily="18" charset="0"/>
              <a:cs typeface="Times New Roman" pitchFamily="18" charset="0"/>
            </a:endParaRPr>
          </a:p>
          <a:p>
            <a:r>
              <a:rPr lang="en-IN" sz="2400" dirty="0">
                <a:latin typeface="Times New Roman" pitchFamily="18" charset="0"/>
                <a:cs typeface="Times New Roman" pitchFamily="18" charset="0"/>
              </a:rPr>
              <a:t> </a:t>
            </a:r>
            <a:endParaRPr lang="en-IN" sz="2400" b="1" dirty="0">
              <a:latin typeface="Times New Roman" pitchFamily="18" charset="0"/>
              <a:cs typeface="Times New Roman" pitchFamily="18" charset="0"/>
            </a:endParaRPr>
          </a:p>
          <a:p>
            <a:pPr algn="just"/>
            <a:endParaRPr lang="en-IN" sz="2400" b="1" dirty="0">
              <a:latin typeface="Times New Roman" pitchFamily="18" charset="0"/>
              <a:cs typeface="Times New Roman" pitchFamily="18" charset="0"/>
            </a:endParaRPr>
          </a:p>
          <a:p>
            <a:pPr lvl="0" algn="just"/>
            <a:endParaRPr lang="en-IN" sz="2400" dirty="0">
              <a:latin typeface="Times New Roman" pitchFamily="18" charset="0"/>
              <a:cs typeface="Times New Roman" pitchFamily="18" charset="0"/>
            </a:endParaRPr>
          </a:p>
          <a:p>
            <a:pPr algn="just"/>
            <a:r>
              <a:rPr lang="en-IN" sz="2400" b="1" dirty="0">
                <a:latin typeface="Times New Roman" pitchFamily="18" charset="0"/>
                <a:cs typeface="Times New Roman" pitchFamily="18" charset="0"/>
              </a:rPr>
              <a:t> </a:t>
            </a:r>
            <a:endParaRPr lang="en-IN" sz="2400" dirty="0">
              <a:latin typeface="Times New Roman" pitchFamily="18" charset="0"/>
              <a:cs typeface="Times New Roman" pitchFamily="18" charset="0"/>
            </a:endParaRPr>
          </a:p>
        </p:txBody>
      </p:sp>
      <p:sp>
        <p:nvSpPr>
          <p:cNvPr id="5" name="TextBox 4"/>
          <p:cNvSpPr txBox="1"/>
          <p:nvPr/>
        </p:nvSpPr>
        <p:spPr>
          <a:xfrm>
            <a:off x="899592" y="785795"/>
            <a:ext cx="7704856" cy="2123658"/>
          </a:xfrm>
          <a:prstGeom prst="rect">
            <a:avLst/>
          </a:prstGeom>
          <a:noFill/>
        </p:spPr>
        <p:txBody>
          <a:bodyPr wrap="square" rtlCol="0">
            <a:spAutoFit/>
          </a:bodyPr>
          <a:lstStyle/>
          <a:p>
            <a:r>
              <a:rPr lang="en-IN" sz="2800" b="1" dirty="0">
                <a:latin typeface="Times New Roman" pitchFamily="18" charset="0"/>
                <a:cs typeface="Times New Roman" pitchFamily="18" charset="0"/>
              </a:rPr>
              <a:t>	</a:t>
            </a:r>
            <a:endParaRPr lang="en-IN" sz="2800" dirty="0">
              <a:latin typeface="Times New Roman" pitchFamily="18" charset="0"/>
              <a:cs typeface="Times New Roman" pitchFamily="18" charset="0"/>
            </a:endParaRPr>
          </a:p>
          <a:p>
            <a:r>
              <a:rPr lang="en-IN" sz="1600" b="1" dirty="0">
                <a:latin typeface="Times New Roman" pitchFamily="18" charset="0"/>
                <a:cs typeface="Times New Roman" pitchFamily="18" charset="0"/>
              </a:rPr>
              <a:t> </a:t>
            </a:r>
            <a:endParaRPr lang="en-IN" sz="2400" dirty="0">
              <a:latin typeface="Times New Roman" pitchFamily="18" charset="0"/>
              <a:cs typeface="Times New Roman" pitchFamily="18" charset="0"/>
            </a:endParaRPr>
          </a:p>
          <a:p>
            <a:pPr algn="just">
              <a:buFont typeface="Arial" pitchFamily="34" charset="0"/>
              <a:buChar char="•"/>
              <a:tabLst>
                <a:tab pos="539750" algn="l"/>
              </a:tabLst>
            </a:pPr>
            <a:r>
              <a:rPr lang="en-IN" sz="2400" dirty="0">
                <a:latin typeface="Times New Roman" pitchFamily="18" charset="0"/>
                <a:cs typeface="Times New Roman" pitchFamily="18" charset="0"/>
              </a:rPr>
              <a:t>    Chapter 7 (7.10) of Manual of Infrastructure.</a:t>
            </a:r>
          </a:p>
          <a:p>
            <a:pPr marL="0" lvl="1" indent="457200" algn="just">
              <a:buFont typeface="Arial" pitchFamily="34" charset="0"/>
              <a:buChar char="•"/>
              <a:tabLst>
                <a:tab pos="539750" algn="l"/>
              </a:tabLst>
            </a:pPr>
            <a:r>
              <a:rPr lang="en-IN" sz="2400" dirty="0">
                <a:latin typeface="Times New Roman" pitchFamily="18" charset="0"/>
                <a:cs typeface="Times New Roman" pitchFamily="18" charset="0"/>
              </a:rPr>
              <a:t>It should be signed by HoD.</a:t>
            </a:r>
          </a:p>
          <a:p>
            <a:pPr indent="446088" algn="just">
              <a:buFont typeface="Arial" pitchFamily="34" charset="0"/>
              <a:buChar char="•"/>
              <a:tabLst>
                <a:tab pos="539750" algn="l"/>
              </a:tabLst>
            </a:pPr>
            <a:r>
              <a:rPr lang="en-IN" sz="2400" dirty="0">
                <a:latin typeface="Times New Roman" pitchFamily="18" charset="0"/>
                <a:cs typeface="Times New Roman" pitchFamily="18" charset="0"/>
              </a:rPr>
              <a:t>Object/Major Head should be mentioned correctly. </a:t>
            </a:r>
          </a:p>
          <a:p>
            <a:r>
              <a:rPr lang="en-IN" sz="1600" dirty="0">
                <a:latin typeface="Times New Roman" pitchFamily="18" charset="0"/>
                <a:cs typeface="Times New Roman" pitchFamily="18" charset="0"/>
              </a:rPr>
              <a:t>  </a:t>
            </a:r>
          </a:p>
        </p:txBody>
      </p:sp>
      <p:sp>
        <p:nvSpPr>
          <p:cNvPr id="6" name="Slide Number Placeholder 5"/>
          <p:cNvSpPr>
            <a:spLocks noGrp="1"/>
          </p:cNvSpPr>
          <p:nvPr>
            <p:ph type="sldNum" sz="quarter" idx="12"/>
          </p:nvPr>
        </p:nvSpPr>
        <p:spPr>
          <a:xfrm>
            <a:off x="7924800" y="6215082"/>
            <a:ext cx="762000" cy="365125"/>
          </a:xfrm>
        </p:spPr>
        <p:txBody>
          <a:bodyPr/>
          <a:lstStyle/>
          <a:p>
            <a:fld id="{35E2A42F-3747-4313-B8AA-F8C71D2DB211}" type="slidenum">
              <a:rPr lang="en-IN" smtClean="0"/>
              <a:pPr/>
              <a:t>52</a:t>
            </a:fld>
            <a:endParaRPr lang="en-IN" dirty="0"/>
          </a:p>
        </p:txBody>
      </p:sp>
      <p:graphicFrame>
        <p:nvGraphicFramePr>
          <p:cNvPr id="7" name="Table 6"/>
          <p:cNvGraphicFramePr>
            <a:graphicFrameLocks noGrp="1"/>
          </p:cNvGraphicFramePr>
          <p:nvPr/>
        </p:nvGraphicFramePr>
        <p:xfrm>
          <a:off x="785786" y="3357562"/>
          <a:ext cx="7715304" cy="2387030"/>
        </p:xfrm>
        <a:graphic>
          <a:graphicData uri="http://schemas.openxmlformats.org/drawingml/2006/table">
            <a:tbl>
              <a:tblPr/>
              <a:tblGrid>
                <a:gridCol w="857257">
                  <a:extLst>
                    <a:ext uri="{9D8B030D-6E8A-4147-A177-3AD203B41FA5}">
                      <a16:colId xmlns="" xmlns:a16="http://schemas.microsoft.com/office/drawing/2014/main" val="20000"/>
                    </a:ext>
                  </a:extLst>
                </a:gridCol>
                <a:gridCol w="5672313">
                  <a:extLst>
                    <a:ext uri="{9D8B030D-6E8A-4147-A177-3AD203B41FA5}">
                      <a16:colId xmlns="" xmlns:a16="http://schemas.microsoft.com/office/drawing/2014/main" val="20001"/>
                    </a:ext>
                  </a:extLst>
                </a:gridCol>
                <a:gridCol w="1185734">
                  <a:extLst>
                    <a:ext uri="{9D8B030D-6E8A-4147-A177-3AD203B41FA5}">
                      <a16:colId xmlns="" xmlns:a16="http://schemas.microsoft.com/office/drawing/2014/main" val="20002"/>
                    </a:ext>
                  </a:extLst>
                </a:gridCol>
              </a:tblGrid>
              <a:tr h="285752">
                <a:tc>
                  <a:txBody>
                    <a:bodyPr/>
                    <a:lstStyle/>
                    <a:p>
                      <a:pPr algn="ctr">
                        <a:lnSpc>
                          <a:spcPct val="115000"/>
                        </a:lnSpc>
                        <a:spcAft>
                          <a:spcPts val="1000"/>
                        </a:spcAft>
                      </a:pPr>
                      <a:r>
                        <a:rPr lang="en-IN" sz="1800" b="1" dirty="0" err="1">
                          <a:latin typeface="Times New Roman" pitchFamily="18" charset="0"/>
                          <a:ea typeface="Calibri"/>
                          <a:cs typeface="Times New Roman" pitchFamily="18" charset="0"/>
                        </a:rPr>
                        <a:t>S.No</a:t>
                      </a:r>
                      <a:r>
                        <a:rPr lang="en-IN" sz="1800" b="1" dirty="0">
                          <a:latin typeface="Times New Roman" pitchFamily="18" charset="0"/>
                          <a:ea typeface="Calibri"/>
                          <a:cs typeface="Times New Roman" pitchFamily="18" charset="0"/>
                        </a:rPr>
                        <a:t>.</a:t>
                      </a:r>
                      <a:r>
                        <a:rPr lang="en-IN" sz="1800" dirty="0">
                          <a:latin typeface="Times New Roman" pitchFamily="18" charset="0"/>
                          <a:ea typeface="Calibri"/>
                          <a:cs typeface="Times New Roman" pitchFamily="18" charset="0"/>
                        </a:rPr>
                        <a:t> </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IN" sz="1800" b="1" dirty="0">
                          <a:latin typeface="Times New Roman" pitchFamily="18" charset="0"/>
                          <a:ea typeface="Calibri"/>
                          <a:cs typeface="Times New Roman" pitchFamily="18" charset="0"/>
                        </a:rPr>
                        <a:t>Subject </a:t>
                      </a:r>
                      <a:endParaRPr lang="en-IN" sz="1800" dirty="0">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IN" sz="1800" b="1" dirty="0">
                          <a:latin typeface="Times New Roman" pitchFamily="18" charset="0"/>
                          <a:ea typeface="Calibri"/>
                          <a:cs typeface="Times New Roman" pitchFamily="18" charset="0"/>
                        </a:rPr>
                        <a:t>Remarks</a:t>
                      </a:r>
                      <a:endParaRPr lang="en-IN" sz="1800" dirty="0">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r h="959042">
                <a:tc>
                  <a:txBody>
                    <a:bodyPr/>
                    <a:lstStyle/>
                    <a:p>
                      <a:pPr algn="ctr">
                        <a:lnSpc>
                          <a:spcPct val="115000"/>
                        </a:lnSpc>
                        <a:spcAft>
                          <a:spcPts val="1000"/>
                        </a:spcAft>
                      </a:pPr>
                      <a:r>
                        <a:rPr lang="en-IN" sz="1800" dirty="0">
                          <a:latin typeface="Times New Roman" pitchFamily="18" charset="0"/>
                          <a:ea typeface="Calibri"/>
                          <a:cs typeface="Times New Roman" pitchFamily="18" charset="0"/>
                        </a:rPr>
                        <a:t>1 </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buAutoNum type="alphaLcParenBoth"/>
                      </a:pPr>
                      <a:r>
                        <a:rPr kumimoji="0" lang="en-IN" sz="1800" kern="1200" dirty="0">
                          <a:solidFill>
                            <a:schemeClr val="tx1"/>
                          </a:solidFill>
                          <a:latin typeface="Times New Roman" pitchFamily="18" charset="0"/>
                          <a:ea typeface="+mn-ea"/>
                          <a:cs typeface="Times New Roman" pitchFamily="18" charset="0"/>
                        </a:rPr>
                        <a:t> Date of acquisition or completion of construction of the building and </a:t>
                      </a:r>
                    </a:p>
                    <a:p>
                      <a:pPr marL="342900" lvl="0" indent="-342900">
                        <a:buNone/>
                      </a:pPr>
                      <a:r>
                        <a:rPr kumimoji="0" lang="en-IN" sz="1800" kern="1200" dirty="0">
                          <a:solidFill>
                            <a:schemeClr val="tx1"/>
                          </a:solidFill>
                          <a:latin typeface="Times New Roman" pitchFamily="18" charset="0"/>
                          <a:ea typeface="+mn-ea"/>
                          <a:cs typeface="Times New Roman" pitchFamily="18" charset="0"/>
                        </a:rPr>
                        <a:t>(b)Total cost of acquisition or construction of the building,</a:t>
                      </a:r>
                    </a:p>
                    <a:p>
                      <a:pPr marL="342900" lvl="0" indent="-342900">
                        <a:buAutoNum type="alphaLcParenBoth"/>
                      </a:pPr>
                      <a:endParaRPr kumimoji="0" lang="en-IN" sz="1800" kern="1200" dirty="0">
                        <a:solidFill>
                          <a:schemeClr val="tx1"/>
                        </a:solidFill>
                        <a:latin typeface="Times New Roman" pitchFamily="18" charset="0"/>
                        <a:ea typeface="+mn-ea"/>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endParaRPr lang="en-IN" sz="1800" dirty="0">
                        <a:latin typeface="Calibri"/>
                        <a:ea typeface="Calibri"/>
                        <a:cs typeface="Times New Roman"/>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959042">
                <a:tc>
                  <a:txBody>
                    <a:bodyPr/>
                    <a:lstStyle/>
                    <a:p>
                      <a:pPr algn="ctr">
                        <a:lnSpc>
                          <a:spcPct val="115000"/>
                        </a:lnSpc>
                        <a:spcAft>
                          <a:spcPts val="1000"/>
                        </a:spcAft>
                      </a:pPr>
                      <a:r>
                        <a:rPr lang="en-IN" sz="1800" dirty="0">
                          <a:latin typeface="Times New Roman"/>
                          <a:ea typeface="Calibri"/>
                          <a:cs typeface="Times New Roman"/>
                        </a:rPr>
                        <a:t>2</a:t>
                      </a:r>
                      <a:endParaRPr lang="en-IN" sz="1800" dirty="0">
                        <a:latin typeface="Calibri"/>
                        <a:ea typeface="Calibri"/>
                        <a:cs typeface="Times New Roman"/>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just"/>
                      <a:r>
                        <a:rPr kumimoji="0" lang="en-IN" sz="1800" kern="1200" dirty="0">
                          <a:solidFill>
                            <a:schemeClr val="tx1"/>
                          </a:solidFill>
                          <a:latin typeface="Times New Roman" pitchFamily="18" charset="0"/>
                          <a:ea typeface="+mn-ea"/>
                          <a:cs typeface="Times New Roman" pitchFamily="18" charset="0"/>
                        </a:rPr>
                        <a:t>The agency which constructed the office/residential building or the agency from which the ready built office/residential building had been purchased.</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endParaRPr lang="en-IN" sz="1800" dirty="0">
                        <a:latin typeface="Calibri"/>
                        <a:ea typeface="Calibri"/>
                        <a:cs typeface="Times New Roman"/>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bl>
          </a:graphicData>
        </a:graphic>
      </p:graphicFrame>
      <p:sp>
        <p:nvSpPr>
          <p:cNvPr id="8" name="TextBox 7"/>
          <p:cNvSpPr txBox="1"/>
          <p:nvPr/>
        </p:nvSpPr>
        <p:spPr>
          <a:xfrm>
            <a:off x="990600" y="228600"/>
            <a:ext cx="2971800" cy="646331"/>
          </a:xfrm>
          <a:prstGeom prst="rect">
            <a:avLst/>
          </a:prstGeom>
          <a:noFill/>
        </p:spPr>
        <p:txBody>
          <a:bodyPr wrap="square" rtlCol="0">
            <a:spAutoFit/>
          </a:bodyPr>
          <a:lstStyle/>
          <a:p>
            <a:r>
              <a:rPr lang="en-IN" sz="3600" b="1" dirty="0">
                <a:solidFill>
                  <a:schemeClr val="accent1">
                    <a:lumMod val="75000"/>
                  </a:schemeClr>
                </a:solidFill>
                <a:latin typeface="Times New Roman" pitchFamily="18" charset="0"/>
                <a:cs typeface="Times New Roman" pitchFamily="18" charset="0"/>
              </a:rPr>
              <a:t>Check-List</a:t>
            </a:r>
            <a:endParaRPr lang="en-US" sz="3600" dirty="0">
              <a:solidFill>
                <a:schemeClr val="accent1">
                  <a:lumMod val="75000"/>
                </a:schemeClr>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7924800" y="6286520"/>
            <a:ext cx="762000" cy="365125"/>
          </a:xfrm>
        </p:spPr>
        <p:txBody>
          <a:bodyPr/>
          <a:lstStyle/>
          <a:p>
            <a:fld id="{35E2A42F-3747-4313-B8AA-F8C71D2DB211}" type="slidenum">
              <a:rPr lang="en-IN" smtClean="0"/>
              <a:pPr/>
              <a:t>53</a:t>
            </a:fld>
            <a:endParaRPr lang="en-IN" dirty="0"/>
          </a:p>
        </p:txBody>
      </p:sp>
      <p:graphicFrame>
        <p:nvGraphicFramePr>
          <p:cNvPr id="5" name="Table 4"/>
          <p:cNvGraphicFramePr>
            <a:graphicFrameLocks noGrp="1"/>
          </p:cNvGraphicFramePr>
          <p:nvPr/>
        </p:nvGraphicFramePr>
        <p:xfrm>
          <a:off x="381000" y="914400"/>
          <a:ext cx="7715304" cy="5723479"/>
        </p:xfrm>
        <a:graphic>
          <a:graphicData uri="http://schemas.openxmlformats.org/drawingml/2006/table">
            <a:tbl>
              <a:tblPr/>
              <a:tblGrid>
                <a:gridCol w="857257">
                  <a:extLst>
                    <a:ext uri="{9D8B030D-6E8A-4147-A177-3AD203B41FA5}">
                      <a16:colId xmlns="" xmlns:a16="http://schemas.microsoft.com/office/drawing/2014/main" val="20000"/>
                    </a:ext>
                  </a:extLst>
                </a:gridCol>
                <a:gridCol w="5672313">
                  <a:extLst>
                    <a:ext uri="{9D8B030D-6E8A-4147-A177-3AD203B41FA5}">
                      <a16:colId xmlns="" xmlns:a16="http://schemas.microsoft.com/office/drawing/2014/main" val="20001"/>
                    </a:ext>
                  </a:extLst>
                </a:gridCol>
                <a:gridCol w="1185734">
                  <a:extLst>
                    <a:ext uri="{9D8B030D-6E8A-4147-A177-3AD203B41FA5}">
                      <a16:colId xmlns="" xmlns:a16="http://schemas.microsoft.com/office/drawing/2014/main" val="20002"/>
                    </a:ext>
                  </a:extLst>
                </a:gridCol>
              </a:tblGrid>
              <a:tr h="622143">
                <a:tc>
                  <a:txBody>
                    <a:bodyPr/>
                    <a:lstStyle/>
                    <a:p>
                      <a:pPr algn="ctr">
                        <a:lnSpc>
                          <a:spcPct val="115000"/>
                        </a:lnSpc>
                        <a:spcAft>
                          <a:spcPts val="1000"/>
                        </a:spcAft>
                      </a:pPr>
                      <a:r>
                        <a:rPr lang="en-IN" sz="1800" b="1" dirty="0" err="1">
                          <a:latin typeface="Times New Roman" pitchFamily="18" charset="0"/>
                          <a:ea typeface="Calibri"/>
                          <a:cs typeface="Times New Roman" pitchFamily="18" charset="0"/>
                        </a:rPr>
                        <a:t>S.No</a:t>
                      </a:r>
                      <a:r>
                        <a:rPr lang="en-IN" sz="1800" b="1" dirty="0">
                          <a:latin typeface="Times New Roman" pitchFamily="18" charset="0"/>
                          <a:ea typeface="Calibri"/>
                          <a:cs typeface="Times New Roman" pitchFamily="18" charset="0"/>
                        </a:rPr>
                        <a:t>.</a:t>
                      </a:r>
                      <a:r>
                        <a:rPr lang="en-IN" sz="1800" dirty="0">
                          <a:latin typeface="Times New Roman" pitchFamily="18" charset="0"/>
                          <a:ea typeface="Calibri"/>
                          <a:cs typeface="Times New Roman" pitchFamily="18" charset="0"/>
                        </a:rPr>
                        <a:t> </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IN" sz="1800" b="1" dirty="0">
                          <a:latin typeface="Times New Roman" pitchFamily="18" charset="0"/>
                          <a:ea typeface="Calibri"/>
                          <a:cs typeface="Times New Roman" pitchFamily="18" charset="0"/>
                        </a:rPr>
                        <a:t>Subject </a:t>
                      </a:r>
                      <a:endParaRPr lang="en-IN" sz="1800" dirty="0">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IN" sz="1800" b="1" dirty="0">
                          <a:latin typeface="Times New Roman" pitchFamily="18" charset="0"/>
                          <a:ea typeface="Calibri"/>
                          <a:cs typeface="Times New Roman" pitchFamily="18" charset="0"/>
                        </a:rPr>
                        <a:t>Remarks</a:t>
                      </a:r>
                      <a:endParaRPr lang="en-IN" sz="1800" dirty="0">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r h="938954">
                <a:tc>
                  <a:txBody>
                    <a:bodyPr/>
                    <a:lstStyle/>
                    <a:p>
                      <a:pPr algn="ctr">
                        <a:lnSpc>
                          <a:spcPct val="115000"/>
                        </a:lnSpc>
                        <a:spcAft>
                          <a:spcPts val="1000"/>
                        </a:spcAft>
                      </a:pPr>
                      <a:r>
                        <a:rPr lang="en-IN" sz="1800" dirty="0">
                          <a:latin typeface="Times New Roman"/>
                          <a:ea typeface="Calibri"/>
                          <a:cs typeface="Times New Roman"/>
                        </a:rPr>
                        <a:t>3</a:t>
                      </a:r>
                      <a:endParaRPr lang="en-IN" sz="1800" dirty="0">
                        <a:latin typeface="Calibri"/>
                        <a:ea typeface="Calibri"/>
                        <a:cs typeface="Times New Roman"/>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60363" lvl="0" indent="-360363" algn="just"/>
                      <a:r>
                        <a:rPr kumimoji="0" lang="en-IN" sz="1800" kern="1200" dirty="0">
                          <a:solidFill>
                            <a:schemeClr val="tx1"/>
                          </a:solidFill>
                          <a:latin typeface="Times New Roman" pitchFamily="18" charset="0"/>
                          <a:ea typeface="+mn-ea"/>
                          <a:cs typeface="Times New Roman" pitchFamily="18" charset="0"/>
                        </a:rPr>
                        <a:t>(a) The status of utilization i.e. whether this building is fully used for office or residential purpose.</a:t>
                      </a:r>
                    </a:p>
                    <a:p>
                      <a:pPr marL="360363" indent="-360363" algn="just"/>
                      <a:r>
                        <a:rPr kumimoji="0" lang="en-IN" sz="1800" kern="1200" dirty="0">
                          <a:solidFill>
                            <a:schemeClr val="tx1"/>
                          </a:solidFill>
                          <a:latin typeface="Times New Roman" pitchFamily="18" charset="0"/>
                          <a:ea typeface="+mn-ea"/>
                          <a:cs typeface="Times New Roman" pitchFamily="18" charset="0"/>
                        </a:rPr>
                        <a:t>(b)	In case of office building whether the entire building is being used. If not, the reasons thereof. </a:t>
                      </a:r>
                    </a:p>
                    <a:p>
                      <a:pPr marL="360363" indent="-360363" algn="just"/>
                      <a:r>
                        <a:rPr kumimoji="0" lang="en-IN" sz="1800" kern="1200" dirty="0">
                          <a:solidFill>
                            <a:schemeClr val="tx1"/>
                          </a:solidFill>
                          <a:latin typeface="Times New Roman" pitchFamily="18" charset="0"/>
                          <a:ea typeface="+mn-ea"/>
                          <a:cs typeface="Times New Roman" pitchFamily="18" charset="0"/>
                        </a:rPr>
                        <a:t>(c)	In case of residential quarters/flats, details of types of flats and the number of flats under occupation.</a:t>
                      </a:r>
                    </a:p>
                    <a:p>
                      <a:pPr marL="360363" indent="-360363" algn="just"/>
                      <a:r>
                        <a:rPr kumimoji="0" lang="en-IN" sz="1800" kern="1200" dirty="0">
                          <a:solidFill>
                            <a:schemeClr val="tx1"/>
                          </a:solidFill>
                          <a:latin typeface="Times New Roman" pitchFamily="18" charset="0"/>
                          <a:ea typeface="+mn-ea"/>
                          <a:cs typeface="Times New Roman" pitchFamily="18" charset="0"/>
                        </a:rPr>
                        <a:t>(d)	If not occupied fully, the reasons thereof and the plan of the Department to utilize the unoccupied quarters or to dispose of these unutilized quarters/buildings to prevent wastage in maintenance expenditure.</a:t>
                      </a:r>
                    </a:p>
                    <a:p>
                      <a:pPr algn="just">
                        <a:lnSpc>
                          <a:spcPct val="115000"/>
                        </a:lnSpc>
                        <a:spcAft>
                          <a:spcPts val="1000"/>
                        </a:spcAft>
                      </a:pPr>
                      <a:endParaRPr lang="en-IN" sz="1800" dirty="0">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endParaRPr lang="en-IN" sz="1800" dirty="0">
                        <a:latin typeface="Calibri"/>
                        <a:ea typeface="Calibri"/>
                        <a:cs typeface="Times New Roman"/>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938954">
                <a:tc>
                  <a:txBody>
                    <a:bodyPr/>
                    <a:lstStyle/>
                    <a:p>
                      <a:pPr algn="ctr">
                        <a:lnSpc>
                          <a:spcPct val="115000"/>
                        </a:lnSpc>
                        <a:spcAft>
                          <a:spcPts val="1000"/>
                        </a:spcAft>
                      </a:pPr>
                      <a:r>
                        <a:rPr lang="en-IN" sz="1800" dirty="0">
                          <a:latin typeface="Times New Roman" pitchFamily="18" charset="0"/>
                          <a:ea typeface="Calibri"/>
                          <a:cs typeface="Times New Roman" pitchFamily="18" charset="0"/>
                        </a:rPr>
                        <a:t>4</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just" defTabSz="914400" rtl="0" eaLnBrk="1" fontAlgn="auto" latinLnBrk="0" hangingPunct="1">
                        <a:lnSpc>
                          <a:spcPct val="115000"/>
                        </a:lnSpc>
                        <a:spcBef>
                          <a:spcPts val="0"/>
                        </a:spcBef>
                        <a:spcAft>
                          <a:spcPts val="1000"/>
                        </a:spcAft>
                        <a:buClrTx/>
                        <a:buSzTx/>
                        <a:buFontTx/>
                        <a:buNone/>
                        <a:tabLst/>
                        <a:defRPr/>
                      </a:pPr>
                      <a:r>
                        <a:rPr kumimoji="0" lang="en-IN" sz="1800" kern="1200" dirty="0">
                          <a:solidFill>
                            <a:schemeClr val="tx1"/>
                          </a:solidFill>
                          <a:latin typeface="Times New Roman" pitchFamily="18" charset="0"/>
                          <a:ea typeface="+mn-ea"/>
                          <a:cs typeface="Times New Roman" pitchFamily="18" charset="0"/>
                        </a:rPr>
                        <a:t>Whether the repair and maintenance estimates are of regular nature or one time special repair nature or both </a:t>
                      </a:r>
                    </a:p>
                    <a:p>
                      <a:pPr algn="just">
                        <a:lnSpc>
                          <a:spcPct val="115000"/>
                        </a:lnSpc>
                        <a:spcAft>
                          <a:spcPts val="1000"/>
                        </a:spcAft>
                      </a:pPr>
                      <a:endParaRPr lang="en-IN" sz="1800" dirty="0">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endParaRPr lang="en-IN" sz="1800" dirty="0">
                        <a:latin typeface="Calibri"/>
                        <a:ea typeface="Calibri"/>
                        <a:cs typeface="Times New Roman"/>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r h="938954">
                <a:tc>
                  <a:txBody>
                    <a:bodyPr/>
                    <a:lstStyle/>
                    <a:p>
                      <a:pPr algn="ctr">
                        <a:lnSpc>
                          <a:spcPct val="115000"/>
                        </a:lnSpc>
                        <a:spcAft>
                          <a:spcPts val="1000"/>
                        </a:spcAft>
                      </a:pPr>
                      <a:r>
                        <a:rPr lang="en-IN" sz="1800" dirty="0">
                          <a:latin typeface="Times New Roman" pitchFamily="18" charset="0"/>
                          <a:ea typeface="Calibri"/>
                          <a:cs typeface="Times New Roman" pitchFamily="18" charset="0"/>
                        </a:rPr>
                        <a:t>5</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just" defTabSz="914400" rtl="0" eaLnBrk="1" fontAlgn="auto" latinLnBrk="0" hangingPunct="1">
                        <a:lnSpc>
                          <a:spcPct val="115000"/>
                        </a:lnSpc>
                        <a:spcBef>
                          <a:spcPts val="0"/>
                        </a:spcBef>
                        <a:spcAft>
                          <a:spcPts val="1000"/>
                        </a:spcAft>
                        <a:buClrTx/>
                        <a:buSzTx/>
                        <a:buFontTx/>
                        <a:buNone/>
                        <a:tabLst/>
                        <a:defRPr/>
                      </a:pPr>
                      <a:r>
                        <a:rPr kumimoji="0" lang="en-IN" sz="1800" kern="1200" dirty="0">
                          <a:solidFill>
                            <a:schemeClr val="tx1"/>
                          </a:solidFill>
                          <a:latin typeface="Times New Roman" pitchFamily="18" charset="0"/>
                          <a:ea typeface="+mn-ea"/>
                          <a:cs typeface="Times New Roman" pitchFamily="18" charset="0"/>
                        </a:rPr>
                        <a:t>Whether the Delegated Financial Powers of HOD viz. ₹ 30 </a:t>
                      </a:r>
                      <a:r>
                        <a:rPr kumimoji="0" lang="en-IN" sz="1800" kern="1200" dirty="0" err="1">
                          <a:solidFill>
                            <a:schemeClr val="tx1"/>
                          </a:solidFill>
                          <a:latin typeface="Times New Roman" pitchFamily="18" charset="0"/>
                          <a:ea typeface="+mn-ea"/>
                          <a:cs typeface="Times New Roman" pitchFamily="18" charset="0"/>
                        </a:rPr>
                        <a:t>lakhs</a:t>
                      </a:r>
                      <a:r>
                        <a:rPr kumimoji="0" lang="en-IN" sz="1800" kern="1200" dirty="0">
                          <a:solidFill>
                            <a:schemeClr val="tx1"/>
                          </a:solidFill>
                          <a:latin typeface="Times New Roman" pitchFamily="18" charset="0"/>
                          <a:ea typeface="+mn-ea"/>
                          <a:cs typeface="Times New Roman" pitchFamily="18" charset="0"/>
                        </a:rPr>
                        <a:t> have been exhausted in the current F.Y. If yes, a certificate to the effect is to be produced.</a:t>
                      </a:r>
                      <a:endParaRPr lang="en-IN" sz="1800" dirty="0">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endParaRPr lang="en-IN" sz="1800" dirty="0">
                        <a:latin typeface="Calibri"/>
                        <a:ea typeface="Calibri"/>
                        <a:cs typeface="Times New Roman"/>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bl>
          </a:graphicData>
        </a:graphic>
      </p:graphicFrame>
      <p:sp>
        <p:nvSpPr>
          <p:cNvPr id="6" name="TextBox 5"/>
          <p:cNvSpPr txBox="1"/>
          <p:nvPr/>
        </p:nvSpPr>
        <p:spPr>
          <a:xfrm>
            <a:off x="990600" y="228600"/>
            <a:ext cx="2971800" cy="523220"/>
          </a:xfrm>
          <a:prstGeom prst="rect">
            <a:avLst/>
          </a:prstGeom>
          <a:noFill/>
        </p:spPr>
        <p:txBody>
          <a:bodyPr wrap="square" rtlCol="0">
            <a:spAutoFit/>
          </a:bodyPr>
          <a:lstStyle/>
          <a:p>
            <a:r>
              <a:rPr lang="en-IN" sz="2800" b="1" dirty="0">
                <a:solidFill>
                  <a:schemeClr val="accent1">
                    <a:lumMod val="75000"/>
                  </a:schemeClr>
                </a:solidFill>
                <a:latin typeface="Times New Roman" pitchFamily="18" charset="0"/>
                <a:cs typeface="Times New Roman" pitchFamily="18" charset="0"/>
              </a:rPr>
              <a:t>Check-List</a:t>
            </a:r>
            <a:endParaRPr lang="en-US" sz="2800" dirty="0">
              <a:solidFill>
                <a:schemeClr val="accent1">
                  <a:lumMod val="75000"/>
                </a:schemeClr>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5E2A42F-3747-4313-B8AA-F8C71D2DB211}" type="slidenum">
              <a:rPr lang="en-IN" smtClean="0"/>
              <a:pPr/>
              <a:t>54</a:t>
            </a:fld>
            <a:endParaRPr lang="en-IN"/>
          </a:p>
        </p:txBody>
      </p:sp>
      <p:graphicFrame>
        <p:nvGraphicFramePr>
          <p:cNvPr id="5" name="Table 4"/>
          <p:cNvGraphicFramePr>
            <a:graphicFrameLocks noGrp="1"/>
          </p:cNvGraphicFramePr>
          <p:nvPr/>
        </p:nvGraphicFramePr>
        <p:xfrm>
          <a:off x="381000" y="838200"/>
          <a:ext cx="8143932" cy="5884450"/>
        </p:xfrm>
        <a:graphic>
          <a:graphicData uri="http://schemas.openxmlformats.org/drawingml/2006/table">
            <a:tbl>
              <a:tblPr/>
              <a:tblGrid>
                <a:gridCol w="904882">
                  <a:extLst>
                    <a:ext uri="{9D8B030D-6E8A-4147-A177-3AD203B41FA5}">
                      <a16:colId xmlns="" xmlns:a16="http://schemas.microsoft.com/office/drawing/2014/main" val="20000"/>
                    </a:ext>
                  </a:extLst>
                </a:gridCol>
                <a:gridCol w="6167480">
                  <a:extLst>
                    <a:ext uri="{9D8B030D-6E8A-4147-A177-3AD203B41FA5}">
                      <a16:colId xmlns="" xmlns:a16="http://schemas.microsoft.com/office/drawing/2014/main" val="20001"/>
                    </a:ext>
                  </a:extLst>
                </a:gridCol>
                <a:gridCol w="1071570">
                  <a:extLst>
                    <a:ext uri="{9D8B030D-6E8A-4147-A177-3AD203B41FA5}">
                      <a16:colId xmlns="" xmlns:a16="http://schemas.microsoft.com/office/drawing/2014/main" val="20002"/>
                    </a:ext>
                  </a:extLst>
                </a:gridCol>
              </a:tblGrid>
              <a:tr h="335878">
                <a:tc>
                  <a:txBody>
                    <a:bodyPr/>
                    <a:lstStyle/>
                    <a:p>
                      <a:pPr algn="ctr">
                        <a:lnSpc>
                          <a:spcPct val="115000"/>
                        </a:lnSpc>
                        <a:spcAft>
                          <a:spcPts val="1000"/>
                        </a:spcAft>
                      </a:pPr>
                      <a:r>
                        <a:rPr lang="en-IN" sz="1600" b="1" dirty="0" err="1">
                          <a:latin typeface="Times New Roman" pitchFamily="18" charset="0"/>
                          <a:ea typeface="Calibri"/>
                          <a:cs typeface="Times New Roman" pitchFamily="18" charset="0"/>
                        </a:rPr>
                        <a:t>S.No</a:t>
                      </a:r>
                      <a:r>
                        <a:rPr lang="en-IN" sz="1600" b="1" dirty="0">
                          <a:latin typeface="Times New Roman" pitchFamily="18" charset="0"/>
                          <a:ea typeface="Calibri"/>
                          <a:cs typeface="Times New Roman" pitchFamily="18" charset="0"/>
                        </a:rPr>
                        <a:t>.</a:t>
                      </a:r>
                      <a:r>
                        <a:rPr lang="en-IN" sz="1600" dirty="0">
                          <a:latin typeface="Times New Roman" pitchFamily="18" charset="0"/>
                          <a:ea typeface="Calibri"/>
                          <a:cs typeface="Times New Roman" pitchFamily="18" charset="0"/>
                        </a:rPr>
                        <a:t> </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IN" sz="1600" b="1" dirty="0">
                          <a:latin typeface="Times New Roman" pitchFamily="18" charset="0"/>
                          <a:ea typeface="Calibri"/>
                          <a:cs typeface="Times New Roman" pitchFamily="18" charset="0"/>
                        </a:rPr>
                        <a:t>Subject </a:t>
                      </a:r>
                      <a:endParaRPr lang="en-IN" sz="1600" dirty="0">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IN" sz="1600" b="1" dirty="0">
                          <a:latin typeface="Times New Roman" pitchFamily="18" charset="0"/>
                          <a:ea typeface="Calibri"/>
                          <a:cs typeface="Times New Roman" pitchFamily="18" charset="0"/>
                        </a:rPr>
                        <a:t>Remarks</a:t>
                      </a:r>
                      <a:endParaRPr lang="en-IN" sz="1600" dirty="0">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r h="2149617">
                <a:tc>
                  <a:txBody>
                    <a:bodyPr/>
                    <a:lstStyle/>
                    <a:p>
                      <a:pPr algn="ctr">
                        <a:lnSpc>
                          <a:spcPct val="115000"/>
                        </a:lnSpc>
                        <a:spcAft>
                          <a:spcPts val="1000"/>
                        </a:spcAft>
                      </a:pPr>
                      <a:r>
                        <a:rPr lang="en-IN" sz="1600" dirty="0">
                          <a:latin typeface="Times New Roman"/>
                          <a:ea typeface="Calibri"/>
                          <a:cs typeface="Times New Roman"/>
                        </a:rPr>
                        <a:t>6</a:t>
                      </a:r>
                      <a:endParaRPr lang="en-IN" sz="1600" dirty="0">
                        <a:latin typeface="Calibri"/>
                        <a:ea typeface="Calibri"/>
                        <a:cs typeface="Times New Roman"/>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539750" lvl="0" indent="-539750" algn="just"/>
                      <a:r>
                        <a:rPr kumimoji="0" lang="en-IN" sz="1600" b="1" kern="1200" dirty="0">
                          <a:solidFill>
                            <a:schemeClr val="tx1"/>
                          </a:solidFill>
                          <a:latin typeface="Times New Roman" pitchFamily="18" charset="0"/>
                          <a:ea typeface="+mn-ea"/>
                          <a:cs typeface="Times New Roman" pitchFamily="18" charset="0"/>
                        </a:rPr>
                        <a:t>(a)</a:t>
                      </a:r>
                      <a:r>
                        <a:rPr kumimoji="0" lang="en-IN" sz="1600" kern="1200" dirty="0">
                          <a:solidFill>
                            <a:schemeClr val="tx1"/>
                          </a:solidFill>
                          <a:latin typeface="Times New Roman" pitchFamily="18" charset="0"/>
                          <a:ea typeface="+mn-ea"/>
                          <a:cs typeface="Times New Roman" pitchFamily="18" charset="0"/>
                        </a:rPr>
                        <a:t>	If the repair and maintenance estimates are of regular nature then the previous financial year’s estimates and approval for the same items may be indicated.</a:t>
                      </a:r>
                    </a:p>
                    <a:p>
                      <a:pPr marL="539750" indent="-539750" algn="just"/>
                      <a:r>
                        <a:rPr kumimoji="0" lang="en-IN" sz="1600" b="1" kern="1200" dirty="0">
                          <a:solidFill>
                            <a:schemeClr val="tx1"/>
                          </a:solidFill>
                          <a:latin typeface="Times New Roman" pitchFamily="18" charset="0"/>
                          <a:ea typeface="+mn-ea"/>
                          <a:cs typeface="Times New Roman" pitchFamily="18" charset="0"/>
                        </a:rPr>
                        <a:t>(b)</a:t>
                      </a:r>
                      <a:r>
                        <a:rPr kumimoji="0" lang="en-IN" sz="1600" kern="1200" dirty="0">
                          <a:solidFill>
                            <a:schemeClr val="tx1"/>
                          </a:solidFill>
                          <a:latin typeface="Times New Roman" pitchFamily="18" charset="0"/>
                          <a:ea typeface="+mn-ea"/>
                          <a:cs typeface="Times New Roman" pitchFamily="18" charset="0"/>
                        </a:rPr>
                        <a:t>	If the repair and maintenance estimates are of special nature then the details of last such special repair and maintenance work undertaken and approval may be indicated.</a:t>
                      </a:r>
                    </a:p>
                    <a:p>
                      <a:pPr marL="539750" indent="-539750" algn="just"/>
                      <a:r>
                        <a:rPr kumimoji="0" lang="en-IN" sz="1600" b="1" kern="1200" dirty="0">
                          <a:solidFill>
                            <a:schemeClr val="tx1"/>
                          </a:solidFill>
                          <a:latin typeface="Times New Roman" pitchFamily="18" charset="0"/>
                          <a:ea typeface="+mn-ea"/>
                          <a:cs typeface="Times New Roman" pitchFamily="18" charset="0"/>
                        </a:rPr>
                        <a:t>(c)</a:t>
                      </a:r>
                      <a:r>
                        <a:rPr kumimoji="0" lang="en-IN" sz="1600" kern="1200" dirty="0">
                          <a:solidFill>
                            <a:schemeClr val="tx1"/>
                          </a:solidFill>
                          <a:latin typeface="Times New Roman" pitchFamily="18" charset="0"/>
                          <a:ea typeface="+mn-ea"/>
                          <a:cs typeface="Times New Roman" pitchFamily="18" charset="0"/>
                        </a:rPr>
                        <a:t>	the number of such special repair and maintenance works undertaken after taking possession of the building/on completion of construction or after purchase, may be indicated.</a:t>
                      </a:r>
                      <a:endParaRPr lang="en-IN" sz="1600" dirty="0">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endParaRPr lang="en-IN" sz="1600" dirty="0">
                        <a:latin typeface="Calibri"/>
                        <a:ea typeface="Calibri"/>
                        <a:cs typeface="Times New Roman"/>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1841493">
                <a:tc>
                  <a:txBody>
                    <a:bodyPr/>
                    <a:lstStyle/>
                    <a:p>
                      <a:pPr algn="ctr">
                        <a:lnSpc>
                          <a:spcPct val="115000"/>
                        </a:lnSpc>
                        <a:spcAft>
                          <a:spcPts val="1000"/>
                        </a:spcAft>
                      </a:pPr>
                      <a:r>
                        <a:rPr lang="en-IN" sz="1600" dirty="0">
                          <a:latin typeface="Times New Roman" pitchFamily="18" charset="0"/>
                          <a:ea typeface="Calibri"/>
                          <a:cs typeface="Times New Roman" pitchFamily="18" charset="0"/>
                        </a:rPr>
                        <a:t>7</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539750" indent="-539750" algn="just"/>
                      <a:r>
                        <a:rPr kumimoji="0" lang="en-IN" sz="1600" b="1" kern="1200" dirty="0">
                          <a:solidFill>
                            <a:schemeClr val="tx1"/>
                          </a:solidFill>
                          <a:latin typeface="Times New Roman" pitchFamily="18" charset="0"/>
                          <a:ea typeface="+mn-ea"/>
                          <a:cs typeface="Times New Roman" pitchFamily="18" charset="0"/>
                        </a:rPr>
                        <a:t>(a)</a:t>
                      </a:r>
                      <a:r>
                        <a:rPr kumimoji="0" lang="en-IN" sz="1600" kern="1200" dirty="0">
                          <a:solidFill>
                            <a:schemeClr val="tx1"/>
                          </a:solidFill>
                          <a:latin typeface="Times New Roman" pitchFamily="18" charset="0"/>
                          <a:ea typeface="+mn-ea"/>
                          <a:cs typeface="Times New Roman" pitchFamily="18" charset="0"/>
                        </a:rPr>
                        <a:t>	The certification from the CPWD that only those items of repair and maintenance (whether one time repairs of special nature or regular/annual repair) have been included in the estimates which are permissible in general pool office or residential accommodation of similar types. </a:t>
                      </a:r>
                    </a:p>
                    <a:p>
                      <a:pPr marL="539750" indent="-539750" algn="just"/>
                      <a:r>
                        <a:rPr kumimoji="0" lang="en-IN" sz="1600" b="1" kern="1200" dirty="0">
                          <a:solidFill>
                            <a:schemeClr val="tx1"/>
                          </a:solidFill>
                          <a:latin typeface="Times New Roman" pitchFamily="18" charset="0"/>
                          <a:ea typeface="+mn-ea"/>
                          <a:cs typeface="Times New Roman" pitchFamily="18" charset="0"/>
                        </a:rPr>
                        <a:t>(b)</a:t>
                      </a:r>
                      <a:r>
                        <a:rPr kumimoji="0" lang="en-IN" sz="1600" kern="1200" dirty="0">
                          <a:solidFill>
                            <a:schemeClr val="tx1"/>
                          </a:solidFill>
                          <a:latin typeface="Times New Roman" pitchFamily="18" charset="0"/>
                          <a:ea typeface="+mn-ea"/>
                          <a:cs typeface="Times New Roman" pitchFamily="18" charset="0"/>
                        </a:rPr>
                        <a:t>	If the agency is other than the CPWD, whether GFR provision has been followed in its engagement and the certification as required in item 6(a) above has been provided.</a:t>
                      </a:r>
                      <a:endParaRPr lang="en-IN" sz="1600" dirty="0">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endParaRPr lang="en-IN" sz="1600" dirty="0">
                        <a:latin typeface="Calibri"/>
                        <a:ea typeface="Calibri"/>
                        <a:cs typeface="Times New Roman"/>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r h="1388052">
                <a:tc>
                  <a:txBody>
                    <a:bodyPr/>
                    <a:lstStyle/>
                    <a:p>
                      <a:pPr algn="ctr">
                        <a:lnSpc>
                          <a:spcPct val="115000"/>
                        </a:lnSpc>
                        <a:spcAft>
                          <a:spcPts val="1000"/>
                        </a:spcAft>
                      </a:pPr>
                      <a:r>
                        <a:rPr lang="en-IN" sz="1600" dirty="0">
                          <a:latin typeface="Times New Roman" pitchFamily="18" charset="0"/>
                          <a:ea typeface="Calibri"/>
                          <a:cs typeface="Times New Roman" pitchFamily="18" charset="0"/>
                        </a:rPr>
                        <a:t>8</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just"/>
                      <a:r>
                        <a:rPr kumimoji="0" lang="en-IN" sz="1600" kern="1200" dirty="0">
                          <a:solidFill>
                            <a:schemeClr val="tx1"/>
                          </a:solidFill>
                          <a:latin typeface="Times New Roman" pitchFamily="18" charset="0"/>
                          <a:ea typeface="+mn-ea"/>
                          <a:cs typeface="Times New Roman" pitchFamily="18" charset="0"/>
                        </a:rPr>
                        <a:t>Whether the items of regular or one time special repair fall within the liability of the agency which constructed the building or from which the building had been purchased. If yes, whether that agency has been contacted for this repair work/expenditure. The  details thereof.</a:t>
                      </a:r>
                      <a:endParaRPr lang="en-IN" sz="1600" dirty="0">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endParaRPr lang="en-IN" sz="1600" dirty="0">
                        <a:latin typeface="Calibri"/>
                        <a:ea typeface="Calibri"/>
                        <a:cs typeface="Times New Roman"/>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bl>
          </a:graphicData>
        </a:graphic>
      </p:graphicFrame>
      <p:sp>
        <p:nvSpPr>
          <p:cNvPr id="7" name="TextBox 6"/>
          <p:cNvSpPr txBox="1"/>
          <p:nvPr/>
        </p:nvSpPr>
        <p:spPr>
          <a:xfrm>
            <a:off x="990600" y="228600"/>
            <a:ext cx="2971800" cy="523220"/>
          </a:xfrm>
          <a:prstGeom prst="rect">
            <a:avLst/>
          </a:prstGeom>
          <a:noFill/>
        </p:spPr>
        <p:txBody>
          <a:bodyPr wrap="square" rtlCol="0">
            <a:spAutoFit/>
          </a:bodyPr>
          <a:lstStyle/>
          <a:p>
            <a:r>
              <a:rPr lang="en-IN" sz="2800" b="1" dirty="0">
                <a:solidFill>
                  <a:schemeClr val="accent1">
                    <a:lumMod val="75000"/>
                  </a:schemeClr>
                </a:solidFill>
                <a:latin typeface="Times New Roman" pitchFamily="18" charset="0"/>
                <a:cs typeface="Times New Roman" pitchFamily="18" charset="0"/>
              </a:rPr>
              <a:t>Check-List</a:t>
            </a:r>
            <a:endParaRPr lang="en-US" sz="2800" dirty="0">
              <a:solidFill>
                <a:schemeClr val="accent1">
                  <a:lumMod val="75000"/>
                </a:schemeClr>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5E2A42F-3747-4313-B8AA-F8C71D2DB211}" type="slidenum">
              <a:rPr lang="en-IN" smtClean="0"/>
              <a:pPr/>
              <a:t>55</a:t>
            </a:fld>
            <a:endParaRPr lang="en-IN"/>
          </a:p>
        </p:txBody>
      </p:sp>
      <p:graphicFrame>
        <p:nvGraphicFramePr>
          <p:cNvPr id="5" name="Table 4"/>
          <p:cNvGraphicFramePr>
            <a:graphicFrameLocks noGrp="1"/>
          </p:cNvGraphicFramePr>
          <p:nvPr/>
        </p:nvGraphicFramePr>
        <p:xfrm>
          <a:off x="285720" y="1056746"/>
          <a:ext cx="8429684" cy="5244822"/>
        </p:xfrm>
        <a:graphic>
          <a:graphicData uri="http://schemas.openxmlformats.org/drawingml/2006/table">
            <a:tbl>
              <a:tblPr/>
              <a:tblGrid>
                <a:gridCol w="936632">
                  <a:extLst>
                    <a:ext uri="{9D8B030D-6E8A-4147-A177-3AD203B41FA5}">
                      <a16:colId xmlns="" xmlns:a16="http://schemas.microsoft.com/office/drawing/2014/main" val="20000"/>
                    </a:ext>
                  </a:extLst>
                </a:gridCol>
                <a:gridCol w="6383883">
                  <a:extLst>
                    <a:ext uri="{9D8B030D-6E8A-4147-A177-3AD203B41FA5}">
                      <a16:colId xmlns="" xmlns:a16="http://schemas.microsoft.com/office/drawing/2014/main" val="20001"/>
                    </a:ext>
                  </a:extLst>
                </a:gridCol>
                <a:gridCol w="1109169">
                  <a:extLst>
                    <a:ext uri="{9D8B030D-6E8A-4147-A177-3AD203B41FA5}">
                      <a16:colId xmlns="" xmlns:a16="http://schemas.microsoft.com/office/drawing/2014/main" val="20002"/>
                    </a:ext>
                  </a:extLst>
                </a:gridCol>
              </a:tblGrid>
              <a:tr h="272988">
                <a:tc>
                  <a:txBody>
                    <a:bodyPr/>
                    <a:lstStyle/>
                    <a:p>
                      <a:pPr algn="ctr">
                        <a:lnSpc>
                          <a:spcPct val="115000"/>
                        </a:lnSpc>
                        <a:spcAft>
                          <a:spcPts val="1000"/>
                        </a:spcAft>
                      </a:pPr>
                      <a:r>
                        <a:rPr lang="en-IN" sz="1600" b="1" dirty="0" err="1">
                          <a:latin typeface="Times New Roman" pitchFamily="18" charset="0"/>
                          <a:ea typeface="Calibri"/>
                          <a:cs typeface="Times New Roman" pitchFamily="18" charset="0"/>
                        </a:rPr>
                        <a:t>S.No</a:t>
                      </a:r>
                      <a:r>
                        <a:rPr lang="en-IN" sz="1600" b="1" dirty="0">
                          <a:latin typeface="Times New Roman" pitchFamily="18" charset="0"/>
                          <a:ea typeface="Calibri"/>
                          <a:cs typeface="Times New Roman" pitchFamily="18" charset="0"/>
                        </a:rPr>
                        <a:t>.</a:t>
                      </a:r>
                      <a:r>
                        <a:rPr lang="en-IN" sz="1600" dirty="0">
                          <a:latin typeface="Times New Roman" pitchFamily="18" charset="0"/>
                          <a:ea typeface="Calibri"/>
                          <a:cs typeface="Times New Roman" pitchFamily="18" charset="0"/>
                        </a:rPr>
                        <a:t> </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IN" sz="1600" b="1" dirty="0">
                          <a:latin typeface="Times New Roman" pitchFamily="18" charset="0"/>
                          <a:ea typeface="Calibri"/>
                          <a:cs typeface="Times New Roman" pitchFamily="18" charset="0"/>
                        </a:rPr>
                        <a:t>Subject </a:t>
                      </a:r>
                      <a:endParaRPr lang="en-IN" sz="1600" dirty="0">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1000"/>
                        </a:spcAft>
                      </a:pPr>
                      <a:r>
                        <a:rPr lang="en-IN" sz="1600" b="1" dirty="0">
                          <a:latin typeface="Times New Roman" pitchFamily="18" charset="0"/>
                          <a:ea typeface="Calibri"/>
                          <a:cs typeface="Times New Roman" pitchFamily="18" charset="0"/>
                        </a:rPr>
                        <a:t>Remarks</a:t>
                      </a:r>
                      <a:endParaRPr lang="en-IN" sz="1600" dirty="0">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r h="791711">
                <a:tc>
                  <a:txBody>
                    <a:bodyPr/>
                    <a:lstStyle/>
                    <a:p>
                      <a:pPr algn="ctr">
                        <a:lnSpc>
                          <a:spcPct val="115000"/>
                        </a:lnSpc>
                        <a:spcAft>
                          <a:spcPts val="1000"/>
                        </a:spcAft>
                      </a:pPr>
                      <a:r>
                        <a:rPr lang="en-IN" sz="1600" dirty="0">
                          <a:latin typeface="Times New Roman" pitchFamily="18" charset="0"/>
                          <a:ea typeface="Calibri"/>
                          <a:cs typeface="Times New Roman" pitchFamily="18" charset="0"/>
                        </a:rPr>
                        <a:t>9</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just"/>
                      <a:r>
                        <a:rPr kumimoji="0" lang="en-IN" sz="1800" kern="1200" dirty="0">
                          <a:solidFill>
                            <a:schemeClr val="tx1"/>
                          </a:solidFill>
                          <a:latin typeface="Times New Roman" pitchFamily="18" charset="0"/>
                          <a:ea typeface="+mn-ea"/>
                          <a:cs typeface="Times New Roman" pitchFamily="18" charset="0"/>
                        </a:rPr>
                        <a:t>The availability of budget along with the Demand Number, Major Heads, Object Head, etc. from which this expenditure will be booked.</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endParaRPr lang="en-IN" sz="1600" dirty="0">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327585">
                <a:tc>
                  <a:txBody>
                    <a:bodyPr/>
                    <a:lstStyle/>
                    <a:p>
                      <a:pPr algn="ctr">
                        <a:lnSpc>
                          <a:spcPct val="115000"/>
                        </a:lnSpc>
                        <a:spcAft>
                          <a:spcPts val="1000"/>
                        </a:spcAft>
                      </a:pPr>
                      <a:r>
                        <a:rPr lang="en-IN" sz="1600" dirty="0">
                          <a:latin typeface="Times New Roman" pitchFamily="18" charset="0"/>
                          <a:ea typeface="Calibri"/>
                          <a:cs typeface="Times New Roman" pitchFamily="18" charset="0"/>
                        </a:rPr>
                        <a:t>10</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0" algn="just"/>
                      <a:r>
                        <a:rPr kumimoji="0" lang="en-IN" sz="1800" kern="1200" dirty="0">
                          <a:solidFill>
                            <a:schemeClr val="tx1"/>
                          </a:solidFill>
                          <a:latin typeface="Times New Roman" pitchFamily="18" charset="0"/>
                          <a:ea typeface="+mn-ea"/>
                          <a:cs typeface="Times New Roman" pitchFamily="18" charset="0"/>
                        </a:rPr>
                        <a:t>Date of the estimates and the total amount involved.</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endParaRPr lang="en-IN" sz="1600" dirty="0">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r h="636776">
                <a:tc>
                  <a:txBody>
                    <a:bodyPr/>
                    <a:lstStyle/>
                    <a:p>
                      <a:pPr algn="ctr">
                        <a:lnSpc>
                          <a:spcPct val="115000"/>
                        </a:lnSpc>
                        <a:spcAft>
                          <a:spcPts val="1000"/>
                        </a:spcAft>
                      </a:pPr>
                      <a:r>
                        <a:rPr lang="en-IN" sz="1600" dirty="0">
                          <a:latin typeface="Times New Roman" pitchFamily="18" charset="0"/>
                          <a:ea typeface="Calibri"/>
                          <a:cs typeface="Times New Roman" pitchFamily="18" charset="0"/>
                        </a:rPr>
                        <a:t>11</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r>
                        <a:rPr kumimoji="0" lang="en-IN" sz="1800" kern="1200" dirty="0">
                          <a:solidFill>
                            <a:schemeClr val="tx1"/>
                          </a:solidFill>
                          <a:latin typeface="Times New Roman" pitchFamily="18" charset="0"/>
                          <a:ea typeface="+mn-ea"/>
                          <a:cs typeface="Times New Roman" pitchFamily="18" charset="0"/>
                        </a:rPr>
                        <a:t>The time to be taken by the repair and maintenance agency for completion of this work for which the estimates has been sent.</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endParaRPr lang="en-IN" sz="1600" dirty="0">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3"/>
                  </a:ext>
                </a:extLst>
              </a:tr>
              <a:tr h="1128154">
                <a:tc>
                  <a:txBody>
                    <a:bodyPr/>
                    <a:lstStyle/>
                    <a:p>
                      <a:pPr algn="ctr">
                        <a:lnSpc>
                          <a:spcPct val="115000"/>
                        </a:lnSpc>
                        <a:spcAft>
                          <a:spcPts val="1000"/>
                        </a:spcAft>
                      </a:pPr>
                      <a:r>
                        <a:rPr lang="en-IN" sz="1600" dirty="0">
                          <a:latin typeface="Times New Roman" pitchFamily="18" charset="0"/>
                          <a:ea typeface="Calibri"/>
                          <a:cs typeface="Times New Roman" pitchFamily="18" charset="0"/>
                        </a:rPr>
                        <a:t>12</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IN" sz="1800" kern="1200" dirty="0">
                          <a:solidFill>
                            <a:schemeClr val="tx1"/>
                          </a:solidFill>
                          <a:latin typeface="Times New Roman" pitchFamily="18" charset="0"/>
                          <a:ea typeface="+mn-ea"/>
                          <a:cs typeface="Times New Roman" pitchFamily="18" charset="0"/>
                        </a:rPr>
                        <a:t>Whether the HOD/Commissioner and the users of this building are satisfied with the quality of repair/maintenance work of the agency undertaken by it in the past.</a:t>
                      </a:r>
                    </a:p>
                    <a:p>
                      <a:pPr algn="just"/>
                      <a:endParaRPr kumimoji="0" lang="en-IN" sz="1800" kern="1200" dirty="0">
                        <a:solidFill>
                          <a:schemeClr val="tx1"/>
                        </a:solidFill>
                        <a:latin typeface="Times New Roman" pitchFamily="18" charset="0"/>
                        <a:ea typeface="+mn-ea"/>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endParaRPr lang="en-IN" sz="1600" dirty="0">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4"/>
                  </a:ext>
                </a:extLst>
              </a:tr>
              <a:tr h="905537">
                <a:tc>
                  <a:txBody>
                    <a:bodyPr/>
                    <a:lstStyle/>
                    <a:p>
                      <a:pPr algn="ctr">
                        <a:lnSpc>
                          <a:spcPct val="115000"/>
                        </a:lnSpc>
                        <a:spcAft>
                          <a:spcPts val="1000"/>
                        </a:spcAft>
                      </a:pPr>
                      <a:r>
                        <a:rPr lang="en-IN" sz="1600" dirty="0">
                          <a:latin typeface="Times New Roman" pitchFamily="18" charset="0"/>
                          <a:ea typeface="Calibri"/>
                          <a:cs typeface="Times New Roman" pitchFamily="18" charset="0"/>
                        </a:rPr>
                        <a:t>13</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IN" sz="1800" kern="1200" dirty="0">
                          <a:solidFill>
                            <a:schemeClr val="tx1"/>
                          </a:solidFill>
                          <a:latin typeface="Times New Roman" pitchFamily="18" charset="0"/>
                          <a:ea typeface="+mn-ea"/>
                          <a:cs typeface="Times New Roman" pitchFamily="18" charset="0"/>
                        </a:rPr>
                        <a:t>All annual repair and maintenance proposals are to be received in the first quarter of the financial year and it received late, the reasons there for.</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endParaRPr lang="en-IN" sz="1600" dirty="0">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5"/>
                  </a:ext>
                </a:extLst>
              </a:tr>
              <a:tr h="1128154">
                <a:tc>
                  <a:txBody>
                    <a:bodyPr/>
                    <a:lstStyle/>
                    <a:p>
                      <a:pPr algn="ctr">
                        <a:lnSpc>
                          <a:spcPct val="115000"/>
                        </a:lnSpc>
                        <a:spcAft>
                          <a:spcPts val="1000"/>
                        </a:spcAft>
                      </a:pPr>
                      <a:r>
                        <a:rPr lang="en-IN" sz="1600" dirty="0">
                          <a:latin typeface="Times New Roman" pitchFamily="18" charset="0"/>
                          <a:ea typeface="Calibri"/>
                          <a:cs typeface="Times New Roman" pitchFamily="18" charset="0"/>
                        </a:rPr>
                        <a:t>14</a:t>
                      </a: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IN" sz="1800" kern="1200" dirty="0">
                          <a:solidFill>
                            <a:schemeClr val="tx1"/>
                          </a:solidFill>
                          <a:latin typeface="Times New Roman" pitchFamily="18" charset="0"/>
                          <a:ea typeface="+mn-ea"/>
                          <a:cs typeface="Times New Roman" pitchFamily="18" charset="0"/>
                        </a:rPr>
                        <a:t>Whether the proposal has been routed through the CCO of concerned zone.</a:t>
                      </a:r>
                    </a:p>
                    <a:p>
                      <a:endParaRPr kumimoji="0" lang="en-IN" sz="1800" kern="1200" dirty="0">
                        <a:solidFill>
                          <a:schemeClr val="tx1"/>
                        </a:solidFill>
                        <a:latin typeface="Times New Roman" pitchFamily="18" charset="0"/>
                        <a:ea typeface="+mn-ea"/>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endParaRPr lang="en-IN" sz="1600" dirty="0">
                        <a:latin typeface="Times New Roman" pitchFamily="18" charset="0"/>
                        <a:ea typeface="Calibri"/>
                        <a:cs typeface="Times New Roman" pitchFamily="18" charset="0"/>
                      </a:endParaRPr>
                    </a:p>
                  </a:txBody>
                  <a:tcPr marL="68580" marR="68580" marT="762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6"/>
                  </a:ext>
                </a:extLst>
              </a:tr>
            </a:tbl>
          </a:graphicData>
        </a:graphic>
      </p:graphicFrame>
      <p:sp>
        <p:nvSpPr>
          <p:cNvPr id="6" name="TextBox 5"/>
          <p:cNvSpPr txBox="1"/>
          <p:nvPr/>
        </p:nvSpPr>
        <p:spPr>
          <a:xfrm>
            <a:off x="990600" y="228600"/>
            <a:ext cx="2971800" cy="523220"/>
          </a:xfrm>
          <a:prstGeom prst="rect">
            <a:avLst/>
          </a:prstGeom>
          <a:noFill/>
        </p:spPr>
        <p:txBody>
          <a:bodyPr wrap="square" rtlCol="0">
            <a:spAutoFit/>
          </a:bodyPr>
          <a:lstStyle/>
          <a:p>
            <a:r>
              <a:rPr lang="en-IN" sz="2800" b="1" dirty="0">
                <a:solidFill>
                  <a:schemeClr val="accent1">
                    <a:lumMod val="75000"/>
                  </a:schemeClr>
                </a:solidFill>
                <a:latin typeface="Times New Roman" pitchFamily="18" charset="0"/>
                <a:cs typeface="Times New Roman" pitchFamily="18" charset="0"/>
              </a:rPr>
              <a:t>Check-List</a:t>
            </a:r>
            <a:endParaRPr lang="en-US" sz="2800" dirty="0">
              <a:solidFill>
                <a:schemeClr val="accent1">
                  <a:lumMod val="75000"/>
                </a:schemeClr>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04800"/>
            <a:ext cx="8136904" cy="707886"/>
          </a:xfrm>
          <a:prstGeom prst="rect">
            <a:avLst/>
          </a:prstGeom>
        </p:spPr>
        <p:txBody>
          <a:bodyPr wrap="square">
            <a:spAutoFit/>
          </a:bodyPr>
          <a:lstStyle/>
          <a:p>
            <a:pPr algn="just"/>
            <a:r>
              <a:rPr lang="en-IN" sz="2400" dirty="0">
                <a:latin typeface="Times New Roman" pitchFamily="18" charset="0"/>
                <a:cs typeface="Times New Roman" pitchFamily="18" charset="0"/>
              </a:rPr>
              <a:t>	</a:t>
            </a:r>
            <a:r>
              <a:rPr lang="en-IN" b="1" dirty="0">
                <a:latin typeface="Times New Roman" pitchFamily="18" charset="0"/>
                <a:cs typeface="Times New Roman" pitchFamily="18" charset="0"/>
              </a:rPr>
              <a:t>	</a:t>
            </a:r>
            <a:r>
              <a:rPr lang="en-IN" sz="2400" b="1" dirty="0">
                <a:solidFill>
                  <a:schemeClr val="accent1">
                    <a:lumMod val="75000"/>
                  </a:schemeClr>
                </a:solidFill>
                <a:latin typeface="Times New Roman" pitchFamily="18" charset="0"/>
                <a:cs typeface="Times New Roman" pitchFamily="18" charset="0"/>
              </a:rPr>
              <a:t>Flow chart for proposal for R&amp;M </a:t>
            </a:r>
            <a:endParaRPr lang="en-IN" sz="2400" dirty="0">
              <a:solidFill>
                <a:schemeClr val="accent1">
                  <a:lumMod val="75000"/>
                </a:schemeClr>
              </a:solidFill>
              <a:latin typeface="Times New Roman" pitchFamily="18" charset="0"/>
              <a:cs typeface="Times New Roman" pitchFamily="18" charset="0"/>
            </a:endParaRPr>
          </a:p>
          <a:p>
            <a:pPr algn="just"/>
            <a:r>
              <a:rPr lang="en-IN" sz="1600" dirty="0">
                <a:latin typeface="Times New Roman" pitchFamily="18" charset="0"/>
                <a:cs typeface="Times New Roman" pitchFamily="18" charset="0"/>
              </a:rPr>
              <a:t>	</a:t>
            </a:r>
            <a:endParaRPr lang="en-IN" dirty="0"/>
          </a:p>
        </p:txBody>
      </p:sp>
      <p:sp>
        <p:nvSpPr>
          <p:cNvPr id="4" name="Slide Number Placeholder 3"/>
          <p:cNvSpPr>
            <a:spLocks noGrp="1"/>
          </p:cNvSpPr>
          <p:nvPr>
            <p:ph type="sldNum" sz="quarter" idx="12"/>
          </p:nvPr>
        </p:nvSpPr>
        <p:spPr/>
        <p:txBody>
          <a:bodyPr/>
          <a:lstStyle/>
          <a:p>
            <a:fld id="{35E2A42F-3747-4313-B8AA-F8C71D2DB211}" type="slidenum">
              <a:rPr lang="en-IN" smtClean="0"/>
              <a:pPr/>
              <a:t>56</a:t>
            </a:fld>
            <a:endParaRPr lang="en-IN"/>
          </a:p>
        </p:txBody>
      </p:sp>
      <p:sp>
        <p:nvSpPr>
          <p:cNvPr id="5" name="Rectangle 4"/>
          <p:cNvSpPr/>
          <p:nvPr/>
        </p:nvSpPr>
        <p:spPr>
          <a:xfrm>
            <a:off x="642910" y="1142984"/>
            <a:ext cx="8136904" cy="461665"/>
          </a:xfrm>
          <a:prstGeom prst="rect">
            <a:avLst/>
          </a:prstGeom>
          <a:ln w="12700">
            <a:solidFill>
              <a:schemeClr val="tx1"/>
            </a:solidFill>
          </a:ln>
        </p:spPr>
        <p:txBody>
          <a:bodyPr wrap="square">
            <a:spAutoFit/>
          </a:bodyPr>
          <a:lstStyle/>
          <a:p>
            <a:pPr algn="ctr"/>
            <a:r>
              <a:rPr lang="en-IN" sz="2400" dirty="0">
                <a:latin typeface="Times New Roman" pitchFamily="18" charset="0"/>
                <a:cs typeface="Times New Roman" pitchFamily="18" charset="0"/>
              </a:rPr>
              <a:t>	</a:t>
            </a:r>
            <a:r>
              <a:rPr lang="en-IN" sz="2000" dirty="0">
                <a:latin typeface="Times New Roman" pitchFamily="18" charset="0"/>
                <a:cs typeface="Times New Roman" pitchFamily="18" charset="0"/>
              </a:rPr>
              <a:t>Identification of Requirement, its justification and Scope of work</a:t>
            </a:r>
            <a:endParaRPr lang="en-IN" sz="2400" dirty="0"/>
          </a:p>
        </p:txBody>
      </p:sp>
      <p:sp>
        <p:nvSpPr>
          <p:cNvPr id="6" name="Rectangle 5"/>
          <p:cNvSpPr/>
          <p:nvPr/>
        </p:nvSpPr>
        <p:spPr>
          <a:xfrm>
            <a:off x="642910" y="2038641"/>
            <a:ext cx="8136904" cy="461665"/>
          </a:xfrm>
          <a:prstGeom prst="rect">
            <a:avLst/>
          </a:prstGeom>
          <a:ln w="12700">
            <a:solidFill>
              <a:schemeClr val="tx1"/>
            </a:solidFill>
          </a:ln>
        </p:spPr>
        <p:txBody>
          <a:bodyPr wrap="square">
            <a:spAutoFit/>
          </a:bodyPr>
          <a:lstStyle/>
          <a:p>
            <a:pPr algn="ctr"/>
            <a:r>
              <a:rPr lang="en-IN" sz="2400" dirty="0">
                <a:latin typeface="Times New Roman" pitchFamily="18" charset="0"/>
                <a:cs typeface="Times New Roman" pitchFamily="18" charset="0"/>
              </a:rPr>
              <a:t>	</a:t>
            </a:r>
            <a:r>
              <a:rPr lang="en-IN" dirty="0">
                <a:latin typeface="Times New Roman" pitchFamily="18" charset="0"/>
                <a:cs typeface="Times New Roman" pitchFamily="18" charset="0"/>
              </a:rPr>
              <a:t>Obtaining detailed designs and estimate from CPWD/Executing agency </a:t>
            </a:r>
            <a:endParaRPr lang="en-IN" sz="2400" dirty="0"/>
          </a:p>
        </p:txBody>
      </p:sp>
      <p:sp>
        <p:nvSpPr>
          <p:cNvPr id="7" name="Rectangle 6"/>
          <p:cNvSpPr/>
          <p:nvPr/>
        </p:nvSpPr>
        <p:spPr>
          <a:xfrm>
            <a:off x="642910" y="2857496"/>
            <a:ext cx="8136904" cy="461665"/>
          </a:xfrm>
          <a:prstGeom prst="rect">
            <a:avLst/>
          </a:prstGeom>
          <a:ln w="12700">
            <a:solidFill>
              <a:schemeClr val="tx1"/>
            </a:solidFill>
          </a:ln>
        </p:spPr>
        <p:txBody>
          <a:bodyPr wrap="square">
            <a:spAutoFit/>
          </a:bodyPr>
          <a:lstStyle/>
          <a:p>
            <a:pPr algn="ctr"/>
            <a:r>
              <a:rPr lang="en-IN" sz="2400" dirty="0">
                <a:latin typeface="Times New Roman" pitchFamily="18" charset="0"/>
                <a:cs typeface="Times New Roman" pitchFamily="18" charset="0"/>
              </a:rPr>
              <a:t>	</a:t>
            </a:r>
            <a:r>
              <a:rPr lang="en-IN" dirty="0">
                <a:latin typeface="Times New Roman" pitchFamily="18" charset="0"/>
                <a:cs typeface="Times New Roman" pitchFamily="18" charset="0"/>
              </a:rPr>
              <a:t>Provisioning for expenditure under the correct Budget Head</a:t>
            </a:r>
            <a:endParaRPr lang="en-IN" sz="2000" dirty="0"/>
          </a:p>
        </p:txBody>
      </p:sp>
      <p:sp>
        <p:nvSpPr>
          <p:cNvPr id="8" name="Down Arrow 7"/>
          <p:cNvSpPr/>
          <p:nvPr/>
        </p:nvSpPr>
        <p:spPr>
          <a:xfrm>
            <a:off x="4143372" y="1601592"/>
            <a:ext cx="285752" cy="357190"/>
          </a:xfrm>
          <a:prstGeom prst="downArrow">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Down Arrow 8"/>
          <p:cNvSpPr/>
          <p:nvPr/>
        </p:nvSpPr>
        <p:spPr>
          <a:xfrm>
            <a:off x="4143372" y="2500306"/>
            <a:ext cx="285752" cy="357190"/>
          </a:xfrm>
          <a:prstGeom prst="downArrow">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p:nvSpPr>
        <p:spPr>
          <a:xfrm>
            <a:off x="642910" y="3643314"/>
            <a:ext cx="8136904" cy="461665"/>
          </a:xfrm>
          <a:prstGeom prst="rect">
            <a:avLst/>
          </a:prstGeom>
          <a:ln w="12700">
            <a:solidFill>
              <a:schemeClr val="tx1"/>
            </a:solidFill>
          </a:ln>
        </p:spPr>
        <p:txBody>
          <a:bodyPr wrap="square">
            <a:spAutoFit/>
          </a:bodyPr>
          <a:lstStyle/>
          <a:p>
            <a:pPr algn="ctr"/>
            <a:r>
              <a:rPr lang="en-IN" sz="2400" dirty="0">
                <a:latin typeface="Times New Roman" pitchFamily="18" charset="0"/>
                <a:cs typeface="Times New Roman" pitchFamily="18" charset="0"/>
              </a:rPr>
              <a:t>	</a:t>
            </a:r>
            <a:r>
              <a:rPr lang="en-IN" dirty="0">
                <a:latin typeface="Times New Roman" pitchFamily="18" charset="0"/>
                <a:cs typeface="Times New Roman" pitchFamily="18" charset="0"/>
              </a:rPr>
              <a:t>Completion of Check-list to be signed by the HoD</a:t>
            </a:r>
            <a:endParaRPr lang="en-IN" dirty="0"/>
          </a:p>
        </p:txBody>
      </p:sp>
      <p:sp>
        <p:nvSpPr>
          <p:cNvPr id="11" name="Down Arrow 10"/>
          <p:cNvSpPr/>
          <p:nvPr/>
        </p:nvSpPr>
        <p:spPr>
          <a:xfrm>
            <a:off x="4143372" y="3312592"/>
            <a:ext cx="285752" cy="357190"/>
          </a:xfrm>
          <a:prstGeom prst="downArrow">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642910" y="4474102"/>
            <a:ext cx="8136904" cy="738664"/>
          </a:xfrm>
          <a:prstGeom prst="rect">
            <a:avLst/>
          </a:prstGeom>
          <a:ln w="12700">
            <a:solidFill>
              <a:schemeClr val="tx1"/>
            </a:solidFill>
          </a:ln>
        </p:spPr>
        <p:txBody>
          <a:bodyPr wrap="square">
            <a:spAutoFit/>
          </a:bodyPr>
          <a:lstStyle/>
          <a:p>
            <a:pPr algn="ctr"/>
            <a:r>
              <a:rPr lang="en-IN" sz="2400" dirty="0">
                <a:latin typeface="Times New Roman" pitchFamily="18" charset="0"/>
                <a:cs typeface="Times New Roman" pitchFamily="18" charset="0"/>
              </a:rPr>
              <a:t>	</a:t>
            </a:r>
            <a:r>
              <a:rPr lang="en-IN" dirty="0">
                <a:latin typeface="Times New Roman" pitchFamily="18" charset="0"/>
                <a:cs typeface="Times New Roman" pitchFamily="18" charset="0"/>
              </a:rPr>
              <a:t>Submission of detailed note on necessity of the work, scope, financial provisioning by the Commissioner to the Pr Chief Commissioner/Chief Commissioner </a:t>
            </a:r>
            <a:endParaRPr lang="en-IN" dirty="0"/>
          </a:p>
        </p:txBody>
      </p:sp>
      <p:sp>
        <p:nvSpPr>
          <p:cNvPr id="13" name="Down Arrow 12"/>
          <p:cNvSpPr/>
          <p:nvPr/>
        </p:nvSpPr>
        <p:spPr>
          <a:xfrm>
            <a:off x="4143372" y="4111516"/>
            <a:ext cx="285752" cy="357190"/>
          </a:xfrm>
          <a:prstGeom prst="downArrow">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p:cNvSpPr/>
          <p:nvPr/>
        </p:nvSpPr>
        <p:spPr>
          <a:xfrm>
            <a:off x="571472" y="5617110"/>
            <a:ext cx="8215370" cy="738664"/>
          </a:xfrm>
          <a:prstGeom prst="rect">
            <a:avLst/>
          </a:prstGeom>
          <a:ln w="12700">
            <a:solidFill>
              <a:schemeClr val="tx1"/>
            </a:solidFill>
          </a:ln>
        </p:spPr>
        <p:txBody>
          <a:bodyPr wrap="square">
            <a:spAutoFit/>
          </a:bodyPr>
          <a:lstStyle/>
          <a:p>
            <a:pPr algn="ctr"/>
            <a:r>
              <a:rPr lang="en-IN" sz="2400" dirty="0">
                <a:latin typeface="Times New Roman" pitchFamily="18" charset="0"/>
                <a:cs typeface="Times New Roman" pitchFamily="18" charset="0"/>
              </a:rPr>
              <a:t>	</a:t>
            </a:r>
            <a:r>
              <a:rPr lang="en-IN" dirty="0">
                <a:latin typeface="Times New Roman" pitchFamily="18" charset="0"/>
                <a:cs typeface="Times New Roman" pitchFamily="18" charset="0"/>
              </a:rPr>
              <a:t>Scrutiny, justification , approval and recommendation by the Pr Chief Commissioner/Chief Commissioner </a:t>
            </a:r>
            <a:endParaRPr lang="en-IN" dirty="0"/>
          </a:p>
        </p:txBody>
      </p:sp>
      <p:sp>
        <p:nvSpPr>
          <p:cNvPr id="15" name="Down Arrow 14"/>
          <p:cNvSpPr/>
          <p:nvPr/>
        </p:nvSpPr>
        <p:spPr>
          <a:xfrm>
            <a:off x="4143372" y="5190110"/>
            <a:ext cx="285752" cy="357190"/>
          </a:xfrm>
          <a:prstGeom prst="downArrow">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5E2A42F-3747-4313-B8AA-F8C71D2DB211}" type="slidenum">
              <a:rPr lang="en-IN" smtClean="0"/>
              <a:pPr/>
              <a:t>57</a:t>
            </a:fld>
            <a:endParaRPr lang="en-IN"/>
          </a:p>
        </p:txBody>
      </p:sp>
      <p:sp>
        <p:nvSpPr>
          <p:cNvPr id="5" name="Rectangle 4"/>
          <p:cNvSpPr/>
          <p:nvPr/>
        </p:nvSpPr>
        <p:spPr>
          <a:xfrm>
            <a:off x="571472" y="285728"/>
            <a:ext cx="8136904" cy="461665"/>
          </a:xfrm>
          <a:prstGeom prst="rect">
            <a:avLst/>
          </a:prstGeom>
          <a:ln w="12700">
            <a:solidFill>
              <a:schemeClr val="tx1"/>
            </a:solidFill>
          </a:ln>
        </p:spPr>
        <p:txBody>
          <a:bodyPr wrap="square">
            <a:spAutoFit/>
          </a:bodyPr>
          <a:lstStyle/>
          <a:p>
            <a:pPr algn="ctr"/>
            <a:r>
              <a:rPr lang="en-IN" sz="2400" dirty="0">
                <a:latin typeface="Times New Roman" pitchFamily="18" charset="0"/>
                <a:cs typeface="Times New Roman" pitchFamily="18" charset="0"/>
              </a:rPr>
              <a:t>	</a:t>
            </a:r>
            <a:r>
              <a:rPr lang="en-IN" dirty="0">
                <a:latin typeface="Times New Roman" pitchFamily="18" charset="0"/>
                <a:cs typeface="Times New Roman" pitchFamily="18" charset="0"/>
              </a:rPr>
              <a:t>Submission of the proposal to the I&amp;W Wing of DGHRD</a:t>
            </a:r>
            <a:endParaRPr lang="en-IN" sz="2000" dirty="0"/>
          </a:p>
        </p:txBody>
      </p:sp>
      <p:sp>
        <p:nvSpPr>
          <p:cNvPr id="6" name="Rectangle 5"/>
          <p:cNvSpPr/>
          <p:nvPr/>
        </p:nvSpPr>
        <p:spPr>
          <a:xfrm>
            <a:off x="714348" y="1142984"/>
            <a:ext cx="8136904" cy="461665"/>
          </a:xfrm>
          <a:prstGeom prst="rect">
            <a:avLst/>
          </a:prstGeom>
          <a:ln w="12700">
            <a:solidFill>
              <a:schemeClr val="tx1"/>
            </a:solidFill>
          </a:ln>
        </p:spPr>
        <p:txBody>
          <a:bodyPr wrap="square">
            <a:spAutoFit/>
          </a:bodyPr>
          <a:lstStyle/>
          <a:p>
            <a:pPr algn="ctr"/>
            <a:r>
              <a:rPr lang="en-IN" sz="2400" dirty="0">
                <a:latin typeface="Times New Roman" pitchFamily="18" charset="0"/>
                <a:cs typeface="Times New Roman" pitchFamily="18" charset="0"/>
              </a:rPr>
              <a:t>	</a:t>
            </a:r>
            <a:r>
              <a:rPr lang="en-IN" dirty="0">
                <a:latin typeface="Times New Roman" pitchFamily="18" charset="0"/>
                <a:cs typeface="Times New Roman" pitchFamily="18" charset="0"/>
              </a:rPr>
              <a:t>Examination and processing by the I&amp;W Wing of DGHRD</a:t>
            </a:r>
            <a:endParaRPr lang="en-IN" sz="2000" dirty="0"/>
          </a:p>
        </p:txBody>
      </p:sp>
      <p:sp>
        <p:nvSpPr>
          <p:cNvPr id="7" name="Rectangle 6"/>
          <p:cNvSpPr/>
          <p:nvPr/>
        </p:nvSpPr>
        <p:spPr>
          <a:xfrm>
            <a:off x="642910" y="1967203"/>
            <a:ext cx="8136904" cy="461665"/>
          </a:xfrm>
          <a:prstGeom prst="rect">
            <a:avLst/>
          </a:prstGeom>
          <a:ln w="12700">
            <a:solidFill>
              <a:schemeClr val="tx1"/>
            </a:solidFill>
          </a:ln>
        </p:spPr>
        <p:txBody>
          <a:bodyPr wrap="square">
            <a:spAutoFit/>
          </a:bodyPr>
          <a:lstStyle/>
          <a:p>
            <a:pPr algn="ctr"/>
            <a:r>
              <a:rPr lang="en-IN" sz="2400" dirty="0">
                <a:latin typeface="Times New Roman" pitchFamily="18" charset="0"/>
                <a:cs typeface="Times New Roman" pitchFamily="18" charset="0"/>
              </a:rPr>
              <a:t>	</a:t>
            </a:r>
            <a:r>
              <a:rPr lang="en-IN" dirty="0">
                <a:latin typeface="Times New Roman" pitchFamily="18" charset="0"/>
                <a:cs typeface="Times New Roman" pitchFamily="18" charset="0"/>
              </a:rPr>
              <a:t>Provision/Commitment of Funds sought from EMC Wing of DGHRD</a:t>
            </a:r>
            <a:endParaRPr lang="en-IN" sz="2000" dirty="0"/>
          </a:p>
        </p:txBody>
      </p:sp>
      <p:sp>
        <p:nvSpPr>
          <p:cNvPr id="8" name="Down Arrow 7"/>
          <p:cNvSpPr/>
          <p:nvPr/>
        </p:nvSpPr>
        <p:spPr>
          <a:xfrm>
            <a:off x="4429124" y="785794"/>
            <a:ext cx="285752" cy="357190"/>
          </a:xfrm>
          <a:prstGeom prst="downArrow">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Down Arrow 8"/>
          <p:cNvSpPr/>
          <p:nvPr/>
        </p:nvSpPr>
        <p:spPr>
          <a:xfrm>
            <a:off x="4429124" y="1571612"/>
            <a:ext cx="285752" cy="357190"/>
          </a:xfrm>
          <a:prstGeom prst="downArrow">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p:nvSpPr>
        <p:spPr>
          <a:xfrm>
            <a:off x="642910" y="3643314"/>
            <a:ext cx="8136904" cy="461665"/>
          </a:xfrm>
          <a:prstGeom prst="rect">
            <a:avLst/>
          </a:prstGeom>
          <a:ln w="12700">
            <a:solidFill>
              <a:schemeClr val="tx1"/>
            </a:solidFill>
          </a:ln>
        </p:spPr>
        <p:txBody>
          <a:bodyPr wrap="square">
            <a:spAutoFit/>
          </a:bodyPr>
          <a:lstStyle/>
          <a:p>
            <a:pPr algn="ctr"/>
            <a:r>
              <a:rPr lang="en-IN" sz="2400" dirty="0">
                <a:latin typeface="Times New Roman" pitchFamily="18" charset="0"/>
                <a:cs typeface="Times New Roman" pitchFamily="18" charset="0"/>
              </a:rPr>
              <a:t>	</a:t>
            </a:r>
            <a:r>
              <a:rPr lang="en-IN" dirty="0">
                <a:latin typeface="Times New Roman" pitchFamily="18" charset="0"/>
                <a:cs typeface="Times New Roman" pitchFamily="18" charset="0"/>
              </a:rPr>
              <a:t>Administrative Approval &amp; Expenditure Sanction by the Ministry</a:t>
            </a:r>
            <a:endParaRPr lang="en-IN" sz="2000" dirty="0"/>
          </a:p>
        </p:txBody>
      </p:sp>
      <p:sp>
        <p:nvSpPr>
          <p:cNvPr id="11" name="Down Arrow 10"/>
          <p:cNvSpPr/>
          <p:nvPr/>
        </p:nvSpPr>
        <p:spPr>
          <a:xfrm>
            <a:off x="4429124" y="2428868"/>
            <a:ext cx="285752" cy="357190"/>
          </a:xfrm>
          <a:prstGeom prst="downArrow">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642910" y="4467533"/>
            <a:ext cx="8136904" cy="461665"/>
          </a:xfrm>
          <a:prstGeom prst="rect">
            <a:avLst/>
          </a:prstGeom>
          <a:ln w="12700">
            <a:solidFill>
              <a:schemeClr val="tx1"/>
            </a:solidFill>
          </a:ln>
        </p:spPr>
        <p:txBody>
          <a:bodyPr wrap="square">
            <a:spAutoFit/>
          </a:bodyPr>
          <a:lstStyle/>
          <a:p>
            <a:pPr algn="ctr"/>
            <a:r>
              <a:rPr lang="en-IN" sz="2400" dirty="0">
                <a:latin typeface="Times New Roman" pitchFamily="18" charset="0"/>
                <a:cs typeface="Times New Roman" pitchFamily="18" charset="0"/>
              </a:rPr>
              <a:t>	</a:t>
            </a:r>
            <a:r>
              <a:rPr lang="en-IN" sz="1600" dirty="0">
                <a:latin typeface="Times New Roman" pitchFamily="18" charset="0"/>
                <a:cs typeface="Times New Roman" pitchFamily="18" charset="0"/>
              </a:rPr>
              <a:t>Approval directly conveyed by the Ministry to the concerned Commissionerate </a:t>
            </a:r>
            <a:endParaRPr lang="en-IN" dirty="0"/>
          </a:p>
        </p:txBody>
      </p:sp>
      <p:sp>
        <p:nvSpPr>
          <p:cNvPr id="13" name="Down Arrow 12"/>
          <p:cNvSpPr/>
          <p:nvPr/>
        </p:nvSpPr>
        <p:spPr>
          <a:xfrm>
            <a:off x="4429124" y="3286124"/>
            <a:ext cx="285752" cy="357190"/>
          </a:xfrm>
          <a:prstGeom prst="downArrow">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p:cNvSpPr/>
          <p:nvPr/>
        </p:nvSpPr>
        <p:spPr>
          <a:xfrm>
            <a:off x="571472" y="5286388"/>
            <a:ext cx="8215370" cy="461665"/>
          </a:xfrm>
          <a:prstGeom prst="rect">
            <a:avLst/>
          </a:prstGeom>
          <a:ln w="12700">
            <a:solidFill>
              <a:schemeClr val="tx1"/>
            </a:solidFill>
          </a:ln>
        </p:spPr>
        <p:txBody>
          <a:bodyPr wrap="square">
            <a:spAutoFit/>
          </a:bodyPr>
          <a:lstStyle/>
          <a:p>
            <a:pPr algn="ctr"/>
            <a:r>
              <a:rPr lang="en-IN" sz="2400" dirty="0">
                <a:latin typeface="Times New Roman" pitchFamily="18" charset="0"/>
                <a:cs typeface="Times New Roman" pitchFamily="18" charset="0"/>
              </a:rPr>
              <a:t>	</a:t>
            </a:r>
            <a:r>
              <a:rPr lang="en-IN" dirty="0">
                <a:latin typeface="Times New Roman" pitchFamily="18" charset="0"/>
                <a:cs typeface="Times New Roman" pitchFamily="18" charset="0"/>
              </a:rPr>
              <a:t>Funds released by EMC wing of DGHRD to the concerned formation </a:t>
            </a:r>
            <a:endParaRPr lang="en-IN" sz="2000" dirty="0"/>
          </a:p>
        </p:txBody>
      </p:sp>
      <p:sp>
        <p:nvSpPr>
          <p:cNvPr id="15" name="Down Arrow 14"/>
          <p:cNvSpPr/>
          <p:nvPr/>
        </p:nvSpPr>
        <p:spPr>
          <a:xfrm>
            <a:off x="4429124" y="4114474"/>
            <a:ext cx="285752" cy="357190"/>
          </a:xfrm>
          <a:prstGeom prst="downArrow">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p:cNvSpPr/>
          <p:nvPr/>
        </p:nvSpPr>
        <p:spPr>
          <a:xfrm>
            <a:off x="642910" y="2824459"/>
            <a:ext cx="8289304" cy="461665"/>
          </a:xfrm>
          <a:prstGeom prst="rect">
            <a:avLst/>
          </a:prstGeom>
          <a:ln w="12700">
            <a:solidFill>
              <a:schemeClr val="tx1"/>
            </a:solidFill>
          </a:ln>
        </p:spPr>
        <p:txBody>
          <a:bodyPr wrap="square">
            <a:spAutoFit/>
          </a:bodyPr>
          <a:lstStyle/>
          <a:p>
            <a:pPr algn="ctr"/>
            <a:r>
              <a:rPr lang="en-IN" sz="2400" dirty="0">
                <a:latin typeface="Times New Roman" pitchFamily="18" charset="0"/>
                <a:cs typeface="Times New Roman" pitchFamily="18" charset="0"/>
              </a:rPr>
              <a:t>	</a:t>
            </a:r>
            <a:r>
              <a:rPr lang="en-IN" dirty="0">
                <a:latin typeface="Times New Roman" pitchFamily="18" charset="0"/>
                <a:cs typeface="Times New Roman" pitchFamily="18" charset="0"/>
              </a:rPr>
              <a:t>Submission of the proposal to the Ministry/Board</a:t>
            </a:r>
            <a:endParaRPr lang="en-IN" sz="2000" dirty="0"/>
          </a:p>
        </p:txBody>
      </p:sp>
      <p:sp>
        <p:nvSpPr>
          <p:cNvPr id="17" name="Down Arrow 16"/>
          <p:cNvSpPr/>
          <p:nvPr/>
        </p:nvSpPr>
        <p:spPr>
          <a:xfrm>
            <a:off x="4429124" y="4929198"/>
            <a:ext cx="285752" cy="357190"/>
          </a:xfrm>
          <a:prstGeom prst="downArrow">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2AD3199-16E0-4E36-9A67-DDD13C4D975A}"/>
              </a:ext>
            </a:extLst>
          </p:cNvPr>
          <p:cNvSpPr>
            <a:spLocks noGrp="1"/>
          </p:cNvSpPr>
          <p:nvPr>
            <p:ph type="ctrTitle"/>
          </p:nvPr>
        </p:nvSpPr>
        <p:spPr>
          <a:xfrm>
            <a:off x="1905000" y="1600200"/>
            <a:ext cx="6172200" cy="1894362"/>
          </a:xfrm>
        </p:spPr>
        <p:txBody>
          <a:bodyPr>
            <a:normAutofit/>
          </a:bodyPr>
          <a:lstStyle/>
          <a:p>
            <a:r>
              <a:rPr lang="en-US" sz="5400" dirty="0">
                <a:solidFill>
                  <a:schemeClr val="accent1">
                    <a:lumMod val="75000"/>
                  </a:schemeClr>
                </a:solidFill>
              </a:rPr>
              <a:t>BOOKING OF EXPENDITURE</a:t>
            </a:r>
          </a:p>
        </p:txBody>
      </p:sp>
    </p:spTree>
    <p:extLst>
      <p:ext uri="{BB962C8B-B14F-4D97-AF65-F5344CB8AC3E}">
        <p14:creationId xmlns="" xmlns:p14="http://schemas.microsoft.com/office/powerpoint/2010/main" val="33974064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35E2A42F-3747-4313-B8AA-F8C71D2DB211}" type="slidenum">
              <a:rPr lang="en-IN" smtClean="0"/>
              <a:pPr/>
              <a:t>59</a:t>
            </a:fld>
            <a:endParaRPr lang="en-IN"/>
          </a:p>
        </p:txBody>
      </p:sp>
      <p:sp>
        <p:nvSpPr>
          <p:cNvPr id="8" name="TextBox 7"/>
          <p:cNvSpPr txBox="1"/>
          <p:nvPr/>
        </p:nvSpPr>
        <p:spPr>
          <a:xfrm>
            <a:off x="214282" y="1934166"/>
            <a:ext cx="8786874" cy="923330"/>
          </a:xfrm>
          <a:prstGeom prst="rect">
            <a:avLst/>
          </a:prstGeom>
          <a:noFill/>
          <a:ln w="19050">
            <a:solidFill>
              <a:schemeClr val="tx1"/>
            </a:solidFill>
          </a:ln>
        </p:spPr>
        <p:txBody>
          <a:bodyPr wrap="square" rtlCol="0">
            <a:spAutoFit/>
          </a:bodyPr>
          <a:lstStyle/>
          <a:p>
            <a:pPr lvl="0" algn="ctr"/>
            <a:r>
              <a:rPr lang="en-US" dirty="0">
                <a:latin typeface="Times New Roman" pitchFamily="18" charset="0"/>
                <a:cs typeface="Times New Roman" pitchFamily="18" charset="0"/>
              </a:rPr>
              <a:t>HoD should write to PAO for getting Letter of Authorization (</a:t>
            </a:r>
            <a:r>
              <a:rPr lang="en-US" dirty="0" err="1">
                <a:latin typeface="Times New Roman" pitchFamily="18" charset="0"/>
                <a:cs typeface="Times New Roman" pitchFamily="18" charset="0"/>
              </a:rPr>
              <a:t>LoA</a:t>
            </a:r>
            <a:r>
              <a:rPr lang="en-US" dirty="0">
                <a:latin typeface="Times New Roman" pitchFamily="18" charset="0"/>
                <a:cs typeface="Times New Roman" pitchFamily="18" charset="0"/>
              </a:rPr>
              <a:t>) issued by the Pr. CCA, New Delhi. A copy of the letter may also be marked to Pr. CCA, New Delhi and Joint Director (I&amp;W) DGHRD, New Delhi.</a:t>
            </a:r>
            <a:endParaRPr lang="en-US" dirty="0"/>
          </a:p>
        </p:txBody>
      </p:sp>
      <p:sp>
        <p:nvSpPr>
          <p:cNvPr id="9" name="TextBox 8"/>
          <p:cNvSpPr txBox="1"/>
          <p:nvPr/>
        </p:nvSpPr>
        <p:spPr>
          <a:xfrm>
            <a:off x="142876" y="3491685"/>
            <a:ext cx="8858280" cy="646331"/>
          </a:xfrm>
          <a:prstGeom prst="rect">
            <a:avLst/>
          </a:prstGeom>
          <a:noFill/>
          <a:ln w="19050">
            <a:solidFill>
              <a:schemeClr val="tx1"/>
            </a:solidFill>
          </a:ln>
        </p:spPr>
        <p:txBody>
          <a:bodyPr wrap="square" rtlCol="0" anchor="t">
            <a:spAutoFit/>
          </a:bodyPr>
          <a:lstStyle/>
          <a:p>
            <a:pPr marL="342900" lvl="0" indent="-342900" algn="ctr"/>
            <a:r>
              <a:rPr lang="en-US" i="1" dirty="0">
                <a:latin typeface="Times New Roman" pitchFamily="18" charset="0"/>
                <a:cs typeface="Times New Roman" pitchFamily="18" charset="0"/>
              </a:rPr>
              <a:t>PAO should make an online request to the Office of Pr. CCA for issuance of </a:t>
            </a:r>
            <a:r>
              <a:rPr lang="en-US" i="1" u="sng" dirty="0">
                <a:latin typeface="Times New Roman" pitchFamily="18" charset="0"/>
                <a:cs typeface="Times New Roman" pitchFamily="18" charset="0"/>
              </a:rPr>
              <a:t>LETTER OF AUTHORIZATION (</a:t>
            </a:r>
            <a:r>
              <a:rPr lang="en-US" i="1" u="sng" dirty="0" err="1">
                <a:latin typeface="Times New Roman" pitchFamily="18" charset="0"/>
                <a:cs typeface="Times New Roman" pitchFamily="18" charset="0"/>
              </a:rPr>
              <a:t>LoA</a:t>
            </a:r>
            <a:r>
              <a:rPr lang="en-US" i="1" u="sng" dirty="0">
                <a:latin typeface="Times New Roman" pitchFamily="18" charset="0"/>
                <a:cs typeface="Times New Roman" pitchFamily="18" charset="0"/>
              </a:rPr>
              <a:t>)</a:t>
            </a:r>
            <a:r>
              <a:rPr lang="en-US" i="1" dirty="0">
                <a:latin typeface="Times New Roman" pitchFamily="18" charset="0"/>
                <a:cs typeface="Times New Roman" pitchFamily="18" charset="0"/>
              </a:rPr>
              <a:t>.</a:t>
            </a:r>
            <a:endParaRPr lang="en-US" dirty="0"/>
          </a:p>
        </p:txBody>
      </p:sp>
      <p:sp>
        <p:nvSpPr>
          <p:cNvPr id="10" name="TextBox 9"/>
          <p:cNvSpPr txBox="1"/>
          <p:nvPr/>
        </p:nvSpPr>
        <p:spPr>
          <a:xfrm>
            <a:off x="214282" y="4699353"/>
            <a:ext cx="8786874" cy="1015663"/>
          </a:xfrm>
          <a:prstGeom prst="rect">
            <a:avLst/>
          </a:prstGeom>
          <a:noFill/>
          <a:ln w="19050">
            <a:solidFill>
              <a:schemeClr val="tx1"/>
            </a:solidFill>
          </a:ln>
        </p:spPr>
        <p:txBody>
          <a:bodyPr wrap="square" rtlCol="0">
            <a:spAutoFit/>
          </a:bodyPr>
          <a:lstStyle/>
          <a:p>
            <a:pPr lvl="0" algn="ctr"/>
            <a:r>
              <a:rPr lang="en-US" sz="2000" dirty="0">
                <a:latin typeface="Times New Roman" pitchFamily="18" charset="0"/>
                <a:cs typeface="Times New Roman" pitchFamily="18" charset="0"/>
              </a:rPr>
              <a:t>Once the office of the  </a:t>
            </a:r>
            <a:r>
              <a:rPr lang="en-US" sz="2000" dirty="0">
                <a:solidFill>
                  <a:srgbClr val="FF0000"/>
                </a:solidFill>
                <a:latin typeface="Times New Roman" pitchFamily="18" charset="0"/>
                <a:cs typeface="Times New Roman" pitchFamily="18" charset="0"/>
              </a:rPr>
              <a:t>Pr. CCA, Delhi issues a Letter of Authorization (</a:t>
            </a:r>
            <a:r>
              <a:rPr lang="en-US" sz="2000" dirty="0" err="1">
                <a:solidFill>
                  <a:srgbClr val="FF0000"/>
                </a:solidFill>
                <a:latin typeface="Times New Roman" pitchFamily="18" charset="0"/>
                <a:cs typeface="Times New Roman" pitchFamily="18" charset="0"/>
              </a:rPr>
              <a:t>LoA</a:t>
            </a:r>
            <a:r>
              <a:rPr lang="en-US" sz="2000" dirty="0">
                <a:latin typeface="Times New Roman" pitchFamily="18" charset="0"/>
                <a:cs typeface="Times New Roman" pitchFamily="18" charset="0"/>
              </a:rPr>
              <a:t>) for transfer of funds in favour of the zonal CPWD account, funds should be transferred by </a:t>
            </a:r>
            <a:r>
              <a:rPr lang="en-US" sz="2000" i="1" dirty="0">
                <a:solidFill>
                  <a:srgbClr val="FF0000"/>
                </a:solidFill>
                <a:latin typeface="Times New Roman" pitchFamily="18" charset="0"/>
                <a:cs typeface="Times New Roman" pitchFamily="18" charset="0"/>
              </a:rPr>
              <a:t>concerned PAO via PFMS to the zonal PAO, </a:t>
            </a:r>
            <a:r>
              <a:rPr lang="en-US" sz="2000" i="1" dirty="0" err="1">
                <a:solidFill>
                  <a:srgbClr val="FF0000"/>
                </a:solidFill>
                <a:latin typeface="Times New Roman" pitchFamily="18" charset="0"/>
                <a:cs typeface="Times New Roman" pitchFamily="18" charset="0"/>
              </a:rPr>
              <a:t>MoUD</a:t>
            </a:r>
            <a:r>
              <a:rPr lang="en-US" sz="2000" i="1" dirty="0">
                <a:solidFill>
                  <a:srgbClr val="FF0000"/>
                </a:solidFill>
                <a:latin typeface="Times New Roman" pitchFamily="18" charset="0"/>
                <a:cs typeface="Times New Roman" pitchFamily="18" charset="0"/>
              </a:rPr>
              <a:t>/Executing agency</a:t>
            </a:r>
            <a:r>
              <a:rPr lang="en-US" sz="2000" dirty="0">
                <a:latin typeface="Times New Roman" pitchFamily="18" charset="0"/>
                <a:cs typeface="Times New Roman" pitchFamily="18" charset="0"/>
              </a:rPr>
              <a:t>.</a:t>
            </a:r>
            <a:endParaRPr lang="en-US" sz="2000" dirty="0"/>
          </a:p>
        </p:txBody>
      </p:sp>
      <p:sp>
        <p:nvSpPr>
          <p:cNvPr id="11" name="TextBox 10"/>
          <p:cNvSpPr txBox="1"/>
          <p:nvPr/>
        </p:nvSpPr>
        <p:spPr>
          <a:xfrm>
            <a:off x="381000" y="381000"/>
            <a:ext cx="8429684" cy="646331"/>
          </a:xfrm>
          <a:prstGeom prst="rect">
            <a:avLst/>
          </a:prstGeom>
          <a:noFill/>
        </p:spPr>
        <p:txBody>
          <a:bodyPr wrap="square" rtlCol="0">
            <a:spAutoFit/>
          </a:bodyPr>
          <a:lstStyle/>
          <a:p>
            <a:r>
              <a:rPr lang="en-IN" sz="3600" b="1" dirty="0">
                <a:solidFill>
                  <a:schemeClr val="accent1">
                    <a:lumMod val="75000"/>
                  </a:schemeClr>
                </a:solidFill>
                <a:latin typeface="Times New Roman" pitchFamily="18" charset="0"/>
                <a:cs typeface="Times New Roman" pitchFamily="18" charset="0"/>
              </a:rPr>
              <a:t>Booking of Expenditure </a:t>
            </a:r>
          </a:p>
        </p:txBody>
      </p:sp>
      <p:sp>
        <p:nvSpPr>
          <p:cNvPr id="14" name="Down Arrow 13"/>
          <p:cNvSpPr/>
          <p:nvPr/>
        </p:nvSpPr>
        <p:spPr>
          <a:xfrm>
            <a:off x="3929058" y="2857496"/>
            <a:ext cx="285752" cy="357190"/>
          </a:xfrm>
          <a:prstGeom prst="downArrow">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Down Arrow 14"/>
          <p:cNvSpPr/>
          <p:nvPr/>
        </p:nvSpPr>
        <p:spPr>
          <a:xfrm>
            <a:off x="3857620" y="4143380"/>
            <a:ext cx="285752" cy="357190"/>
          </a:xfrm>
          <a:prstGeom prst="downArrow">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35E2A42F-3747-4313-B8AA-F8C71D2DB211}" type="slidenum">
              <a:rPr lang="en-IN" smtClean="0"/>
              <a:pPr/>
              <a:t>60</a:t>
            </a:fld>
            <a:endParaRPr lang="en-IN"/>
          </a:p>
        </p:txBody>
      </p:sp>
      <p:sp>
        <p:nvSpPr>
          <p:cNvPr id="5" name="TextBox 4"/>
          <p:cNvSpPr txBox="1"/>
          <p:nvPr/>
        </p:nvSpPr>
        <p:spPr>
          <a:xfrm>
            <a:off x="357158" y="2428868"/>
            <a:ext cx="8429684" cy="707886"/>
          </a:xfrm>
          <a:prstGeom prst="rect">
            <a:avLst/>
          </a:prstGeom>
          <a:noFill/>
          <a:ln w="19050">
            <a:solidFill>
              <a:schemeClr val="tx1"/>
            </a:solidFill>
          </a:ln>
        </p:spPr>
        <p:txBody>
          <a:bodyPr wrap="square" rtlCol="0">
            <a:spAutoFit/>
          </a:bodyPr>
          <a:lstStyle/>
          <a:p>
            <a:pPr lvl="0" algn="ctr"/>
            <a:r>
              <a:rPr lang="en-US" sz="2000" dirty="0">
                <a:latin typeface="Times New Roman" pitchFamily="18" charset="0"/>
                <a:cs typeface="Times New Roman" pitchFamily="18" charset="0"/>
              </a:rPr>
              <a:t>The physical execution of work should be regularly monitored by field formation(s) by </a:t>
            </a:r>
            <a:r>
              <a:rPr lang="en-US" sz="2000" dirty="0">
                <a:solidFill>
                  <a:srgbClr val="FF0000"/>
                </a:solidFill>
                <a:latin typeface="Times New Roman" pitchFamily="18" charset="0"/>
                <a:cs typeface="Times New Roman" pitchFamily="18" charset="0"/>
              </a:rPr>
              <a:t>forming Works Committee</a:t>
            </a:r>
            <a:r>
              <a:rPr lang="en-US" sz="2000" dirty="0">
                <a:latin typeface="Times New Roman" pitchFamily="18" charset="0"/>
                <a:cs typeface="Times New Roman" pitchFamily="18" charset="0"/>
              </a:rPr>
              <a:t>.</a:t>
            </a:r>
            <a:endParaRPr lang="en-US" sz="2000" dirty="0"/>
          </a:p>
        </p:txBody>
      </p:sp>
      <p:sp>
        <p:nvSpPr>
          <p:cNvPr id="6" name="TextBox 5"/>
          <p:cNvSpPr txBox="1"/>
          <p:nvPr/>
        </p:nvSpPr>
        <p:spPr>
          <a:xfrm>
            <a:off x="428596" y="3643314"/>
            <a:ext cx="8358246" cy="1015663"/>
          </a:xfrm>
          <a:prstGeom prst="rect">
            <a:avLst/>
          </a:prstGeom>
          <a:noFill/>
          <a:ln w="19050">
            <a:solidFill>
              <a:schemeClr val="tx1"/>
            </a:solidFill>
          </a:ln>
        </p:spPr>
        <p:txBody>
          <a:bodyPr wrap="square" rtlCol="0">
            <a:spAutoFit/>
          </a:bodyPr>
          <a:lstStyle/>
          <a:p>
            <a:pPr algn="ctr"/>
            <a:r>
              <a:rPr lang="en-US" sz="2000" dirty="0">
                <a:latin typeface="Times New Roman" pitchFamily="18" charset="0"/>
                <a:cs typeface="Times New Roman" pitchFamily="18" charset="0"/>
              </a:rPr>
              <a:t>A </a:t>
            </a:r>
            <a:r>
              <a:rPr lang="en-US" sz="2000" dirty="0">
                <a:solidFill>
                  <a:srgbClr val="FF0000"/>
                </a:solidFill>
                <a:latin typeface="Times New Roman" pitchFamily="18" charset="0"/>
                <a:cs typeface="Times New Roman" pitchFamily="18" charset="0"/>
              </a:rPr>
              <a:t>report</a:t>
            </a:r>
            <a:r>
              <a:rPr lang="en-US" sz="2000" dirty="0">
                <a:latin typeface="Times New Roman" pitchFamily="18" charset="0"/>
                <a:cs typeface="Times New Roman" pitchFamily="18" charset="0"/>
              </a:rPr>
              <a:t> regarding the physical and financial progress of the project(s) should be forwarded to the office of DGHRD on </a:t>
            </a:r>
            <a:r>
              <a:rPr lang="en-US" sz="2000" dirty="0">
                <a:solidFill>
                  <a:srgbClr val="FF0000"/>
                </a:solidFill>
                <a:latin typeface="Times New Roman" pitchFamily="18" charset="0"/>
                <a:cs typeface="Times New Roman" pitchFamily="18" charset="0"/>
              </a:rPr>
              <a:t>monthly basis for regular monitoring of expenditure</a:t>
            </a:r>
            <a:r>
              <a:rPr lang="en-US" dirty="0">
                <a:latin typeface="Times New Roman" pitchFamily="18" charset="0"/>
                <a:cs typeface="Times New Roman" pitchFamily="18" charset="0"/>
              </a:rPr>
              <a:t>.</a:t>
            </a:r>
            <a:endParaRPr lang="en-US" dirty="0"/>
          </a:p>
        </p:txBody>
      </p:sp>
      <p:sp>
        <p:nvSpPr>
          <p:cNvPr id="7" name="Down Arrow 6"/>
          <p:cNvSpPr/>
          <p:nvPr/>
        </p:nvSpPr>
        <p:spPr>
          <a:xfrm>
            <a:off x="4000496" y="1928802"/>
            <a:ext cx="285752" cy="357190"/>
          </a:xfrm>
          <a:prstGeom prst="downArrow">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a:off x="357158" y="1285860"/>
            <a:ext cx="8643998" cy="677108"/>
          </a:xfrm>
          <a:prstGeom prst="rect">
            <a:avLst/>
          </a:prstGeom>
          <a:noFill/>
          <a:ln w="19050">
            <a:solidFill>
              <a:schemeClr val="tx1"/>
            </a:solidFill>
          </a:ln>
        </p:spPr>
        <p:txBody>
          <a:bodyPr wrap="square" rtlCol="0">
            <a:spAutoFit/>
          </a:bodyPr>
          <a:lstStyle/>
          <a:p>
            <a:pPr algn="ctr"/>
            <a:r>
              <a:rPr lang="en-US" sz="1900" dirty="0">
                <a:latin typeface="Times New Roman" pitchFamily="18" charset="0"/>
                <a:cs typeface="Times New Roman" pitchFamily="18" charset="0"/>
              </a:rPr>
              <a:t>The </a:t>
            </a:r>
            <a:r>
              <a:rPr lang="en-US" sz="1900" i="1" dirty="0">
                <a:latin typeface="Times New Roman" pitchFamily="18" charset="0"/>
                <a:cs typeface="Times New Roman" pitchFamily="18" charset="0"/>
              </a:rPr>
              <a:t>amount released by </a:t>
            </a:r>
            <a:r>
              <a:rPr lang="en-US" sz="1900" i="1" dirty="0" err="1">
                <a:latin typeface="Times New Roman" pitchFamily="18" charset="0"/>
                <a:cs typeface="Times New Roman" pitchFamily="18" charset="0"/>
              </a:rPr>
              <a:t>MoUD</a:t>
            </a:r>
            <a:r>
              <a:rPr lang="en-US" sz="1900" i="1" dirty="0">
                <a:latin typeface="Times New Roman" pitchFamily="18" charset="0"/>
                <a:cs typeface="Times New Roman" pitchFamily="18" charset="0"/>
              </a:rPr>
              <a:t>/CPWD/Executing agency to be successful bidders/contractors for execution</a:t>
            </a:r>
            <a:r>
              <a:rPr lang="en-US" sz="1900" dirty="0">
                <a:latin typeface="Times New Roman" pitchFamily="18" charset="0"/>
                <a:cs typeface="Times New Roman" pitchFamily="18" charset="0"/>
              </a:rPr>
              <a:t> of the project should be booked online</a:t>
            </a:r>
            <a:r>
              <a:rPr lang="en-US" dirty="0">
                <a:latin typeface="Times New Roman" pitchFamily="18" charset="0"/>
                <a:cs typeface="Times New Roman" pitchFamily="18" charset="0"/>
              </a:rPr>
              <a:t>.</a:t>
            </a:r>
            <a:endParaRPr lang="en-US" dirty="0"/>
          </a:p>
        </p:txBody>
      </p:sp>
      <p:sp>
        <p:nvSpPr>
          <p:cNvPr id="9" name="Down Arrow 8"/>
          <p:cNvSpPr/>
          <p:nvPr/>
        </p:nvSpPr>
        <p:spPr>
          <a:xfrm>
            <a:off x="4000496" y="3143248"/>
            <a:ext cx="285752" cy="357190"/>
          </a:xfrm>
          <a:prstGeom prst="downArrow">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p:cNvSpPr txBox="1"/>
          <p:nvPr/>
        </p:nvSpPr>
        <p:spPr>
          <a:xfrm>
            <a:off x="381000" y="381000"/>
            <a:ext cx="8429684" cy="646331"/>
          </a:xfrm>
          <a:prstGeom prst="rect">
            <a:avLst/>
          </a:prstGeom>
          <a:noFill/>
        </p:spPr>
        <p:txBody>
          <a:bodyPr wrap="square" rtlCol="0">
            <a:spAutoFit/>
          </a:bodyPr>
          <a:lstStyle/>
          <a:p>
            <a:r>
              <a:rPr lang="en-IN" sz="3600" b="1" dirty="0">
                <a:solidFill>
                  <a:schemeClr val="accent1">
                    <a:lumMod val="75000"/>
                  </a:schemeClr>
                </a:solidFill>
                <a:latin typeface="Times New Roman" pitchFamily="18" charset="0"/>
                <a:cs typeface="Times New Roman" pitchFamily="18" charset="0"/>
              </a:rPr>
              <a:t>Booking of Expenditure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a:off x="7924800" y="6000768"/>
            <a:ext cx="762000" cy="365125"/>
          </a:xfrm>
        </p:spPr>
        <p:txBody>
          <a:bodyPr/>
          <a:lstStyle/>
          <a:p>
            <a:fld id="{35E2A42F-3747-4313-B8AA-F8C71D2DB211}" type="slidenum">
              <a:rPr lang="en-IN" smtClean="0"/>
              <a:pPr/>
              <a:t>61</a:t>
            </a:fld>
            <a:endParaRPr lang="en-IN" dirty="0"/>
          </a:p>
        </p:txBody>
      </p:sp>
      <p:sp>
        <p:nvSpPr>
          <p:cNvPr id="5" name="Rectangle 4"/>
          <p:cNvSpPr/>
          <p:nvPr/>
        </p:nvSpPr>
        <p:spPr>
          <a:xfrm>
            <a:off x="785786" y="-142900"/>
            <a:ext cx="7746084" cy="7017306"/>
          </a:xfrm>
          <a:prstGeom prst="rect">
            <a:avLst/>
          </a:prstGeom>
        </p:spPr>
        <p:txBody>
          <a:bodyPr wrap="square">
            <a:spAutoFit/>
          </a:bodyPr>
          <a:lstStyle/>
          <a:p>
            <a:r>
              <a:rPr lang="en-IN" sz="1600" dirty="0">
                <a:latin typeface="Times New Roman" pitchFamily="18" charset="0"/>
                <a:cs typeface="Times New Roman" pitchFamily="18" charset="0"/>
              </a:rPr>
              <a:t> </a:t>
            </a:r>
          </a:p>
          <a:p>
            <a:pPr algn="just"/>
            <a:r>
              <a:rPr lang="en-IN" sz="1600" b="1" dirty="0">
                <a:latin typeface="Times New Roman" pitchFamily="18" charset="0"/>
                <a:cs typeface="Times New Roman" pitchFamily="18" charset="0"/>
              </a:rPr>
              <a:t> </a:t>
            </a:r>
            <a:endParaRPr lang="en-IN" sz="2400" b="1" dirty="0">
              <a:latin typeface="Times New Roman" pitchFamily="18" charset="0"/>
              <a:cs typeface="Times New Roman" pitchFamily="18" charset="0"/>
            </a:endParaRPr>
          </a:p>
          <a:p>
            <a:pPr algn="just"/>
            <a:r>
              <a:rPr lang="en-IN" sz="2400" b="1" dirty="0">
                <a:solidFill>
                  <a:schemeClr val="accent1">
                    <a:lumMod val="75000"/>
                  </a:schemeClr>
                </a:solidFill>
                <a:latin typeface="Times New Roman" pitchFamily="18" charset="0"/>
                <a:cs typeface="Times New Roman" pitchFamily="18" charset="0"/>
              </a:rPr>
              <a:t>Common Shortcomings/Deficiencies Observed in Proposals of R&amp;M</a:t>
            </a:r>
          </a:p>
          <a:p>
            <a:pPr algn="just">
              <a:tabLst>
                <a:tab pos="355600" algn="l"/>
              </a:tabLst>
            </a:pPr>
            <a:endParaRPr lang="en-IN" sz="1600" b="1" dirty="0">
              <a:latin typeface="Times New Roman" pitchFamily="18" charset="0"/>
              <a:cs typeface="Times New Roman" pitchFamily="18" charset="0"/>
            </a:endParaRPr>
          </a:p>
          <a:p>
            <a:pPr marL="400050" indent="-400050" algn="just">
              <a:buFont typeface="+mj-lt"/>
              <a:buAutoNum type="romanLcPeriod"/>
              <a:tabLst>
                <a:tab pos="355600" algn="l"/>
              </a:tabLst>
            </a:pPr>
            <a:r>
              <a:rPr lang="en-IN" dirty="0">
                <a:latin typeface="Times New Roman" pitchFamily="18" charset="0"/>
                <a:cs typeface="Times New Roman" pitchFamily="18" charset="0"/>
              </a:rPr>
              <a:t>An incomplete checklist which is </a:t>
            </a:r>
            <a:r>
              <a:rPr lang="en-IN" i="1" dirty="0">
                <a:solidFill>
                  <a:srgbClr val="FF0000"/>
                </a:solidFill>
                <a:latin typeface="Times New Roman" pitchFamily="18" charset="0"/>
                <a:cs typeface="Times New Roman" pitchFamily="18" charset="0"/>
              </a:rPr>
              <a:t>not signed by the Commissioner (HOD)</a:t>
            </a:r>
            <a:r>
              <a:rPr lang="en-IN" dirty="0">
                <a:latin typeface="Times New Roman" pitchFamily="18" charset="0"/>
                <a:cs typeface="Times New Roman" pitchFamily="18" charset="0"/>
              </a:rPr>
              <a:t> is submitted by the field formations.</a:t>
            </a:r>
          </a:p>
          <a:p>
            <a:pPr marL="400050" indent="-400050" algn="just">
              <a:buFont typeface="+mj-lt"/>
              <a:buAutoNum type="romanLcPeriod"/>
              <a:tabLst>
                <a:tab pos="355600" algn="l"/>
              </a:tabLst>
            </a:pPr>
            <a:endParaRPr lang="en-IN" dirty="0">
              <a:latin typeface="Times New Roman" pitchFamily="18" charset="0"/>
              <a:cs typeface="Times New Roman" pitchFamily="18" charset="0"/>
            </a:endParaRPr>
          </a:p>
          <a:p>
            <a:pPr marL="400050" indent="-400050" algn="just">
              <a:buFont typeface="+mj-lt"/>
              <a:buAutoNum type="romanLcPeriod"/>
              <a:tabLst>
                <a:tab pos="355600" algn="l"/>
              </a:tabLst>
            </a:pPr>
            <a:r>
              <a:rPr lang="en-IN" dirty="0">
                <a:latin typeface="Times New Roman" pitchFamily="18" charset="0"/>
                <a:cs typeface="Times New Roman" pitchFamily="18" charset="0"/>
              </a:rPr>
              <a:t>The </a:t>
            </a:r>
            <a:r>
              <a:rPr lang="en-IN" i="1" dirty="0">
                <a:solidFill>
                  <a:srgbClr val="FF0000"/>
                </a:solidFill>
                <a:latin typeface="Times New Roman" pitchFamily="18" charset="0"/>
                <a:cs typeface="Times New Roman" pitchFamily="18" charset="0"/>
              </a:rPr>
              <a:t>object head </a:t>
            </a:r>
            <a:r>
              <a:rPr lang="en-IN" dirty="0">
                <a:latin typeface="Times New Roman" pitchFamily="18" charset="0"/>
                <a:cs typeface="Times New Roman" pitchFamily="18" charset="0"/>
              </a:rPr>
              <a:t>under which the expenditure would be incurred is incorrectly mentioned.</a:t>
            </a:r>
            <a:endParaRPr lang="en-IN" dirty="0">
              <a:solidFill>
                <a:srgbClr val="FF0000"/>
              </a:solidFill>
              <a:latin typeface="Times New Roman" pitchFamily="18" charset="0"/>
              <a:cs typeface="Times New Roman" pitchFamily="18" charset="0"/>
            </a:endParaRPr>
          </a:p>
          <a:p>
            <a:pPr marL="400050" indent="-400050" algn="just">
              <a:buFont typeface="+mj-lt"/>
              <a:buAutoNum type="romanLcPeriod"/>
              <a:tabLst>
                <a:tab pos="355600" algn="l"/>
              </a:tabLst>
            </a:pPr>
            <a:endParaRPr lang="en-IN" dirty="0">
              <a:latin typeface="Times New Roman" pitchFamily="18" charset="0"/>
              <a:cs typeface="Times New Roman" pitchFamily="18" charset="0"/>
            </a:endParaRPr>
          </a:p>
          <a:p>
            <a:pPr marL="400050" indent="-400050" algn="just">
              <a:buFont typeface="+mj-lt"/>
              <a:buAutoNum type="romanLcPeriod"/>
              <a:tabLst>
                <a:tab pos="355600" algn="l"/>
              </a:tabLst>
            </a:pPr>
            <a:r>
              <a:rPr lang="en-IN" dirty="0">
                <a:latin typeface="Times New Roman" pitchFamily="18" charset="0"/>
                <a:cs typeface="Times New Roman" pitchFamily="18" charset="0"/>
              </a:rPr>
              <a:t>A detailed justification of the proposal is not furnished by the formations. The justification should be self-contained and submitted after proper scrutiny.   </a:t>
            </a:r>
          </a:p>
          <a:p>
            <a:pPr marL="400050" indent="-400050" algn="just">
              <a:buFont typeface="+mj-lt"/>
              <a:buAutoNum type="romanLcPeriod"/>
              <a:tabLst>
                <a:tab pos="355600" algn="l"/>
              </a:tabLst>
            </a:pPr>
            <a:endParaRPr lang="en-IN" dirty="0">
              <a:latin typeface="Times New Roman" pitchFamily="18" charset="0"/>
              <a:cs typeface="Times New Roman" pitchFamily="18" charset="0"/>
            </a:endParaRPr>
          </a:p>
          <a:p>
            <a:pPr marL="400050" indent="-400050" algn="just">
              <a:buFont typeface="+mj-lt"/>
              <a:buAutoNum type="romanLcPeriod"/>
              <a:tabLst>
                <a:tab pos="355600" algn="l"/>
              </a:tabLst>
            </a:pPr>
            <a:r>
              <a:rPr lang="en-IN" dirty="0">
                <a:latin typeface="Times New Roman" pitchFamily="18" charset="0"/>
                <a:cs typeface="Times New Roman" pitchFamily="18" charset="0"/>
              </a:rPr>
              <a:t>In case of </a:t>
            </a:r>
            <a:r>
              <a:rPr lang="en-IN" i="1" dirty="0">
                <a:solidFill>
                  <a:srgbClr val="FF0000"/>
                </a:solidFill>
                <a:latin typeface="Times New Roman" pitchFamily="18" charset="0"/>
                <a:cs typeface="Times New Roman" pitchFamily="18" charset="0"/>
              </a:rPr>
              <a:t>renovation of departmental quarters, Demand Survey for the quarters</a:t>
            </a:r>
            <a:r>
              <a:rPr lang="en-IN" dirty="0">
                <a:latin typeface="Times New Roman" pitchFamily="18" charset="0"/>
                <a:cs typeface="Times New Roman" pitchFamily="18" charset="0"/>
              </a:rPr>
              <a:t> is not submitted by the field formations. </a:t>
            </a:r>
          </a:p>
          <a:p>
            <a:pPr marL="400050" indent="-400050" algn="just">
              <a:buFont typeface="+mj-lt"/>
              <a:buAutoNum type="romanLcPeriod"/>
              <a:tabLst>
                <a:tab pos="355600" algn="l"/>
              </a:tabLst>
            </a:pPr>
            <a:endParaRPr lang="en-IN" dirty="0">
              <a:latin typeface="Times New Roman" pitchFamily="18" charset="0"/>
              <a:cs typeface="Times New Roman" pitchFamily="18" charset="0"/>
            </a:endParaRPr>
          </a:p>
          <a:p>
            <a:pPr marL="400050" indent="-400050" algn="just">
              <a:buFont typeface="+mj-lt"/>
              <a:buAutoNum type="romanLcPeriod"/>
              <a:tabLst>
                <a:tab pos="355600" algn="l"/>
              </a:tabLst>
            </a:pPr>
            <a:r>
              <a:rPr lang="en-IN" dirty="0">
                <a:latin typeface="Times New Roman" pitchFamily="18" charset="0"/>
                <a:cs typeface="Times New Roman" pitchFamily="18" charset="0"/>
              </a:rPr>
              <a:t>The </a:t>
            </a:r>
            <a:r>
              <a:rPr lang="en-IN" i="1" dirty="0">
                <a:solidFill>
                  <a:srgbClr val="FF0000"/>
                </a:solidFill>
                <a:latin typeface="Times New Roman" pitchFamily="18" charset="0"/>
                <a:cs typeface="Times New Roman" pitchFamily="18" charset="0"/>
              </a:rPr>
              <a:t>Preliminary Estimate </a:t>
            </a:r>
            <a:r>
              <a:rPr lang="en-IN" dirty="0">
                <a:latin typeface="Times New Roman" pitchFamily="18" charset="0"/>
                <a:cs typeface="Times New Roman" pitchFamily="18" charset="0"/>
              </a:rPr>
              <a:t>submitted by the field formation is </a:t>
            </a:r>
            <a:r>
              <a:rPr lang="en-IN" i="1" dirty="0">
                <a:solidFill>
                  <a:srgbClr val="FF0000"/>
                </a:solidFill>
                <a:latin typeface="Times New Roman" pitchFamily="18" charset="0"/>
                <a:cs typeface="Times New Roman" pitchFamily="18" charset="0"/>
              </a:rPr>
              <a:t>more than 02 years old</a:t>
            </a:r>
            <a:r>
              <a:rPr lang="en-IN" dirty="0">
                <a:latin typeface="Times New Roman" pitchFamily="18" charset="0"/>
                <a:cs typeface="Times New Roman" pitchFamily="18" charset="0"/>
              </a:rPr>
              <a:t>.</a:t>
            </a:r>
          </a:p>
          <a:p>
            <a:pPr algn="just">
              <a:tabLst>
                <a:tab pos="355600" algn="l"/>
              </a:tabLst>
            </a:pPr>
            <a:endParaRPr lang="en-IN" dirty="0">
              <a:latin typeface="Times New Roman" pitchFamily="18" charset="0"/>
              <a:cs typeface="Times New Roman" pitchFamily="18" charset="0"/>
            </a:endParaRPr>
          </a:p>
          <a:p>
            <a:pPr marL="355600" indent="-355600" algn="just">
              <a:tabLst>
                <a:tab pos="355600" algn="l"/>
              </a:tabLst>
            </a:pPr>
            <a:r>
              <a:rPr lang="en-IN" sz="2400" b="1" dirty="0">
                <a:latin typeface="Times New Roman" pitchFamily="18" charset="0"/>
                <a:cs typeface="Times New Roman" pitchFamily="18" charset="0"/>
              </a:rPr>
              <a:t>*</a:t>
            </a:r>
            <a:r>
              <a:rPr lang="en-IN" b="1" dirty="0">
                <a:latin typeface="Times New Roman" pitchFamily="18" charset="0"/>
                <a:cs typeface="Times New Roman" pitchFamily="18" charset="0"/>
              </a:rPr>
              <a:t>	</a:t>
            </a:r>
            <a:r>
              <a:rPr lang="en-IN" sz="2000" b="1" dirty="0">
                <a:latin typeface="Times New Roman" pitchFamily="18" charset="0"/>
                <a:cs typeface="Times New Roman" pitchFamily="18" charset="0"/>
              </a:rPr>
              <a:t> Only Proposals in which preliminary estimate is </a:t>
            </a:r>
            <a:r>
              <a:rPr lang="en-IN" sz="2000" b="1" i="1" dirty="0">
                <a:solidFill>
                  <a:srgbClr val="FF0000"/>
                </a:solidFill>
                <a:latin typeface="Times New Roman" pitchFamily="18" charset="0"/>
                <a:cs typeface="Times New Roman" pitchFamily="18" charset="0"/>
              </a:rPr>
              <a:t>less than 02 years old are considered valid</a:t>
            </a:r>
            <a:r>
              <a:rPr lang="en-IN" sz="2000" b="1" dirty="0">
                <a:latin typeface="Times New Roman" pitchFamily="18" charset="0"/>
                <a:cs typeface="Times New Roman" pitchFamily="18" charset="0"/>
              </a:rPr>
              <a:t>. In case the preliminary estimate is more than 02 years old, the field formations have to approach CPWD for submission of fresh estimates. </a:t>
            </a:r>
            <a:endParaRPr lang="en-IN" sz="2000" b="1"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88310E0-4A93-4355-B6BC-7167A897A554}"/>
              </a:ext>
            </a:extLst>
          </p:cNvPr>
          <p:cNvSpPr>
            <a:spLocks noGrp="1"/>
          </p:cNvSpPr>
          <p:nvPr>
            <p:ph type="ctrTitle"/>
          </p:nvPr>
        </p:nvSpPr>
        <p:spPr>
          <a:xfrm>
            <a:off x="2286000" y="2286000"/>
            <a:ext cx="6172200" cy="1894362"/>
          </a:xfrm>
        </p:spPr>
        <p:txBody>
          <a:bodyPr>
            <a:normAutofit/>
          </a:bodyPr>
          <a:lstStyle/>
          <a:p>
            <a:r>
              <a:rPr lang="en-US" sz="4800" dirty="0">
                <a:solidFill>
                  <a:schemeClr val="accent1">
                    <a:lumMod val="75000"/>
                  </a:schemeClr>
                </a:solidFill>
              </a:rPr>
              <a:t>BUDGETING OF EXPENDITURE</a:t>
            </a:r>
          </a:p>
        </p:txBody>
      </p:sp>
    </p:spTree>
    <p:extLst>
      <p:ext uri="{BB962C8B-B14F-4D97-AF65-F5344CB8AC3E}">
        <p14:creationId xmlns="" xmlns:p14="http://schemas.microsoft.com/office/powerpoint/2010/main" val="15497072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a:off x="7924800" y="6072206"/>
            <a:ext cx="762000" cy="365125"/>
          </a:xfrm>
        </p:spPr>
        <p:txBody>
          <a:bodyPr/>
          <a:lstStyle/>
          <a:p>
            <a:fld id="{35E2A42F-3747-4313-B8AA-F8C71D2DB211}" type="slidenum">
              <a:rPr lang="en-IN" smtClean="0"/>
              <a:pPr/>
              <a:t>63</a:t>
            </a:fld>
            <a:endParaRPr lang="en-IN" dirty="0"/>
          </a:p>
        </p:txBody>
      </p:sp>
      <p:sp>
        <p:nvSpPr>
          <p:cNvPr id="4" name="Rectangle 3"/>
          <p:cNvSpPr/>
          <p:nvPr/>
        </p:nvSpPr>
        <p:spPr>
          <a:xfrm>
            <a:off x="428596" y="785794"/>
            <a:ext cx="8286808" cy="5078313"/>
          </a:xfrm>
          <a:prstGeom prst="rect">
            <a:avLst/>
          </a:prstGeom>
        </p:spPr>
        <p:txBody>
          <a:bodyPr wrap="square">
            <a:spAutoFit/>
          </a:bodyPr>
          <a:lstStyle/>
          <a:p>
            <a:r>
              <a:rPr lang="en-IN" sz="2400" b="1" dirty="0">
                <a:solidFill>
                  <a:schemeClr val="accent1">
                    <a:lumMod val="75000"/>
                  </a:schemeClr>
                </a:solidFill>
                <a:latin typeface="Times New Roman" pitchFamily="18" charset="0"/>
                <a:cs typeface="Times New Roman" pitchFamily="18" charset="0"/>
              </a:rPr>
              <a:t>Budgeting of Expenditure </a:t>
            </a:r>
          </a:p>
          <a:p>
            <a:endParaRPr lang="en-IN" sz="2000" b="1" dirty="0">
              <a:latin typeface="Times New Roman" pitchFamily="18" charset="0"/>
              <a:cs typeface="Times New Roman" pitchFamily="18" charset="0"/>
            </a:endParaRPr>
          </a:p>
          <a:p>
            <a:pPr marL="342900" indent="-342900" algn="just">
              <a:buFont typeface="+mj-lt"/>
              <a:buAutoNum type="arabicPeriod"/>
            </a:pPr>
            <a:r>
              <a:rPr lang="en-IN" sz="2000" dirty="0">
                <a:latin typeface="Times New Roman" pitchFamily="18" charset="0"/>
                <a:cs typeface="Times New Roman" pitchFamily="18" charset="0"/>
              </a:rPr>
              <a:t> The work concerning allocation of Budget comes under the Expenditure Management Cell (EMC) of DGHRD. A Budget Estimate covering all repair and maintenance proposal(s) is forwarded to EMC for provisioning/commitment of funds. </a:t>
            </a:r>
          </a:p>
          <a:p>
            <a:pPr marL="342900" indent="-342900" algn="just">
              <a:buFont typeface="+mj-lt"/>
              <a:buAutoNum type="arabicPeriod"/>
            </a:pPr>
            <a:endParaRPr lang="en-IN" sz="2000" dirty="0">
              <a:latin typeface="Times New Roman" pitchFamily="18" charset="0"/>
              <a:cs typeface="Times New Roman" pitchFamily="18" charset="0"/>
            </a:endParaRPr>
          </a:p>
          <a:p>
            <a:pPr marL="342900" indent="-342900" algn="just">
              <a:buFont typeface="+mj-lt"/>
              <a:buAutoNum type="arabicPeriod"/>
            </a:pPr>
            <a:r>
              <a:rPr lang="en-IN" sz="2000" dirty="0">
                <a:latin typeface="Times New Roman" pitchFamily="18" charset="0"/>
                <a:cs typeface="Times New Roman" pitchFamily="18" charset="0"/>
              </a:rPr>
              <a:t>After the Budget is passed, EMC informs Infrastructure Wing of DGHRD the funds received for repair/renovation work in respective Major Heads (2038/2037/2216/4059/4216).</a:t>
            </a:r>
          </a:p>
          <a:p>
            <a:pPr marL="342900" indent="-342900" algn="just"/>
            <a:endParaRPr lang="en-IN" sz="2000" dirty="0">
              <a:latin typeface="Times New Roman" pitchFamily="18" charset="0"/>
              <a:cs typeface="Times New Roman" pitchFamily="18" charset="0"/>
            </a:endParaRPr>
          </a:p>
          <a:p>
            <a:pPr marL="342900" indent="-342900" algn="just"/>
            <a:r>
              <a:rPr lang="en-IN" sz="2000" dirty="0">
                <a:latin typeface="Times New Roman" pitchFamily="18" charset="0"/>
                <a:cs typeface="Times New Roman" pitchFamily="18" charset="0"/>
              </a:rPr>
              <a:t>3.	If either owing to (</a:t>
            </a:r>
            <a:r>
              <a:rPr lang="en-IN" sz="2000" dirty="0" err="1">
                <a:latin typeface="Times New Roman" pitchFamily="18" charset="0"/>
                <a:cs typeface="Times New Roman" pitchFamily="18" charset="0"/>
              </a:rPr>
              <a:t>i</a:t>
            </a:r>
            <a:r>
              <a:rPr lang="en-IN" sz="2000" dirty="0">
                <a:latin typeface="Times New Roman" pitchFamily="18" charset="0"/>
                <a:cs typeface="Times New Roman" pitchFamily="18" charset="0"/>
              </a:rPr>
              <a:t>) non inclusion of proposal in initial Budget Estimate, or (ii) under-estimation of expenditure or insufficient allowance for factors leading to the increase in expenditure or excess expenditure on a particular item, allotment of additional funds by way of supplementary grant or Revised Budget Estimates (RBE) is requested.</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a:off x="7924800" y="6000768"/>
            <a:ext cx="762000" cy="365125"/>
          </a:xfrm>
        </p:spPr>
        <p:txBody>
          <a:bodyPr/>
          <a:lstStyle/>
          <a:p>
            <a:fld id="{35E2A42F-3747-4313-B8AA-F8C71D2DB211}" type="slidenum">
              <a:rPr lang="en-IN" smtClean="0"/>
              <a:pPr/>
              <a:t>64</a:t>
            </a:fld>
            <a:endParaRPr lang="en-IN" dirty="0"/>
          </a:p>
        </p:txBody>
      </p:sp>
      <p:sp>
        <p:nvSpPr>
          <p:cNvPr id="4" name="TextBox 3"/>
          <p:cNvSpPr txBox="1"/>
          <p:nvPr/>
        </p:nvSpPr>
        <p:spPr>
          <a:xfrm>
            <a:off x="304800" y="1295400"/>
            <a:ext cx="8215370" cy="4154984"/>
          </a:xfrm>
          <a:prstGeom prst="rect">
            <a:avLst/>
          </a:prstGeom>
          <a:noFill/>
        </p:spPr>
        <p:txBody>
          <a:bodyPr wrap="square" rtlCol="0">
            <a:spAutoFit/>
          </a:bodyPr>
          <a:lstStyle/>
          <a:p>
            <a:pPr algn="just"/>
            <a:endParaRPr lang="en-US" sz="2400" dirty="0">
              <a:latin typeface="Times New Roman" pitchFamily="18" charset="0"/>
              <a:cs typeface="Times New Roman" pitchFamily="18" charset="0"/>
            </a:endParaRPr>
          </a:p>
          <a:p>
            <a:pPr lvl="1" algn="just">
              <a:buFont typeface="Arial" pitchFamily="34" charset="0"/>
              <a:buChar char="•"/>
            </a:pPr>
            <a:r>
              <a:rPr lang="en-US" sz="2400" dirty="0">
                <a:latin typeface="Times New Roman" pitchFamily="18" charset="0"/>
                <a:cs typeface="Times New Roman" pitchFamily="18" charset="0"/>
              </a:rPr>
              <a:t> Rs. 15 </a:t>
            </a:r>
            <a:r>
              <a:rPr lang="en-US" sz="2400" dirty="0" err="1">
                <a:latin typeface="Times New Roman" pitchFamily="18" charset="0"/>
                <a:cs typeface="Times New Roman" pitchFamily="18" charset="0"/>
              </a:rPr>
              <a:t>lakhs</a:t>
            </a:r>
            <a:endParaRPr lang="en-US" sz="2400" dirty="0">
              <a:latin typeface="Times New Roman" pitchFamily="18" charset="0"/>
              <a:cs typeface="Times New Roman" pitchFamily="18" charset="0"/>
            </a:endParaRPr>
          </a:p>
          <a:p>
            <a:pPr lvl="1" algn="just"/>
            <a:endParaRPr lang="en-US" sz="2400" dirty="0">
              <a:latin typeface="Times New Roman" pitchFamily="18" charset="0"/>
              <a:cs typeface="Times New Roman" pitchFamily="18" charset="0"/>
            </a:endParaRPr>
          </a:p>
          <a:p>
            <a:pPr lvl="1" algn="just">
              <a:buFont typeface="Arial" pitchFamily="34" charset="0"/>
              <a:buChar char="•"/>
            </a:pPr>
            <a:r>
              <a:rPr lang="en-US" sz="2400" dirty="0">
                <a:latin typeface="Times New Roman" pitchFamily="18" charset="0"/>
                <a:cs typeface="Times New Roman" pitchFamily="18" charset="0"/>
              </a:rPr>
              <a:t> Expenditure incurred under </a:t>
            </a:r>
            <a:r>
              <a:rPr lang="en-US" sz="2400" b="1" dirty="0">
                <a:latin typeface="Times New Roman" pitchFamily="18" charset="0"/>
                <a:cs typeface="Times New Roman" pitchFamily="18" charset="0"/>
              </a:rPr>
              <a:t>Major Head 4059</a:t>
            </a:r>
          </a:p>
          <a:p>
            <a:pPr lvl="1" algn="just"/>
            <a:endParaRPr lang="en-US" sz="2400" b="1" dirty="0">
              <a:latin typeface="Times New Roman" pitchFamily="18" charset="0"/>
              <a:cs typeface="Times New Roman" pitchFamily="18" charset="0"/>
            </a:endParaRPr>
          </a:p>
          <a:p>
            <a:pPr lvl="1" algn="just">
              <a:buFont typeface="Arial" pitchFamily="34" charset="0"/>
              <a:buChar char="•"/>
            </a:pPr>
            <a:r>
              <a:rPr lang="en-US" sz="2400" b="1" dirty="0">
                <a:latin typeface="Times New Roman" pitchFamily="18" charset="0"/>
                <a:cs typeface="Times New Roman" pitchFamily="18" charset="0"/>
              </a:rPr>
              <a:t> </a:t>
            </a:r>
            <a:r>
              <a:rPr lang="en-US" sz="2400" dirty="0">
                <a:latin typeface="Times New Roman" pitchFamily="18" charset="0"/>
                <a:cs typeface="Times New Roman" pitchFamily="18" charset="0"/>
              </a:rPr>
              <a:t>Only essential load will be taken into account while arriving at the required capacity of the DG set for any particular office.</a:t>
            </a:r>
          </a:p>
          <a:p>
            <a:pPr lvl="1" algn="just"/>
            <a:endParaRPr lang="en-US" sz="2400" dirty="0">
              <a:latin typeface="Times New Roman" pitchFamily="18" charset="0"/>
              <a:cs typeface="Times New Roman" pitchFamily="18" charset="0"/>
            </a:endParaRPr>
          </a:p>
          <a:p>
            <a:pPr lvl="1" algn="just">
              <a:buFont typeface="Arial" pitchFamily="34" charset="0"/>
              <a:buChar char="•"/>
            </a:pPr>
            <a:r>
              <a:rPr lang="en-US" sz="2400" dirty="0">
                <a:latin typeface="Times New Roman" pitchFamily="18" charset="0"/>
                <a:cs typeface="Times New Roman" pitchFamily="18" charset="0"/>
              </a:rPr>
              <a:t> The purchase, installation and maintenance of the DG sets will be done by following the provisions of GFRs, 2017</a:t>
            </a:r>
            <a:r>
              <a:rPr lang="en-US" dirty="0">
                <a:latin typeface="Times New Roman" pitchFamily="18" charset="0"/>
                <a:cs typeface="Times New Roman" pitchFamily="18" charset="0"/>
              </a:rPr>
              <a:t>.</a:t>
            </a:r>
          </a:p>
        </p:txBody>
      </p:sp>
      <p:sp>
        <p:nvSpPr>
          <p:cNvPr id="8" name="TextBox 7"/>
          <p:cNvSpPr txBox="1"/>
          <p:nvPr/>
        </p:nvSpPr>
        <p:spPr>
          <a:xfrm>
            <a:off x="304800" y="457200"/>
            <a:ext cx="7848600" cy="954107"/>
          </a:xfrm>
          <a:prstGeom prst="rect">
            <a:avLst/>
          </a:prstGeom>
          <a:noFill/>
        </p:spPr>
        <p:txBody>
          <a:bodyPr wrap="square" rtlCol="0">
            <a:spAutoFit/>
          </a:bodyPr>
          <a:lstStyle/>
          <a:p>
            <a:r>
              <a:rPr lang="en-US" sz="2800" b="1" dirty="0">
                <a:solidFill>
                  <a:schemeClr val="accent1">
                    <a:lumMod val="75000"/>
                  </a:schemeClr>
                </a:solidFill>
              </a:rPr>
              <a:t>POWER OF </a:t>
            </a:r>
            <a:r>
              <a:rPr lang="en-US" sz="2800" b="1" dirty="0" err="1">
                <a:solidFill>
                  <a:schemeClr val="accent1">
                    <a:lumMod val="75000"/>
                  </a:schemeClr>
                </a:solidFill>
              </a:rPr>
              <a:t>HoD</a:t>
            </a:r>
            <a:r>
              <a:rPr lang="en-US" sz="2800" b="1" dirty="0">
                <a:solidFill>
                  <a:schemeClr val="accent1">
                    <a:lumMod val="75000"/>
                  </a:schemeClr>
                </a:solidFill>
              </a:rPr>
              <a:t> FOR PURCHASE OF DG SETS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04800" y="1143000"/>
            <a:ext cx="8072494" cy="4770537"/>
          </a:xfrm>
          <a:prstGeom prst="rect">
            <a:avLst/>
          </a:prstGeom>
        </p:spPr>
        <p:txBody>
          <a:bodyPr wrap="square">
            <a:spAutoFit/>
          </a:bodyPr>
          <a:lstStyle/>
          <a:p>
            <a:endParaRPr lang="en-IN" sz="1600" b="1" dirty="0"/>
          </a:p>
          <a:p>
            <a:pPr algn="just"/>
            <a:r>
              <a:rPr lang="en-IN" sz="2000" dirty="0">
                <a:solidFill>
                  <a:schemeClr val="accent1">
                    <a:lumMod val="75000"/>
                  </a:schemeClr>
                </a:solidFill>
                <a:latin typeface="Times New Roman" pitchFamily="18" charset="0"/>
                <a:cs typeface="Times New Roman" pitchFamily="18" charset="0"/>
              </a:rPr>
              <a:t>  </a:t>
            </a:r>
            <a:r>
              <a:rPr lang="en-IN" sz="2400" b="1" dirty="0">
                <a:solidFill>
                  <a:schemeClr val="accent1">
                    <a:lumMod val="75000"/>
                  </a:schemeClr>
                </a:solidFill>
                <a:latin typeface="Times New Roman" pitchFamily="18" charset="0"/>
                <a:cs typeface="Times New Roman" pitchFamily="18" charset="0"/>
              </a:rPr>
              <a:t>Check List for proposal for installation/maintenance of D.G. Set</a:t>
            </a:r>
            <a:endParaRPr lang="en-IN" sz="2400" dirty="0">
              <a:solidFill>
                <a:schemeClr val="accent1">
                  <a:lumMod val="75000"/>
                </a:schemeClr>
              </a:solidFill>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 </a:t>
            </a:r>
          </a:p>
          <a:p>
            <a:pPr lvl="0" algn="just">
              <a:buFont typeface="Arial" pitchFamily="34" charset="0"/>
              <a:buChar char="•"/>
            </a:pPr>
            <a:r>
              <a:rPr lang="en-IN" sz="2400" dirty="0">
                <a:latin typeface="Times New Roman" pitchFamily="18" charset="0"/>
                <a:cs typeface="Times New Roman" pitchFamily="18" charset="0"/>
              </a:rPr>
              <a:t> Location/Premises for which the proposal for provision/maintenance etc. relates to;</a:t>
            </a:r>
          </a:p>
          <a:p>
            <a:pPr algn="just">
              <a:buFont typeface="Arial" pitchFamily="34" charset="0"/>
              <a:buChar char="•"/>
            </a:pPr>
            <a:r>
              <a:rPr lang="en-IN" sz="2400" dirty="0">
                <a:latin typeface="Times New Roman" pitchFamily="18" charset="0"/>
                <a:cs typeface="Times New Roman" pitchFamily="18" charset="0"/>
              </a:rPr>
              <a:t> Grounds on which the provisioning of the DG set is considered essential;</a:t>
            </a:r>
          </a:p>
          <a:p>
            <a:pPr algn="just">
              <a:buFont typeface="Arial" pitchFamily="34" charset="0"/>
              <a:buChar char="•"/>
            </a:pPr>
            <a:r>
              <a:rPr lang="en-IN" sz="2400" dirty="0">
                <a:latin typeface="Times New Roman" pitchFamily="18" charset="0"/>
                <a:cs typeface="Times New Roman" pitchFamily="18" charset="0"/>
              </a:rPr>
              <a:t> Age and repair worthiness of the existing DG set;</a:t>
            </a:r>
          </a:p>
          <a:p>
            <a:pPr algn="just">
              <a:buFont typeface="Arial" pitchFamily="34" charset="0"/>
              <a:buChar char="•"/>
            </a:pPr>
            <a:r>
              <a:rPr lang="en-IN" sz="2400" dirty="0">
                <a:latin typeface="Times New Roman" pitchFamily="18" charset="0"/>
                <a:cs typeface="Times New Roman" pitchFamily="18" charset="0"/>
              </a:rPr>
              <a:t> Specifications of the new DG Set;</a:t>
            </a:r>
          </a:p>
          <a:p>
            <a:pPr algn="just">
              <a:buFont typeface="Arial" pitchFamily="34" charset="0"/>
              <a:buChar char="•"/>
            </a:pPr>
            <a:r>
              <a:rPr lang="en-IN" sz="2400" dirty="0">
                <a:latin typeface="Times New Roman" pitchFamily="18" charset="0"/>
                <a:cs typeface="Times New Roman" pitchFamily="18" charset="0"/>
              </a:rPr>
              <a:t> Capacity of the DG Set;</a:t>
            </a:r>
          </a:p>
          <a:p>
            <a:pPr lvl="0" algn="just">
              <a:buFont typeface="Arial" pitchFamily="34" charset="0"/>
              <a:buChar char="•"/>
            </a:pPr>
            <a:r>
              <a:rPr lang="en-IN" sz="2400" dirty="0">
                <a:latin typeface="Times New Roman" pitchFamily="18" charset="0"/>
                <a:cs typeface="Times New Roman" pitchFamily="18" charset="0"/>
              </a:rPr>
              <a:t> Whether DG Set required for Communication Room;</a:t>
            </a:r>
          </a:p>
          <a:p>
            <a:pPr lvl="0" algn="just">
              <a:buFont typeface="Arial" pitchFamily="34" charset="0"/>
              <a:buChar char="•"/>
            </a:pPr>
            <a:endParaRPr lang="en-IN" sz="2400" dirty="0">
              <a:latin typeface="Times New Roman" pitchFamily="18" charset="0"/>
              <a:cs typeface="Times New Roman" pitchFamily="18" charset="0"/>
            </a:endParaRPr>
          </a:p>
        </p:txBody>
      </p:sp>
      <p:sp>
        <p:nvSpPr>
          <p:cNvPr id="6" name="TextBox 5"/>
          <p:cNvSpPr txBox="1"/>
          <p:nvPr/>
        </p:nvSpPr>
        <p:spPr>
          <a:xfrm>
            <a:off x="304800" y="457200"/>
            <a:ext cx="7848600" cy="523220"/>
          </a:xfrm>
          <a:prstGeom prst="rect">
            <a:avLst/>
          </a:prstGeom>
          <a:noFill/>
        </p:spPr>
        <p:txBody>
          <a:bodyPr wrap="square" rtlCol="0">
            <a:spAutoFit/>
          </a:bodyPr>
          <a:lstStyle/>
          <a:p>
            <a:r>
              <a:rPr lang="en-US" sz="2800" b="1" dirty="0">
                <a:solidFill>
                  <a:schemeClr val="accent1">
                    <a:lumMod val="75000"/>
                  </a:schemeClr>
                </a:solidFill>
              </a:rPr>
              <a:t>PURCHASE OF DG SETS</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D08F14D-1B04-4D52-9332-832DFE53CDDC}"/>
              </a:ext>
            </a:extLst>
          </p:cNvPr>
          <p:cNvSpPr>
            <a:spLocks noGrp="1"/>
          </p:cNvSpPr>
          <p:nvPr>
            <p:ph type="title"/>
          </p:nvPr>
        </p:nvSpPr>
        <p:spPr/>
        <p:txBody>
          <a:bodyPr/>
          <a:lstStyle/>
          <a:p>
            <a:r>
              <a:rPr lang="en-US" sz="3200" b="1" dirty="0">
                <a:solidFill>
                  <a:schemeClr val="accent1">
                    <a:lumMod val="75000"/>
                  </a:schemeClr>
                </a:solidFill>
              </a:rPr>
              <a:t>PURCHASE OF DG SETS</a:t>
            </a:r>
            <a:br>
              <a:rPr lang="en-US" sz="3200" b="1" dirty="0">
                <a:solidFill>
                  <a:schemeClr val="accent1">
                    <a:lumMod val="75000"/>
                  </a:schemeClr>
                </a:solidFill>
              </a:rPr>
            </a:br>
            <a:endParaRPr lang="en-US" dirty="0"/>
          </a:p>
        </p:txBody>
      </p:sp>
      <p:sp>
        <p:nvSpPr>
          <p:cNvPr id="3" name="Content Placeholder 2">
            <a:extLst>
              <a:ext uri="{FF2B5EF4-FFF2-40B4-BE49-F238E27FC236}">
                <a16:creationId xmlns="" xmlns:a16="http://schemas.microsoft.com/office/drawing/2014/main" id="{9F372518-ED02-44A6-9770-F13E131035C2}"/>
              </a:ext>
            </a:extLst>
          </p:cNvPr>
          <p:cNvSpPr>
            <a:spLocks noGrp="1"/>
          </p:cNvSpPr>
          <p:nvPr>
            <p:ph sz="quarter" idx="1"/>
          </p:nvPr>
        </p:nvSpPr>
        <p:spPr/>
        <p:txBody>
          <a:bodyPr>
            <a:normAutofit lnSpcReduction="10000"/>
          </a:bodyPr>
          <a:lstStyle/>
          <a:p>
            <a:pPr lvl="0" algn="just">
              <a:buFont typeface="Wingdings" panose="05000000000000000000" pitchFamily="2" charset="2"/>
              <a:buChar char="q"/>
            </a:pPr>
            <a:r>
              <a:rPr lang="en-IN" sz="2400" dirty="0">
                <a:latin typeface="Times New Roman" pitchFamily="18" charset="0"/>
                <a:cs typeface="Times New Roman" pitchFamily="18" charset="0"/>
              </a:rPr>
              <a:t>Whether the DG Set is installed/ to be installed as a back up to main power source during periods of power cuts for only the following essential loads:-</a:t>
            </a:r>
          </a:p>
          <a:p>
            <a:pPr marL="0" indent="0" algn="just">
              <a:buNone/>
            </a:pPr>
            <a:endParaRPr lang="en-IN" sz="2400" dirty="0">
              <a:latin typeface="Times New Roman" pitchFamily="18" charset="0"/>
              <a:cs typeface="Times New Roman" pitchFamily="18" charset="0"/>
            </a:endParaRPr>
          </a:p>
          <a:p>
            <a:pPr lvl="1" algn="just">
              <a:buFont typeface="Wingdings" pitchFamily="2" charset="2"/>
              <a:buChar char="§"/>
            </a:pPr>
            <a:r>
              <a:rPr lang="en-IN" sz="2400" dirty="0">
                <a:latin typeface="Times New Roman" pitchFamily="18" charset="0"/>
                <a:cs typeface="Times New Roman" pitchFamily="18" charset="0"/>
              </a:rPr>
              <a:t> Only one AC installed in the rooms of officers who are entitled to the same.</a:t>
            </a:r>
          </a:p>
          <a:p>
            <a:pPr lvl="1" algn="just"/>
            <a:r>
              <a:rPr lang="en-IN" sz="2400" dirty="0">
                <a:latin typeface="Times New Roman" pitchFamily="18" charset="0"/>
                <a:cs typeface="Times New Roman" pitchFamily="18" charset="0"/>
              </a:rPr>
              <a:t>50% of the ACs installed in the Conference Room to be connected.</a:t>
            </a:r>
          </a:p>
          <a:p>
            <a:pPr lvl="1" algn="just">
              <a:buFont typeface="Wingdings" pitchFamily="2" charset="2"/>
              <a:buChar char="§"/>
            </a:pPr>
            <a:r>
              <a:rPr lang="en-IN" sz="2400" dirty="0">
                <a:latin typeface="Times New Roman" pitchFamily="18" charset="0"/>
                <a:cs typeface="Times New Roman" pitchFamily="18" charset="0"/>
              </a:rPr>
              <a:t> All Lifts, booster pumps and submarine pumps.</a:t>
            </a:r>
          </a:p>
          <a:p>
            <a:pPr lvl="1" algn="just">
              <a:buFont typeface="Wingdings" pitchFamily="2" charset="2"/>
              <a:buChar char="§"/>
            </a:pPr>
            <a:r>
              <a:rPr lang="en-IN" sz="2400" dirty="0">
                <a:latin typeface="Times New Roman" pitchFamily="18" charset="0"/>
                <a:cs typeface="Times New Roman" pitchFamily="18" charset="0"/>
              </a:rPr>
              <a:t> All computers, 20% of the printers and 50% of the Photostat Machines/Fax Machines.</a:t>
            </a:r>
          </a:p>
          <a:p>
            <a:pPr lvl="1" algn="just">
              <a:buFont typeface="Wingdings" pitchFamily="2" charset="2"/>
              <a:buChar char="§"/>
            </a:pPr>
            <a:r>
              <a:rPr lang="en-IN" sz="2400" dirty="0">
                <a:latin typeface="Times New Roman" pitchFamily="18" charset="0"/>
                <a:cs typeface="Times New Roman" pitchFamily="18" charset="0"/>
              </a:rPr>
              <a:t> All Lights, Ceiling fans, exhaust fans and Water Coolers.</a:t>
            </a:r>
          </a:p>
          <a:p>
            <a:endParaRPr lang="en-US" dirty="0"/>
          </a:p>
        </p:txBody>
      </p:sp>
    </p:spTree>
    <p:extLst>
      <p:ext uri="{BB962C8B-B14F-4D97-AF65-F5344CB8AC3E}">
        <p14:creationId xmlns="" xmlns:p14="http://schemas.microsoft.com/office/powerpoint/2010/main" val="236349489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a:off x="7924800" y="6000768"/>
            <a:ext cx="762000" cy="365125"/>
          </a:xfrm>
        </p:spPr>
        <p:txBody>
          <a:bodyPr/>
          <a:lstStyle/>
          <a:p>
            <a:fld id="{35E2A42F-3747-4313-B8AA-F8C71D2DB211}" type="slidenum">
              <a:rPr lang="en-IN" smtClean="0"/>
              <a:pPr/>
              <a:t>67</a:t>
            </a:fld>
            <a:endParaRPr lang="en-IN" dirty="0"/>
          </a:p>
        </p:txBody>
      </p:sp>
      <p:sp>
        <p:nvSpPr>
          <p:cNvPr id="5" name="Rectangle 4"/>
          <p:cNvSpPr/>
          <p:nvPr/>
        </p:nvSpPr>
        <p:spPr>
          <a:xfrm>
            <a:off x="559716" y="762000"/>
            <a:ext cx="7746084" cy="6217087"/>
          </a:xfrm>
          <a:prstGeom prst="rect">
            <a:avLst/>
          </a:prstGeom>
        </p:spPr>
        <p:txBody>
          <a:bodyPr wrap="square">
            <a:spAutoFit/>
          </a:bodyPr>
          <a:lstStyle/>
          <a:p>
            <a:pPr algn="just"/>
            <a:r>
              <a:rPr lang="en-IN" sz="2000" dirty="0">
                <a:latin typeface="Times New Roman" pitchFamily="18" charset="0"/>
                <a:cs typeface="Times New Roman" pitchFamily="18" charset="0"/>
              </a:rPr>
              <a:t> (5)	Whether the Delegated Financial Powers of HOD viz. ₹ 15 </a:t>
            </a:r>
            <a:r>
              <a:rPr lang="en-IN" sz="2000" dirty="0" err="1">
                <a:latin typeface="Times New Roman" pitchFamily="18" charset="0"/>
                <a:cs typeface="Times New Roman" pitchFamily="18" charset="0"/>
              </a:rPr>
              <a:t>lakhs</a:t>
            </a:r>
            <a:r>
              <a:rPr lang="en-IN" sz="2000" dirty="0">
                <a:latin typeface="Times New Roman" pitchFamily="18" charset="0"/>
                <a:cs typeface="Times New Roman" pitchFamily="18" charset="0"/>
              </a:rPr>
              <a:t> has been exhausted in the current F.Y. If yes, a certificate to the effect is to be produced.</a:t>
            </a:r>
          </a:p>
          <a:p>
            <a:pPr algn="just"/>
            <a:r>
              <a:rPr lang="en-IN" sz="2000" dirty="0">
                <a:latin typeface="Times New Roman" pitchFamily="18" charset="0"/>
                <a:cs typeface="Times New Roman" pitchFamily="18" charset="0"/>
              </a:rPr>
              <a:t> </a:t>
            </a:r>
          </a:p>
          <a:p>
            <a:pPr marL="342900" indent="-342900" algn="just">
              <a:buAutoNum type="arabicParenBoth" startAt="6"/>
            </a:pPr>
            <a:r>
              <a:rPr lang="en-IN" sz="2000" dirty="0">
                <a:latin typeface="Times New Roman" pitchFamily="18" charset="0"/>
                <a:cs typeface="Times New Roman" pitchFamily="18" charset="0"/>
              </a:rPr>
              <a:t>Details of Preliminary Cost estimates of the proposed DG Set at each site/station framed by CPWD.</a:t>
            </a:r>
          </a:p>
          <a:p>
            <a:pPr marL="342900" indent="-342900" algn="just"/>
            <a:endParaRPr lang="en-IN" sz="2000" dirty="0">
              <a:latin typeface="Times New Roman" pitchFamily="18" charset="0"/>
              <a:cs typeface="Times New Roman" pitchFamily="18" charset="0"/>
            </a:endParaRPr>
          </a:p>
          <a:p>
            <a:pPr marL="342900" indent="-342900" algn="just">
              <a:buAutoNum type="arabicParenBoth" startAt="7"/>
            </a:pPr>
            <a:r>
              <a:rPr lang="en-IN" sz="2000" dirty="0">
                <a:latin typeface="Times New Roman" pitchFamily="18" charset="0"/>
                <a:cs typeface="Times New Roman" pitchFamily="18" charset="0"/>
              </a:rPr>
              <a:t>Whether a certificate has been obtained from CPWD to the effect that estimates have been prepared keeping in view the guidelines for installation, maintenance etc. of DG Sets.</a:t>
            </a:r>
          </a:p>
          <a:p>
            <a:pPr marL="342900" indent="-342900" algn="just"/>
            <a:endParaRPr lang="en-IN" sz="2000" dirty="0">
              <a:latin typeface="Times New Roman" pitchFamily="18" charset="0"/>
              <a:cs typeface="Times New Roman" pitchFamily="18" charset="0"/>
            </a:endParaRPr>
          </a:p>
          <a:p>
            <a:pPr marL="342900" indent="-342900" algn="just">
              <a:buAutoNum type="arabicParenBoth" startAt="8"/>
            </a:pPr>
            <a:r>
              <a:rPr lang="en-IN" sz="2000" dirty="0">
                <a:latin typeface="Times New Roman" pitchFamily="18" charset="0"/>
                <a:cs typeface="Times New Roman" pitchFamily="18" charset="0"/>
              </a:rPr>
              <a:t>The availability of funds in the Budget along with the Demand Number, Major Heads, Object Head, etc from which the expenditure will be booked.</a:t>
            </a:r>
          </a:p>
          <a:p>
            <a:pPr marL="342900" indent="-342900" algn="just"/>
            <a:endParaRPr lang="en-IN" sz="2000" dirty="0">
              <a:latin typeface="Times New Roman" pitchFamily="18" charset="0"/>
              <a:cs typeface="Times New Roman" pitchFamily="18" charset="0"/>
            </a:endParaRPr>
          </a:p>
          <a:p>
            <a:pPr marL="342900" indent="-342900" algn="just">
              <a:buAutoNum type="arabicParenBoth" startAt="9"/>
            </a:pPr>
            <a:r>
              <a:rPr lang="en-IN" sz="2000" dirty="0">
                <a:latin typeface="Times New Roman" pitchFamily="18" charset="0"/>
                <a:cs typeface="Times New Roman" pitchFamily="18" charset="0"/>
              </a:rPr>
              <a:t>Date of preparation of the estimate and the total amount involved.</a:t>
            </a:r>
          </a:p>
          <a:p>
            <a:pPr marL="342900" indent="-342900" algn="just"/>
            <a:endParaRPr lang="en-IN" sz="2000" dirty="0">
              <a:latin typeface="Times New Roman" pitchFamily="18" charset="0"/>
              <a:cs typeface="Times New Roman" pitchFamily="18" charset="0"/>
            </a:endParaRPr>
          </a:p>
          <a:p>
            <a:pPr marL="360363" indent="-360363" algn="just"/>
            <a:r>
              <a:rPr lang="en-IN" sz="2000" dirty="0">
                <a:latin typeface="Times New Roman" pitchFamily="18" charset="0"/>
                <a:cs typeface="Times New Roman" pitchFamily="18" charset="0"/>
              </a:rPr>
              <a:t>(10)	Whether the </a:t>
            </a:r>
            <a:r>
              <a:rPr lang="en-IN" sz="2000" dirty="0" err="1">
                <a:latin typeface="Times New Roman" pitchFamily="18" charset="0"/>
                <a:cs typeface="Times New Roman" pitchFamily="18" charset="0"/>
              </a:rPr>
              <a:t>HoD</a:t>
            </a:r>
            <a:r>
              <a:rPr lang="en-IN" sz="2000" dirty="0">
                <a:latin typeface="Times New Roman" pitchFamily="18" charset="0"/>
                <a:cs typeface="Times New Roman" pitchFamily="18" charset="0"/>
              </a:rPr>
              <a:t>/Commissioner is satisfied about the essentiality of the requirement of the DG Set at the station.</a:t>
            </a:r>
          </a:p>
          <a:p>
            <a:pPr algn="just"/>
            <a:endParaRPr lang="en-IN" dirty="0"/>
          </a:p>
        </p:txBody>
      </p:sp>
      <p:sp>
        <p:nvSpPr>
          <p:cNvPr id="6" name="TextBox 5"/>
          <p:cNvSpPr txBox="1"/>
          <p:nvPr/>
        </p:nvSpPr>
        <p:spPr>
          <a:xfrm>
            <a:off x="304800" y="148806"/>
            <a:ext cx="7848600" cy="523220"/>
          </a:xfrm>
          <a:prstGeom prst="rect">
            <a:avLst/>
          </a:prstGeom>
          <a:noFill/>
        </p:spPr>
        <p:txBody>
          <a:bodyPr wrap="square" rtlCol="0">
            <a:spAutoFit/>
          </a:bodyPr>
          <a:lstStyle/>
          <a:p>
            <a:r>
              <a:rPr lang="en-US" sz="2800" b="1" dirty="0">
                <a:solidFill>
                  <a:schemeClr val="accent1">
                    <a:lumMod val="75000"/>
                  </a:schemeClr>
                </a:solidFill>
              </a:rPr>
              <a:t>PURCHASE OF DG SETS</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a:off x="7924800" y="6000768"/>
            <a:ext cx="762000" cy="365125"/>
          </a:xfrm>
        </p:spPr>
        <p:txBody>
          <a:bodyPr/>
          <a:lstStyle/>
          <a:p>
            <a:fld id="{35E2A42F-3747-4313-B8AA-F8C71D2DB211}" type="slidenum">
              <a:rPr lang="en-IN" smtClean="0"/>
              <a:pPr/>
              <a:t>68</a:t>
            </a:fld>
            <a:endParaRPr lang="en-IN" dirty="0"/>
          </a:p>
        </p:txBody>
      </p:sp>
      <p:sp>
        <p:nvSpPr>
          <p:cNvPr id="5" name="Rectangle 4"/>
          <p:cNvSpPr/>
          <p:nvPr/>
        </p:nvSpPr>
        <p:spPr>
          <a:xfrm>
            <a:off x="428596" y="1219200"/>
            <a:ext cx="8103274" cy="3662541"/>
          </a:xfrm>
          <a:prstGeom prst="rect">
            <a:avLst/>
          </a:prstGeom>
        </p:spPr>
        <p:txBody>
          <a:bodyPr wrap="square">
            <a:spAutoFit/>
          </a:bodyPr>
          <a:lstStyle/>
          <a:p>
            <a:r>
              <a:rPr lang="en-IN" sz="1600" dirty="0">
                <a:latin typeface="Times New Roman" pitchFamily="18" charset="0"/>
                <a:cs typeface="Times New Roman" pitchFamily="18" charset="0"/>
              </a:rPr>
              <a:t> </a:t>
            </a:r>
          </a:p>
          <a:p>
            <a:pPr algn="just">
              <a:buFont typeface="Arial" pitchFamily="34" charset="0"/>
              <a:buChar char="•"/>
            </a:pPr>
            <a:r>
              <a:rPr lang="en-IN" sz="1600" b="1" dirty="0">
                <a:latin typeface="Times New Roman" pitchFamily="18" charset="0"/>
                <a:cs typeface="Times New Roman" pitchFamily="18" charset="0"/>
              </a:rPr>
              <a:t>  </a:t>
            </a:r>
            <a:r>
              <a:rPr lang="en-IN" sz="2400" dirty="0">
                <a:latin typeface="Times New Roman" pitchFamily="18" charset="0"/>
                <a:cs typeface="Times New Roman" pitchFamily="18" charset="0"/>
              </a:rPr>
              <a:t>Non-submission of the prescribed Check-list for DG Sets;</a:t>
            </a:r>
          </a:p>
          <a:p>
            <a:pPr algn="just">
              <a:tabLst>
                <a:tab pos="355600" algn="l"/>
              </a:tabLst>
            </a:pPr>
            <a:endParaRPr lang="en-IN" sz="2400" dirty="0">
              <a:latin typeface="Times New Roman" pitchFamily="18" charset="0"/>
              <a:cs typeface="Times New Roman" pitchFamily="18" charset="0"/>
            </a:endParaRPr>
          </a:p>
          <a:p>
            <a:pPr algn="just">
              <a:buFont typeface="Arial" pitchFamily="34" charset="0"/>
              <a:buChar char="•"/>
              <a:tabLst>
                <a:tab pos="355600" algn="l"/>
              </a:tabLst>
            </a:pPr>
            <a:r>
              <a:rPr lang="en-IN" sz="2400" dirty="0">
                <a:latin typeface="Times New Roman" pitchFamily="18" charset="0"/>
                <a:cs typeface="Times New Roman" pitchFamily="18" charset="0"/>
              </a:rPr>
              <a:t>	The field formations </a:t>
            </a:r>
            <a:r>
              <a:rPr lang="en-IN" sz="2400" i="1" dirty="0">
                <a:latin typeface="Times New Roman" pitchFamily="18" charset="0"/>
                <a:cs typeface="Times New Roman" pitchFamily="18" charset="0"/>
              </a:rPr>
              <a:t>wrongly furnish checklist for Repair &amp; Maintenance </a:t>
            </a:r>
            <a:r>
              <a:rPr lang="en-IN" sz="2400" dirty="0">
                <a:latin typeface="Times New Roman" pitchFamily="18" charset="0"/>
                <a:cs typeface="Times New Roman" pitchFamily="18" charset="0"/>
              </a:rPr>
              <a:t>or furnish an incomplete checklist which is not signed by the Commissioner (HOD).</a:t>
            </a:r>
          </a:p>
          <a:p>
            <a:pPr algn="just">
              <a:tabLst>
                <a:tab pos="355600" algn="l"/>
              </a:tabLst>
            </a:pPr>
            <a:endParaRPr lang="en-IN" sz="2400" dirty="0">
              <a:latin typeface="Times New Roman" pitchFamily="18" charset="0"/>
              <a:cs typeface="Times New Roman" pitchFamily="18" charset="0"/>
            </a:endParaRPr>
          </a:p>
          <a:p>
            <a:pPr algn="just">
              <a:buFont typeface="Arial" pitchFamily="34" charset="0"/>
              <a:buChar char="•"/>
              <a:tabLst>
                <a:tab pos="355600" algn="l"/>
              </a:tabLst>
            </a:pPr>
            <a:r>
              <a:rPr lang="en-IN" sz="2400" dirty="0">
                <a:latin typeface="Times New Roman" pitchFamily="18" charset="0"/>
                <a:cs typeface="Times New Roman" pitchFamily="18" charset="0"/>
              </a:rPr>
              <a:t>	A detailed justification of the proposal is not furnished by the formations. The justification should be self-contained and submitted after proper scrutiny.   </a:t>
            </a:r>
            <a:endParaRPr lang="en-IN" sz="2800" dirty="0"/>
          </a:p>
        </p:txBody>
      </p:sp>
      <p:sp>
        <p:nvSpPr>
          <p:cNvPr id="6" name="TextBox 5"/>
          <p:cNvSpPr txBox="1"/>
          <p:nvPr/>
        </p:nvSpPr>
        <p:spPr>
          <a:xfrm>
            <a:off x="304800" y="304800"/>
            <a:ext cx="7848600" cy="954107"/>
          </a:xfrm>
          <a:prstGeom prst="rect">
            <a:avLst/>
          </a:prstGeom>
          <a:noFill/>
        </p:spPr>
        <p:txBody>
          <a:bodyPr wrap="square" rtlCol="0">
            <a:spAutoFit/>
          </a:bodyPr>
          <a:lstStyle/>
          <a:p>
            <a:pPr algn="just"/>
            <a:r>
              <a:rPr lang="en-IN" sz="2800" b="1" dirty="0">
                <a:solidFill>
                  <a:schemeClr val="accent1">
                    <a:lumMod val="75000"/>
                  </a:schemeClr>
                </a:solidFill>
                <a:latin typeface="Times New Roman" pitchFamily="18" charset="0"/>
                <a:cs typeface="Times New Roman" pitchFamily="18" charset="0"/>
              </a:rPr>
              <a:t>Common Shortcomings/Deficiencies Observed in Proposals for Providing &amp; Installation of DG Sets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772400" cy="2362200"/>
          </a:xfrm>
        </p:spPr>
        <p:txBody>
          <a:bodyPr>
            <a:normAutofit/>
          </a:bodyPr>
          <a:lstStyle/>
          <a:p>
            <a:pPr algn="ctr"/>
            <a:r>
              <a:rPr lang="en-US" dirty="0">
                <a:solidFill>
                  <a:schemeClr val="accent1">
                    <a:lumMod val="75000"/>
                  </a:schemeClr>
                </a:solidFill>
              </a:rPr>
              <a:t>HIRING OF ACCOMODATION ON LEASE/RENTAL BASIS</a:t>
            </a:r>
          </a:p>
        </p:txBody>
      </p:sp>
    </p:spTree>
    <p:extLst>
      <p:ext uri="{BB962C8B-B14F-4D97-AF65-F5344CB8AC3E}">
        <p14:creationId xmlns="" xmlns:p14="http://schemas.microsoft.com/office/powerpoint/2010/main" val="42450588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0042"/>
            <a:ext cx="8229600" cy="785818"/>
          </a:xfrm>
        </p:spPr>
        <p:txBody>
          <a:bodyPr>
            <a:normAutofit/>
          </a:bodyPr>
          <a:lstStyle/>
          <a:p>
            <a:pPr algn="ctr"/>
            <a:r>
              <a:rPr lang="en-US" sz="4000" b="1" dirty="0">
                <a:solidFill>
                  <a:schemeClr val="accent1">
                    <a:lumMod val="75000"/>
                  </a:schemeClr>
                </a:solidFill>
              </a:rPr>
              <a:t>FLOW CHART</a:t>
            </a:r>
            <a:endParaRPr lang="en-IN" sz="4000" b="1" dirty="0">
              <a:solidFill>
                <a:schemeClr val="accent1">
                  <a:lumMod val="75000"/>
                </a:schemeClr>
              </a:solidFill>
            </a:endParaRPr>
          </a:p>
        </p:txBody>
      </p:sp>
      <p:sp>
        <p:nvSpPr>
          <p:cNvPr id="9" name="Content Placeholder 8"/>
          <p:cNvSpPr>
            <a:spLocks noGrp="1"/>
          </p:cNvSpPr>
          <p:nvPr>
            <p:ph sz="quarter" idx="1"/>
          </p:nvPr>
        </p:nvSpPr>
        <p:spPr>
          <a:xfrm>
            <a:off x="1428728" y="2285992"/>
            <a:ext cx="6572296" cy="500066"/>
          </a:xfrm>
          <a:prstGeom prst="roundRect">
            <a:avLst/>
          </a:prstGeom>
          <a:blipFill>
            <a:blip r:embed="rId2"/>
            <a:tile tx="0" ty="0" sx="100000" sy="100000" flip="none" algn="tl"/>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buNone/>
            </a:pPr>
            <a:r>
              <a:rPr lang="en-US" sz="8000" dirty="0">
                <a:solidFill>
                  <a:schemeClr val="tx1"/>
                </a:solidFill>
              </a:rPr>
              <a:t>Non Availability Certificate (NAC) from CPWD</a:t>
            </a:r>
          </a:p>
          <a:p>
            <a:pPr algn="ctr">
              <a:buNone/>
            </a:pPr>
            <a:r>
              <a:rPr lang="en-US" dirty="0"/>
              <a:t>	</a:t>
            </a:r>
            <a:endParaRPr lang="en-IN" dirty="0"/>
          </a:p>
        </p:txBody>
      </p:sp>
      <p:sp>
        <p:nvSpPr>
          <p:cNvPr id="6" name="Rounded Rectangle 5"/>
          <p:cNvSpPr/>
          <p:nvPr/>
        </p:nvSpPr>
        <p:spPr>
          <a:xfrm>
            <a:off x="1428728" y="1428736"/>
            <a:ext cx="6572296" cy="571504"/>
          </a:xfrm>
          <a:prstGeom prst="roundRect">
            <a:avLst/>
          </a:prstGeom>
          <a:blipFill>
            <a:blip r:embed="rId2"/>
            <a:tile tx="0" ty="0" sx="100000" sy="100000" flip="none" algn="tl"/>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Proposal for hiring of office accom</a:t>
            </a:r>
            <a:r>
              <a:rPr lang="en-US" sz="2400" dirty="0">
                <a:solidFill>
                  <a:schemeClr val="tx1"/>
                </a:solidFill>
              </a:rPr>
              <a:t>modation </a:t>
            </a:r>
            <a:r>
              <a:rPr lang="en-US" dirty="0"/>
              <a:t>	</a:t>
            </a:r>
            <a:endParaRPr lang="en-IN" dirty="0"/>
          </a:p>
        </p:txBody>
      </p:sp>
      <p:sp>
        <p:nvSpPr>
          <p:cNvPr id="7" name="Down Arrow 6"/>
          <p:cNvSpPr/>
          <p:nvPr/>
        </p:nvSpPr>
        <p:spPr>
          <a:xfrm>
            <a:off x="4429124" y="2000240"/>
            <a:ext cx="285752" cy="28575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ounded Rectangle 9"/>
          <p:cNvSpPr/>
          <p:nvPr/>
        </p:nvSpPr>
        <p:spPr>
          <a:xfrm>
            <a:off x="1428728" y="3000372"/>
            <a:ext cx="6572296" cy="500066"/>
          </a:xfrm>
          <a:prstGeom prst="roundRect">
            <a:avLst/>
          </a:prstGeom>
          <a:blipFill>
            <a:blip r:embed="rId2"/>
            <a:tile tx="0" ty="0" sx="100000" sy="100000" flip="none" algn="tl"/>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a:p>
            <a:pPr algn="ctr"/>
            <a:r>
              <a:rPr lang="en-US" sz="2000" dirty="0">
                <a:solidFill>
                  <a:schemeClr val="tx1"/>
                </a:solidFill>
              </a:rPr>
              <a:t>Tendering through CPP Portal</a:t>
            </a:r>
          </a:p>
          <a:p>
            <a:pPr algn="ctr"/>
            <a:r>
              <a:rPr lang="en-US" sz="2000" dirty="0"/>
              <a:t>	</a:t>
            </a:r>
            <a:endParaRPr lang="en-IN" sz="2000" dirty="0"/>
          </a:p>
        </p:txBody>
      </p:sp>
      <p:sp>
        <p:nvSpPr>
          <p:cNvPr id="11" name="Rounded Rectangle 10"/>
          <p:cNvSpPr/>
          <p:nvPr/>
        </p:nvSpPr>
        <p:spPr>
          <a:xfrm>
            <a:off x="1428728" y="3714752"/>
            <a:ext cx="6572296" cy="500066"/>
          </a:xfrm>
          <a:prstGeom prst="roundRect">
            <a:avLst/>
          </a:prstGeom>
          <a:blipFill>
            <a:blip r:embed="rId2"/>
            <a:tile tx="0" ty="0" sx="100000" sy="100000" flip="none" algn="tl"/>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a:p>
            <a:pPr algn="ctr"/>
            <a:r>
              <a:rPr lang="en-US" sz="2000" dirty="0">
                <a:solidFill>
                  <a:schemeClr val="tx1"/>
                </a:solidFill>
              </a:rPr>
              <a:t>Obtaining RRC from CPWD for selected premises</a:t>
            </a:r>
          </a:p>
          <a:p>
            <a:pPr algn="ctr"/>
            <a:r>
              <a:rPr lang="en-US" dirty="0"/>
              <a:t>	</a:t>
            </a:r>
            <a:endParaRPr lang="en-IN" dirty="0"/>
          </a:p>
        </p:txBody>
      </p:sp>
      <p:sp>
        <p:nvSpPr>
          <p:cNvPr id="13" name="Rounded Rectangle 12"/>
          <p:cNvSpPr/>
          <p:nvPr/>
        </p:nvSpPr>
        <p:spPr>
          <a:xfrm>
            <a:off x="1428728" y="5786454"/>
            <a:ext cx="6572296" cy="714380"/>
          </a:xfrm>
          <a:prstGeom prst="roundRect">
            <a:avLst/>
          </a:prstGeom>
          <a:blipFill>
            <a:blip r:embed="rId2"/>
            <a:tile tx="0" ty="0" sx="100000" sy="100000" flip="none" algn="tl"/>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a:p>
            <a:pPr algn="ctr"/>
            <a:r>
              <a:rPr lang="en-US" sz="2000" dirty="0">
                <a:solidFill>
                  <a:schemeClr val="tx1"/>
                </a:solidFill>
              </a:rPr>
              <a:t>Submission of the proposal by the jurisdictional Chief Commissioner to the  I&amp;W Wing of DGHRD</a:t>
            </a:r>
            <a:endParaRPr lang="en-US" sz="2400" dirty="0">
              <a:solidFill>
                <a:schemeClr val="tx1"/>
              </a:solidFill>
            </a:endParaRPr>
          </a:p>
          <a:p>
            <a:pPr algn="ctr"/>
            <a:r>
              <a:rPr lang="en-US" dirty="0"/>
              <a:t>	</a:t>
            </a:r>
            <a:endParaRPr lang="en-IN" dirty="0"/>
          </a:p>
        </p:txBody>
      </p:sp>
      <p:sp>
        <p:nvSpPr>
          <p:cNvPr id="14" name="Rounded Rectangle 13"/>
          <p:cNvSpPr/>
          <p:nvPr/>
        </p:nvSpPr>
        <p:spPr>
          <a:xfrm>
            <a:off x="1428728" y="5143512"/>
            <a:ext cx="6572296" cy="428628"/>
          </a:xfrm>
          <a:prstGeom prst="roundRect">
            <a:avLst/>
          </a:prstGeom>
          <a:blipFill>
            <a:blip r:embed="rId2"/>
            <a:tile tx="0" ty="0" sx="100000" sy="100000" flip="none" algn="tl"/>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a:p>
            <a:pPr algn="ctr"/>
            <a:r>
              <a:rPr lang="en-US" sz="2000" dirty="0">
                <a:solidFill>
                  <a:schemeClr val="tx1"/>
                </a:solidFill>
              </a:rPr>
              <a:t>Signing of DSLA as prescribed by </a:t>
            </a:r>
            <a:r>
              <a:rPr lang="en-US" sz="2000" dirty="0" err="1">
                <a:solidFill>
                  <a:schemeClr val="tx1"/>
                </a:solidFill>
              </a:rPr>
              <a:t>MoUD</a:t>
            </a:r>
            <a:endParaRPr lang="en-US" sz="2000" dirty="0">
              <a:solidFill>
                <a:schemeClr val="tx1"/>
              </a:solidFill>
            </a:endParaRPr>
          </a:p>
          <a:p>
            <a:pPr algn="ctr"/>
            <a:r>
              <a:rPr lang="en-US" dirty="0"/>
              <a:t>	</a:t>
            </a:r>
            <a:endParaRPr lang="en-IN" dirty="0"/>
          </a:p>
        </p:txBody>
      </p:sp>
      <p:sp>
        <p:nvSpPr>
          <p:cNvPr id="15" name="Rounded Rectangle 14"/>
          <p:cNvSpPr/>
          <p:nvPr/>
        </p:nvSpPr>
        <p:spPr>
          <a:xfrm>
            <a:off x="1428728" y="4429132"/>
            <a:ext cx="6572296" cy="500066"/>
          </a:xfrm>
          <a:prstGeom prst="roundRect">
            <a:avLst/>
          </a:prstGeom>
          <a:blipFill>
            <a:blip r:embed="rId2"/>
            <a:tile tx="0" ty="0" sx="100000" sy="100000" flip="none" algn="tl"/>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a:p>
            <a:pPr algn="ctr"/>
            <a:r>
              <a:rPr lang="en-US" sz="2000" dirty="0">
                <a:solidFill>
                  <a:schemeClr val="tx1"/>
                </a:solidFill>
              </a:rPr>
              <a:t>Negotiation of rent with landlord and fixation of rent</a:t>
            </a:r>
          </a:p>
          <a:p>
            <a:pPr algn="ctr"/>
            <a:r>
              <a:rPr lang="en-US" dirty="0"/>
              <a:t>	</a:t>
            </a:r>
            <a:endParaRPr lang="en-IN" dirty="0"/>
          </a:p>
        </p:txBody>
      </p:sp>
      <p:sp>
        <p:nvSpPr>
          <p:cNvPr id="16" name="Down Arrow 15"/>
          <p:cNvSpPr/>
          <p:nvPr/>
        </p:nvSpPr>
        <p:spPr>
          <a:xfrm>
            <a:off x="4429124" y="2786058"/>
            <a:ext cx="357190" cy="21431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Down Arrow 16"/>
          <p:cNvSpPr/>
          <p:nvPr/>
        </p:nvSpPr>
        <p:spPr>
          <a:xfrm>
            <a:off x="4429124" y="3500438"/>
            <a:ext cx="357190" cy="21431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Down Arrow 17"/>
          <p:cNvSpPr/>
          <p:nvPr/>
        </p:nvSpPr>
        <p:spPr>
          <a:xfrm>
            <a:off x="4429124" y="4214818"/>
            <a:ext cx="357190" cy="21431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Down Arrow 18"/>
          <p:cNvSpPr/>
          <p:nvPr/>
        </p:nvSpPr>
        <p:spPr>
          <a:xfrm>
            <a:off x="4429124" y="4929198"/>
            <a:ext cx="357190" cy="21431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Down Arrow 19"/>
          <p:cNvSpPr/>
          <p:nvPr/>
        </p:nvSpPr>
        <p:spPr>
          <a:xfrm>
            <a:off x="4429124" y="5572140"/>
            <a:ext cx="357190" cy="21431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96962"/>
          </a:xfrm>
        </p:spPr>
        <p:txBody>
          <a:bodyPr>
            <a:normAutofit fontScale="90000"/>
          </a:bodyPr>
          <a:lstStyle/>
          <a:p>
            <a:pPr algn="ctr"/>
            <a:r>
              <a:rPr lang="en-US" sz="4400" u="sng" dirty="0">
                <a:solidFill>
                  <a:schemeClr val="accent1">
                    <a:lumMod val="75000"/>
                  </a:schemeClr>
                </a:solidFill>
                <a:latin typeface="Bookman Old Style" pitchFamily="18" charset="0"/>
              </a:rPr>
              <a:t>COMPETENCY</a:t>
            </a:r>
            <a:br>
              <a:rPr lang="en-US" sz="4400" u="sng" dirty="0">
                <a:solidFill>
                  <a:schemeClr val="accent1">
                    <a:lumMod val="75000"/>
                  </a:schemeClr>
                </a:solidFill>
                <a:latin typeface="Bookman Old Style" pitchFamily="18" charset="0"/>
              </a:rPr>
            </a:br>
            <a:r>
              <a:rPr lang="en-US" sz="2400" dirty="0">
                <a:solidFill>
                  <a:schemeClr val="accent1">
                    <a:lumMod val="75000"/>
                  </a:schemeClr>
                </a:solidFill>
                <a:latin typeface="Bookman Old Style" pitchFamily="18" charset="0"/>
              </a:rPr>
              <a:t>DELEGATION OF FINANCIAL POWERS TO </a:t>
            </a:r>
            <a:r>
              <a:rPr lang="en-US" sz="2400" dirty="0" err="1">
                <a:solidFill>
                  <a:schemeClr val="accent1">
                    <a:lumMod val="75000"/>
                  </a:schemeClr>
                </a:solidFill>
                <a:latin typeface="Bookman Old Style" pitchFamily="18" charset="0"/>
              </a:rPr>
              <a:t>HoDs</a:t>
            </a:r>
            <a:endParaRPr lang="en-US" sz="2400" u="sng" dirty="0">
              <a:solidFill>
                <a:schemeClr val="accent1">
                  <a:lumMod val="75000"/>
                </a:schemeClr>
              </a:solidFill>
              <a:latin typeface="Bookman Old Style" pitchFamily="18" charset="0"/>
            </a:endParaRPr>
          </a:p>
        </p:txBody>
      </p:sp>
      <p:graphicFrame>
        <p:nvGraphicFramePr>
          <p:cNvPr id="4" name="Content Placeholder 3"/>
          <p:cNvGraphicFramePr>
            <a:graphicFrameLocks noGrp="1"/>
          </p:cNvGraphicFramePr>
          <p:nvPr>
            <p:ph sz="quarter" idx="1"/>
          </p:nvPr>
        </p:nvGraphicFramePr>
        <p:xfrm>
          <a:off x="685800" y="2057400"/>
          <a:ext cx="7758138" cy="3235008"/>
        </p:xfrm>
        <a:graphic>
          <a:graphicData uri="http://schemas.openxmlformats.org/drawingml/2006/table">
            <a:tbl>
              <a:tblPr firstRow="1" bandRow="1">
                <a:tableStyleId>{5C22544A-7EE6-4342-B048-85BDC9FD1C3A}</a:tableStyleId>
              </a:tblPr>
              <a:tblGrid>
                <a:gridCol w="3879069">
                  <a:extLst>
                    <a:ext uri="{9D8B030D-6E8A-4147-A177-3AD203B41FA5}">
                      <a16:colId xmlns="" xmlns:a16="http://schemas.microsoft.com/office/drawing/2014/main" val="20000"/>
                    </a:ext>
                  </a:extLst>
                </a:gridCol>
                <a:gridCol w="3879069">
                  <a:extLst>
                    <a:ext uri="{9D8B030D-6E8A-4147-A177-3AD203B41FA5}">
                      <a16:colId xmlns="" xmlns:a16="http://schemas.microsoft.com/office/drawing/2014/main" val="20001"/>
                    </a:ext>
                  </a:extLst>
                </a:gridCol>
              </a:tblGrid>
              <a:tr h="117984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13 Major Cities (A/A1)</a:t>
                      </a:r>
                      <a:endParaRPr lang="en-IN" sz="2400" dirty="0"/>
                    </a:p>
                    <a:p>
                      <a:endParaRPr lang="en-IN" sz="2400" dirty="0"/>
                    </a:p>
                  </a:txBody>
                  <a:tcPr/>
                </a:tc>
                <a:tc>
                  <a:txBody>
                    <a:bodyPr/>
                    <a:lstStyle/>
                    <a:p>
                      <a:r>
                        <a:rPr lang="en-US" sz="2400" dirty="0"/>
                        <a:t>Rs. 3 </a:t>
                      </a:r>
                      <a:r>
                        <a:rPr lang="en-US" sz="2400" dirty="0" err="1"/>
                        <a:t>lakh</a:t>
                      </a:r>
                      <a:r>
                        <a:rPr lang="en-US" sz="2400" dirty="0"/>
                        <a:t> per month</a:t>
                      </a:r>
                      <a:endParaRPr lang="en-IN" sz="2400" dirty="0"/>
                    </a:p>
                  </a:txBody>
                  <a:tcPr/>
                </a:tc>
                <a:extLst>
                  <a:ext uri="{0D108BD9-81ED-4DB2-BD59-A6C34878D82A}">
                    <a16:rowId xmlns="" xmlns:a16="http://schemas.microsoft.com/office/drawing/2014/main" val="10000"/>
                  </a:ext>
                </a:extLst>
              </a:tr>
              <a:tr h="683562">
                <a:tc>
                  <a:txBody>
                    <a:bodyPr/>
                    <a:lstStyle/>
                    <a:p>
                      <a:r>
                        <a:rPr lang="en-US" sz="2400" dirty="0"/>
                        <a:t>Other than A/A1 Cities</a:t>
                      </a:r>
                      <a:endParaRPr lang="en-IN" sz="2400" dirty="0"/>
                    </a:p>
                  </a:txBody>
                  <a:tcPr/>
                </a:tc>
                <a:tc>
                  <a:txBody>
                    <a:bodyPr/>
                    <a:lstStyle/>
                    <a:p>
                      <a:r>
                        <a:rPr lang="en-US" sz="2400" dirty="0"/>
                        <a:t>Rs. 1.50 </a:t>
                      </a:r>
                      <a:r>
                        <a:rPr lang="en-US" sz="2400" dirty="0" err="1"/>
                        <a:t>lakhs</a:t>
                      </a:r>
                      <a:r>
                        <a:rPr lang="en-US" sz="2400" dirty="0"/>
                        <a:t> per month</a:t>
                      </a:r>
                      <a:endParaRPr lang="en-IN" sz="2400" dirty="0"/>
                    </a:p>
                  </a:txBody>
                  <a:tcPr/>
                </a:tc>
                <a:extLst>
                  <a:ext uri="{0D108BD9-81ED-4DB2-BD59-A6C34878D82A}">
                    <a16:rowId xmlns="" xmlns:a16="http://schemas.microsoft.com/office/drawing/2014/main" val="10001"/>
                  </a:ext>
                </a:extLst>
              </a:tr>
              <a:tr h="1179846">
                <a:tc gridSpan="2">
                  <a:txBody>
                    <a:bodyPr/>
                    <a:lstStyle/>
                    <a:p>
                      <a:pPr algn="just"/>
                      <a:r>
                        <a:rPr lang="en-US" sz="2800" dirty="0">
                          <a:solidFill>
                            <a:schemeClr val="tx1"/>
                          </a:solidFill>
                        </a:rPr>
                        <a:t>Beyond</a:t>
                      </a:r>
                      <a:r>
                        <a:rPr lang="en-US" sz="2800" baseline="0" dirty="0">
                          <a:solidFill>
                            <a:schemeClr val="tx1"/>
                          </a:solidFill>
                        </a:rPr>
                        <a:t>  the  financial  powers of </a:t>
                      </a:r>
                      <a:r>
                        <a:rPr lang="en-US" sz="2800" baseline="0" dirty="0" err="1">
                          <a:solidFill>
                            <a:schemeClr val="tx1"/>
                          </a:solidFill>
                        </a:rPr>
                        <a:t>HoDs</a:t>
                      </a:r>
                      <a:r>
                        <a:rPr lang="en-US" sz="2800" baseline="0" dirty="0">
                          <a:solidFill>
                            <a:schemeClr val="tx1"/>
                          </a:solidFill>
                        </a:rPr>
                        <a:t>, the approval from the Ministry/IFU is mandatory.</a:t>
                      </a:r>
                      <a:endParaRPr lang="en-IN" sz="2800" dirty="0">
                        <a:solidFill>
                          <a:schemeClr val="tx1"/>
                        </a:solidFill>
                      </a:endParaRPr>
                    </a:p>
                  </a:txBody>
                  <a:tcPr/>
                </a:tc>
                <a:tc hMerge="1">
                  <a:txBody>
                    <a:bodyPr/>
                    <a:lstStyle/>
                    <a:p>
                      <a:endParaRPr lang="en-IN" dirty="0"/>
                    </a:p>
                  </a:txBody>
                  <a:tcPr/>
                </a:tc>
                <a:extLst>
                  <a:ext uri="{0D108BD9-81ED-4DB2-BD59-A6C34878D82A}">
                    <a16:rowId xmlns="" xmlns:a16="http://schemas.microsoft.com/office/drawing/2014/main" val="10002"/>
                  </a:ext>
                </a:extLst>
              </a:tr>
            </a:tbl>
          </a:graphicData>
        </a:graphic>
      </p:graphicFrame>
    </p:spTree>
    <p:extLst>
      <p:ext uri="{BB962C8B-B14F-4D97-AF65-F5344CB8AC3E}">
        <p14:creationId xmlns="" xmlns:p14="http://schemas.microsoft.com/office/powerpoint/2010/main" val="213217451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24648"/>
          </a:xfrm>
        </p:spPr>
        <p:txBody>
          <a:bodyPr>
            <a:normAutofit/>
          </a:bodyPr>
          <a:lstStyle/>
          <a:p>
            <a:pPr algn="ctr"/>
            <a:r>
              <a:rPr lang="en-US" b="1" dirty="0">
                <a:solidFill>
                  <a:schemeClr val="accent1">
                    <a:lumMod val="75000"/>
                  </a:schemeClr>
                </a:solidFill>
              </a:rPr>
              <a:t>A/A1 CITY</a:t>
            </a:r>
            <a:endParaRPr lang="en-IN" b="1" dirty="0">
              <a:solidFill>
                <a:schemeClr val="accent1">
                  <a:lumMod val="75000"/>
                </a:schemeClr>
              </a:solidFill>
            </a:endParaRPr>
          </a:p>
        </p:txBody>
      </p:sp>
      <p:sp>
        <p:nvSpPr>
          <p:cNvPr id="3" name="Content Placeholder 2"/>
          <p:cNvSpPr>
            <a:spLocks noGrp="1"/>
          </p:cNvSpPr>
          <p:nvPr>
            <p:ph sz="quarter" idx="1"/>
          </p:nvPr>
        </p:nvSpPr>
        <p:spPr>
          <a:xfrm>
            <a:off x="457200" y="1500174"/>
            <a:ext cx="8229600" cy="4824426"/>
          </a:xfrm>
        </p:spPr>
        <p:txBody>
          <a:bodyPr>
            <a:normAutofit fontScale="92500" lnSpcReduction="20000"/>
          </a:bodyPr>
          <a:lstStyle/>
          <a:p>
            <a:pPr algn="just"/>
            <a:r>
              <a:rPr lang="en-US" dirty="0"/>
              <a:t>Hyderabad</a:t>
            </a:r>
          </a:p>
          <a:p>
            <a:pPr algn="just"/>
            <a:r>
              <a:rPr lang="en-US" dirty="0"/>
              <a:t>Delhi</a:t>
            </a:r>
          </a:p>
          <a:p>
            <a:pPr algn="just"/>
            <a:r>
              <a:rPr lang="en-US" dirty="0" err="1"/>
              <a:t>Bengaluru</a:t>
            </a:r>
            <a:endParaRPr lang="en-US" dirty="0"/>
          </a:p>
          <a:p>
            <a:pPr algn="just"/>
            <a:r>
              <a:rPr lang="en-US" dirty="0"/>
              <a:t>Mumbai</a:t>
            </a:r>
          </a:p>
          <a:p>
            <a:pPr algn="just"/>
            <a:r>
              <a:rPr lang="en-US" dirty="0"/>
              <a:t>Chennai</a:t>
            </a:r>
          </a:p>
          <a:p>
            <a:pPr algn="just"/>
            <a:r>
              <a:rPr lang="en-US" dirty="0"/>
              <a:t>Kolkata</a:t>
            </a:r>
          </a:p>
          <a:p>
            <a:pPr algn="just"/>
            <a:r>
              <a:rPr lang="en-US" dirty="0" err="1"/>
              <a:t>Ahmedabad</a:t>
            </a:r>
            <a:endParaRPr lang="en-US" dirty="0"/>
          </a:p>
          <a:p>
            <a:pPr algn="just"/>
            <a:r>
              <a:rPr lang="en-US" dirty="0" err="1"/>
              <a:t>Surat</a:t>
            </a:r>
            <a:endParaRPr lang="en-US" dirty="0"/>
          </a:p>
          <a:p>
            <a:pPr algn="just"/>
            <a:r>
              <a:rPr lang="en-US" dirty="0"/>
              <a:t>Nagpur</a:t>
            </a:r>
          </a:p>
          <a:p>
            <a:pPr algn="just"/>
            <a:r>
              <a:rPr lang="en-US" dirty="0" err="1"/>
              <a:t>Pune</a:t>
            </a:r>
            <a:endParaRPr lang="en-US" dirty="0"/>
          </a:p>
          <a:p>
            <a:pPr algn="just"/>
            <a:r>
              <a:rPr lang="en-US" dirty="0" err="1"/>
              <a:t>Jaipur</a:t>
            </a:r>
            <a:endParaRPr lang="en-US" dirty="0"/>
          </a:p>
          <a:p>
            <a:pPr algn="just"/>
            <a:r>
              <a:rPr lang="en-US" dirty="0" err="1"/>
              <a:t>Lucknow</a:t>
            </a:r>
            <a:endParaRPr lang="en-US" dirty="0"/>
          </a:p>
          <a:p>
            <a:pPr algn="just"/>
            <a:r>
              <a:rPr lang="en-US" dirty="0"/>
              <a:t>Kanpur</a:t>
            </a:r>
            <a:endParaRPr lang="en-IN"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838200"/>
          </a:xfrm>
        </p:spPr>
        <p:txBody>
          <a:bodyPr>
            <a:noAutofit/>
          </a:bodyPr>
          <a:lstStyle/>
          <a:p>
            <a:pPr algn="ctr"/>
            <a:r>
              <a:rPr lang="en-US" sz="2400" b="1" dirty="0">
                <a:solidFill>
                  <a:schemeClr val="accent1">
                    <a:lumMod val="75000"/>
                  </a:schemeClr>
                </a:solidFill>
              </a:rPr>
              <a:t>ACQUISITION OF ACCOMODATION ON LEASE/RENTAL BASIS</a:t>
            </a:r>
          </a:p>
        </p:txBody>
      </p:sp>
      <p:sp>
        <p:nvSpPr>
          <p:cNvPr id="3" name="Content Placeholder 2"/>
          <p:cNvSpPr>
            <a:spLocks noGrp="1"/>
          </p:cNvSpPr>
          <p:nvPr>
            <p:ph sz="quarter" idx="1"/>
          </p:nvPr>
        </p:nvSpPr>
        <p:spPr>
          <a:xfrm>
            <a:off x="457200" y="1752600"/>
            <a:ext cx="8229600" cy="4876800"/>
          </a:xfrm>
        </p:spPr>
        <p:txBody>
          <a:bodyPr>
            <a:normAutofit/>
          </a:bodyPr>
          <a:lstStyle/>
          <a:p>
            <a:pPr marL="0" indent="0">
              <a:buNone/>
            </a:pPr>
            <a:r>
              <a:rPr lang="en-US" b="1" dirty="0"/>
              <a:t>CVC guidelines &amp; GFRs 2017 to be followed essentially for Tendering process</a:t>
            </a:r>
            <a:r>
              <a:rPr lang="en-US" dirty="0"/>
              <a:t>. </a:t>
            </a:r>
          </a:p>
          <a:p>
            <a:pPr marL="0" indent="0">
              <a:buNone/>
            </a:pPr>
            <a:r>
              <a:rPr lang="en-US" sz="4500" dirty="0"/>
              <a:t> </a:t>
            </a:r>
            <a:r>
              <a:rPr lang="en-US" sz="2000" b="1" dirty="0"/>
              <a:t>A).  </a:t>
            </a:r>
            <a:r>
              <a:rPr lang="en-US" sz="2000" b="1" u="sng" dirty="0"/>
              <a:t>Advertise in Print Media</a:t>
            </a:r>
          </a:p>
          <a:p>
            <a:r>
              <a:rPr lang="en-US" sz="2000" dirty="0"/>
              <a:t>Local and National Newspaper</a:t>
            </a:r>
          </a:p>
          <a:p>
            <a:r>
              <a:rPr lang="en-US" sz="2000" dirty="0"/>
              <a:t>Departmental Website </a:t>
            </a:r>
          </a:p>
          <a:p>
            <a:r>
              <a:rPr lang="en-US" sz="2000" dirty="0"/>
              <a:t>21 days’ time mandatory for Notice Inviting Tender (NIT). </a:t>
            </a:r>
          </a:p>
          <a:p>
            <a:pPr>
              <a:buNone/>
            </a:pPr>
            <a:endParaRPr lang="en-US" sz="2000" dirty="0"/>
          </a:p>
          <a:p>
            <a:pPr marL="0" indent="0">
              <a:buNone/>
            </a:pPr>
            <a:r>
              <a:rPr lang="en-US" sz="2000" b="1" dirty="0"/>
              <a:t>B).  </a:t>
            </a:r>
            <a:r>
              <a:rPr lang="en-US" sz="2000" b="1" u="sng" dirty="0"/>
              <a:t>Salient Features</a:t>
            </a:r>
          </a:p>
          <a:p>
            <a:r>
              <a:rPr lang="en-US" sz="2000" dirty="0"/>
              <a:t>Area of </a:t>
            </a:r>
            <a:r>
              <a:rPr lang="en-US" sz="2000" dirty="0" err="1"/>
              <a:t>Accomodation</a:t>
            </a:r>
            <a:r>
              <a:rPr lang="en-US" sz="2000" dirty="0"/>
              <a:t> Required </a:t>
            </a:r>
          </a:p>
          <a:p>
            <a:r>
              <a:rPr lang="en-US" sz="2000" dirty="0"/>
              <a:t>Approximate Location </a:t>
            </a:r>
          </a:p>
          <a:p>
            <a:r>
              <a:rPr lang="en-US" sz="2000" dirty="0"/>
              <a:t>Other Terms &amp; Conditions </a:t>
            </a:r>
          </a:p>
          <a:p>
            <a:pPr marL="0" indent="0">
              <a:buNone/>
            </a:pPr>
            <a:endParaRPr lang="en-US" dirty="0"/>
          </a:p>
        </p:txBody>
      </p:sp>
    </p:spTree>
    <p:extLst>
      <p:ext uri="{BB962C8B-B14F-4D97-AF65-F5344CB8AC3E}">
        <p14:creationId xmlns="" xmlns:p14="http://schemas.microsoft.com/office/powerpoint/2010/main" val="109319831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28600"/>
            <a:ext cx="7498080" cy="1143000"/>
          </a:xfrm>
        </p:spPr>
        <p:txBody>
          <a:bodyPr>
            <a:normAutofit fontScale="90000"/>
          </a:bodyPr>
          <a:lstStyle/>
          <a:p>
            <a:pPr algn="ctr"/>
            <a:r>
              <a:rPr lang="en-US" dirty="0"/>
              <a:t/>
            </a:r>
            <a:br>
              <a:rPr lang="en-US" dirty="0"/>
            </a:br>
            <a:r>
              <a:rPr lang="en-IN" sz="3600" b="1" dirty="0">
                <a:solidFill>
                  <a:schemeClr val="accent1">
                    <a:lumMod val="75000"/>
                  </a:schemeClr>
                </a:solidFill>
              </a:rPr>
              <a:t>ADVERTISEMENT AND TENDER</a:t>
            </a:r>
          </a:p>
        </p:txBody>
      </p:sp>
      <p:sp>
        <p:nvSpPr>
          <p:cNvPr id="3" name="Content Placeholder 2"/>
          <p:cNvSpPr>
            <a:spLocks noGrp="1"/>
          </p:cNvSpPr>
          <p:nvPr>
            <p:ph sz="quarter" idx="1"/>
          </p:nvPr>
        </p:nvSpPr>
        <p:spPr>
          <a:xfrm>
            <a:off x="838200" y="1752600"/>
            <a:ext cx="7498080" cy="4800600"/>
          </a:xfrm>
        </p:spPr>
        <p:txBody>
          <a:bodyPr>
            <a:normAutofit/>
          </a:bodyPr>
          <a:lstStyle/>
          <a:p>
            <a:pPr marL="0" indent="0" algn="just">
              <a:buFont typeface="Wingdings" pitchFamily="2" charset="2"/>
              <a:buChar char="§"/>
            </a:pPr>
            <a:r>
              <a:rPr lang="en-US" b="1" dirty="0"/>
              <a:t>Tender shall be invited in a two-bid system viz., Technical and Financial bids  separately on CPP Portal.</a:t>
            </a:r>
          </a:p>
          <a:p>
            <a:pPr marL="0" indent="0" algn="just">
              <a:buNone/>
            </a:pPr>
            <a:endParaRPr lang="en-US" dirty="0"/>
          </a:p>
          <a:p>
            <a:pPr marL="0" indent="0" algn="just">
              <a:buFont typeface="Wingdings" pitchFamily="2" charset="2"/>
              <a:buChar char="§"/>
            </a:pPr>
            <a:r>
              <a:rPr lang="en-US" b="1" dirty="0"/>
              <a:t>Note: No advertisement and tender is necessary in case of transactions between PSU and Govt. Buildings. Preference should be given to buildings owned by PSUs/Govt. Organizations.</a:t>
            </a:r>
          </a:p>
          <a:p>
            <a:endParaRPr lang="en-IN"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81772"/>
          </a:xfrm>
        </p:spPr>
        <p:txBody>
          <a:bodyPr>
            <a:normAutofit fontScale="90000"/>
          </a:bodyPr>
          <a:lstStyle/>
          <a:p>
            <a:pPr algn="ctr"/>
            <a:r>
              <a:rPr lang="en-US" sz="3600" b="1" dirty="0">
                <a:solidFill>
                  <a:schemeClr val="accent1">
                    <a:lumMod val="75000"/>
                  </a:schemeClr>
                </a:solidFill>
              </a:rPr>
              <a:t>RENT REASONABLE CERTIFICATE</a:t>
            </a:r>
            <a:endParaRPr lang="en-IN" sz="3600" b="1" dirty="0">
              <a:solidFill>
                <a:schemeClr val="accent1">
                  <a:lumMod val="75000"/>
                </a:schemeClr>
              </a:solidFill>
            </a:endParaRPr>
          </a:p>
        </p:txBody>
      </p:sp>
      <p:sp>
        <p:nvSpPr>
          <p:cNvPr id="3" name="Content Placeholder 2"/>
          <p:cNvSpPr>
            <a:spLocks noGrp="1"/>
          </p:cNvSpPr>
          <p:nvPr>
            <p:ph sz="quarter" idx="1"/>
          </p:nvPr>
        </p:nvSpPr>
        <p:spPr>
          <a:xfrm>
            <a:off x="457200" y="1571612"/>
            <a:ext cx="8229600" cy="4752988"/>
          </a:xfrm>
        </p:spPr>
        <p:txBody>
          <a:bodyPr>
            <a:normAutofit/>
          </a:bodyPr>
          <a:lstStyle/>
          <a:p>
            <a:r>
              <a:rPr lang="en-US" dirty="0"/>
              <a:t>Details of short listed premises sent to CPWD for obtaining RRC/FRC.</a:t>
            </a:r>
          </a:p>
          <a:p>
            <a:endParaRPr lang="en-US" dirty="0"/>
          </a:p>
          <a:p>
            <a:r>
              <a:rPr lang="en-US" dirty="0"/>
              <a:t>FRC/RRC  issued by CPWD with specified Carpet area is mandatory. </a:t>
            </a:r>
          </a:p>
          <a:p>
            <a:endParaRPr lang="en-US" dirty="0"/>
          </a:p>
          <a:p>
            <a:r>
              <a:rPr lang="en-US" dirty="0"/>
              <a:t>FRC/RRC not mandatory for PSUs or Government (Central/ State).</a:t>
            </a:r>
            <a:endParaRPr lang="en-IN"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990600"/>
            <a:ext cx="8229600" cy="4953000"/>
          </a:xfrm>
        </p:spPr>
        <p:txBody>
          <a:bodyPr>
            <a:normAutofit/>
          </a:bodyPr>
          <a:lstStyle/>
          <a:p>
            <a:pPr>
              <a:buNone/>
            </a:pPr>
            <a:r>
              <a:rPr lang="en-US" dirty="0"/>
              <a:t>  </a:t>
            </a:r>
            <a:r>
              <a:rPr lang="en-US" sz="2800" b="1" dirty="0">
                <a:solidFill>
                  <a:schemeClr val="accent1">
                    <a:lumMod val="75000"/>
                  </a:schemeClr>
                </a:solidFill>
              </a:rPr>
              <a:t>RENT NEGOTIATION WITH LANLORD &amp; FIXATION OF RENT</a:t>
            </a:r>
          </a:p>
          <a:p>
            <a:pPr marL="0" indent="0">
              <a:buNone/>
            </a:pPr>
            <a:endParaRPr lang="en-US" sz="3200" dirty="0"/>
          </a:p>
          <a:p>
            <a:pPr marL="0" indent="0">
              <a:buFont typeface="Wingdings" pitchFamily="2" charset="2"/>
              <a:buChar char="§"/>
            </a:pPr>
            <a:r>
              <a:rPr lang="en-US" dirty="0"/>
              <a:t>Minutes of the Rent Negotiation Committee to be recorded.</a:t>
            </a:r>
          </a:p>
          <a:p>
            <a:pPr marL="0" indent="0">
              <a:buFont typeface="Wingdings" pitchFamily="2" charset="2"/>
              <a:buChar char="§"/>
            </a:pPr>
            <a:endParaRPr lang="en-US" dirty="0"/>
          </a:p>
          <a:p>
            <a:pPr marL="0" indent="0">
              <a:buFont typeface="Wingdings" pitchFamily="2" charset="2"/>
              <a:buChar char="§"/>
            </a:pPr>
            <a:r>
              <a:rPr lang="en-US" dirty="0"/>
              <a:t>Rent Negotiation Committee to negotiate the rent, if possible below the range of rent given in the RRC. </a:t>
            </a:r>
          </a:p>
          <a:p>
            <a:pPr marL="0" indent="0">
              <a:buFont typeface="Wingdings" pitchFamily="2" charset="2"/>
              <a:buChar char="§"/>
            </a:pPr>
            <a:endParaRPr lang="en-US" dirty="0"/>
          </a:p>
          <a:p>
            <a:pPr marL="0" indent="0">
              <a:buFont typeface="Wingdings" pitchFamily="2" charset="2"/>
              <a:buChar char="§"/>
            </a:pPr>
            <a:r>
              <a:rPr lang="en-US" dirty="0"/>
              <a:t> Rent escalation not more than 8% P.A. in SLA.</a:t>
            </a:r>
          </a:p>
          <a:p>
            <a:pPr marL="0" indent="0">
              <a:buNone/>
            </a:pPr>
            <a:endParaRPr lang="en-US" dirty="0"/>
          </a:p>
        </p:txBody>
      </p:sp>
    </p:spTree>
    <p:extLst>
      <p:ext uri="{BB962C8B-B14F-4D97-AF65-F5344CB8AC3E}">
        <p14:creationId xmlns="" xmlns:p14="http://schemas.microsoft.com/office/powerpoint/2010/main" val="243833289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229600" cy="533400"/>
          </a:xfrm>
        </p:spPr>
        <p:txBody>
          <a:bodyPr>
            <a:normAutofit fontScale="90000"/>
          </a:bodyPr>
          <a:lstStyle/>
          <a:p>
            <a:r>
              <a:rPr lang="en-US" sz="3600" dirty="0"/>
              <a:t> </a:t>
            </a:r>
            <a:br>
              <a:rPr lang="en-US" sz="3600" dirty="0"/>
            </a:br>
            <a:r>
              <a:rPr lang="en-US" sz="3600" dirty="0"/>
              <a:t/>
            </a:r>
            <a:br>
              <a:rPr lang="en-US" sz="3600" dirty="0"/>
            </a:br>
            <a:r>
              <a:rPr lang="en-US" sz="3600" dirty="0"/>
              <a:t> </a:t>
            </a:r>
            <a:r>
              <a:rPr lang="en-US" sz="3600" b="1" dirty="0">
                <a:solidFill>
                  <a:schemeClr val="accent1">
                    <a:lumMod val="75000"/>
                  </a:schemeClr>
                </a:solidFill>
              </a:rPr>
              <a:t>STANDARD LEASE AGREEMENT</a:t>
            </a:r>
            <a:endParaRPr lang="en-IN" sz="3600" b="1" dirty="0">
              <a:solidFill>
                <a:schemeClr val="accent1">
                  <a:lumMod val="75000"/>
                </a:schemeClr>
              </a:solidFill>
            </a:endParaRPr>
          </a:p>
        </p:txBody>
      </p:sp>
      <p:sp>
        <p:nvSpPr>
          <p:cNvPr id="3" name="Content Placeholder 2"/>
          <p:cNvSpPr>
            <a:spLocks noGrp="1"/>
          </p:cNvSpPr>
          <p:nvPr>
            <p:ph sz="quarter" idx="1"/>
          </p:nvPr>
        </p:nvSpPr>
        <p:spPr/>
        <p:txBody>
          <a:bodyPr>
            <a:normAutofit/>
          </a:bodyPr>
          <a:lstStyle/>
          <a:p>
            <a:pPr algn="just"/>
            <a:r>
              <a:rPr lang="en-US" dirty="0"/>
              <a:t>SLA should be in </a:t>
            </a:r>
            <a:r>
              <a:rPr lang="en-US" dirty="0" err="1"/>
              <a:t>MoUD</a:t>
            </a:r>
            <a:r>
              <a:rPr lang="en-US" dirty="0"/>
              <a:t> prescribed  format.</a:t>
            </a:r>
          </a:p>
          <a:p>
            <a:pPr marL="0" indent="0" algn="just">
              <a:buNone/>
            </a:pPr>
            <a:endParaRPr lang="en-US" dirty="0"/>
          </a:p>
          <a:p>
            <a:pPr algn="just"/>
            <a:r>
              <a:rPr lang="en-US" dirty="0"/>
              <a:t>Duly filled and signed by both the parties for at least period of three years mandatorily.</a:t>
            </a:r>
          </a:p>
          <a:p>
            <a:pPr marL="0" indent="0" algn="just">
              <a:buNone/>
            </a:pPr>
            <a:endParaRPr lang="en-US" dirty="0"/>
          </a:p>
          <a:p>
            <a:pPr algn="just"/>
            <a:r>
              <a:rPr lang="en-US" dirty="0"/>
              <a:t>All taxes/levies e.g., Municipal Tax, GST, </a:t>
            </a:r>
            <a:r>
              <a:rPr lang="en-US" dirty="0" err="1"/>
              <a:t>Cess</a:t>
            </a:r>
            <a:r>
              <a:rPr lang="en-US" dirty="0"/>
              <a:t>, Education </a:t>
            </a:r>
            <a:r>
              <a:rPr lang="en-US" dirty="0" err="1"/>
              <a:t>Cess</a:t>
            </a:r>
            <a:r>
              <a:rPr lang="en-US" dirty="0"/>
              <a:t> or any other statutory Govt. Levies, as applicable may specifically be factored into the terms of the lease agreement.</a:t>
            </a:r>
          </a:p>
          <a:p>
            <a:pPr algn="just"/>
            <a:endParaRPr lang="en-IN"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1447800"/>
          </a:xfrm>
        </p:spPr>
        <p:txBody>
          <a:bodyPr>
            <a:normAutofit/>
          </a:bodyPr>
          <a:lstStyle/>
          <a:p>
            <a:r>
              <a:rPr lang="en-US" sz="3600" b="1" dirty="0"/>
              <a:t> </a:t>
            </a:r>
            <a:r>
              <a:rPr lang="en-US" sz="2700" b="1" dirty="0">
                <a:solidFill>
                  <a:schemeClr val="accent1">
                    <a:lumMod val="75000"/>
                  </a:schemeClr>
                </a:solidFill>
              </a:rPr>
              <a:t>APPROVAL OF MINISTRY/IFU REQUIRED FOR HIRING OF OFFICE PREMISES </a:t>
            </a:r>
            <a:endParaRPr lang="en-IN" sz="2700" dirty="0">
              <a:solidFill>
                <a:schemeClr val="accent1">
                  <a:lumMod val="75000"/>
                </a:schemeClr>
              </a:solidFill>
            </a:endParaRPr>
          </a:p>
        </p:txBody>
      </p:sp>
      <p:sp>
        <p:nvSpPr>
          <p:cNvPr id="3" name="Content Placeholder 2"/>
          <p:cNvSpPr>
            <a:spLocks noGrp="1"/>
          </p:cNvSpPr>
          <p:nvPr>
            <p:ph sz="quarter" idx="1"/>
          </p:nvPr>
        </p:nvSpPr>
        <p:spPr>
          <a:xfrm>
            <a:off x="914400" y="1676400"/>
            <a:ext cx="7498080" cy="4800600"/>
          </a:xfrm>
        </p:spPr>
        <p:txBody>
          <a:bodyPr/>
          <a:lstStyle/>
          <a:p>
            <a:pPr algn="just"/>
            <a:r>
              <a:rPr lang="en-US" dirty="0"/>
              <a:t>Proposal beyond the power of </a:t>
            </a:r>
            <a:r>
              <a:rPr lang="en-US" dirty="0" err="1"/>
              <a:t>HoD</a:t>
            </a:r>
            <a:r>
              <a:rPr lang="en-US" dirty="0"/>
              <a:t> requires approval of Min./IFU and is sent to DGHRD with check-list &amp; documents prescribed in the “Infrastructure Manual”.</a:t>
            </a:r>
          </a:p>
          <a:p>
            <a:pPr algn="just"/>
            <a:endParaRPr lang="en-US" dirty="0"/>
          </a:p>
          <a:p>
            <a:pPr algn="just"/>
            <a:r>
              <a:rPr lang="en-US" dirty="0"/>
              <a:t>Budget provision to be ensured in the FY by EMC, DGHRD.</a:t>
            </a:r>
          </a:p>
          <a:p>
            <a:pPr algn="just"/>
            <a:endParaRPr lang="en-US" dirty="0"/>
          </a:p>
          <a:p>
            <a:pPr algn="just"/>
            <a:endParaRPr lang="en-IN"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8229600" cy="928694"/>
          </a:xfrm>
        </p:spPr>
        <p:txBody>
          <a:bodyPr>
            <a:noAutofit/>
          </a:bodyPr>
          <a:lstStyle/>
          <a:p>
            <a:pPr algn="ctr"/>
            <a:r>
              <a:rPr lang="en-US" sz="3200" b="1" dirty="0">
                <a:solidFill>
                  <a:schemeClr val="accent1">
                    <a:lumMod val="75000"/>
                  </a:schemeClr>
                </a:solidFill>
              </a:rPr>
              <a:t>e-Procurement  through CPP Portal</a:t>
            </a:r>
            <a:endParaRPr lang="en-IN" sz="3200" b="1" dirty="0">
              <a:solidFill>
                <a:schemeClr val="accent1">
                  <a:lumMod val="75000"/>
                </a:schemeClr>
              </a:solidFill>
            </a:endParaRPr>
          </a:p>
        </p:txBody>
      </p:sp>
      <p:sp>
        <p:nvSpPr>
          <p:cNvPr id="3" name="Content Placeholder 2"/>
          <p:cNvSpPr>
            <a:spLocks noGrp="1"/>
          </p:cNvSpPr>
          <p:nvPr>
            <p:ph sz="quarter" idx="1"/>
          </p:nvPr>
        </p:nvSpPr>
        <p:spPr/>
        <p:txBody>
          <a:bodyPr>
            <a:normAutofit/>
          </a:bodyPr>
          <a:lstStyle/>
          <a:p>
            <a:pPr lvl="0" algn="just" eaLnBrk="0" fontAlgn="base" hangingPunct="0"/>
            <a:r>
              <a:rPr lang="en-US" dirty="0"/>
              <a:t>Rule 159 of GFR- “Mandatory for all Ministries/ departments of the Central Government, their attached and subordinate offices and Autonomous/ Statutory bodies to publish their tender enquiries, corrigenda thereon and details of bid awards on the </a:t>
            </a:r>
            <a:r>
              <a:rPr lang="en-US" b="1" dirty="0">
                <a:solidFill>
                  <a:schemeClr val="accent1">
                    <a:lumMod val="75000"/>
                  </a:schemeClr>
                </a:solidFill>
              </a:rPr>
              <a:t>Central Public Procurement Portal (CPPP).”</a:t>
            </a:r>
            <a:endParaRPr lang="en-IN" b="1" dirty="0">
              <a:solidFill>
                <a:schemeClr val="accent1">
                  <a:lumMod val="75000"/>
                </a:schemeClr>
              </a:solidFill>
            </a:endParaRPr>
          </a:p>
          <a:p>
            <a:pPr algn="just" eaLnBrk="0" fontAlgn="base" hangingPunct="0"/>
            <a:r>
              <a:rPr lang="en-US" dirty="0"/>
              <a:t>Rule 160 of GFR – “mandatory for Ministries/ Departments to receive all bids through e-procurement portals in respect of all procurements."</a:t>
            </a:r>
            <a:endParaRPr lang="en-IN" dirty="0"/>
          </a:p>
          <a:p>
            <a:endParaRPr lang="en-IN"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010400"/>
          </a:xfrm>
        </p:spPr>
        <p:txBody>
          <a:bodyPr>
            <a:noAutofit/>
          </a:bodyPr>
          <a:lstStyle/>
          <a:p>
            <a:pPr algn="ctr"/>
            <a:r>
              <a:rPr lang="en-US" sz="3200" b="1" dirty="0">
                <a:solidFill>
                  <a:schemeClr val="accent1">
                    <a:lumMod val="75000"/>
                  </a:schemeClr>
                </a:solidFill>
              </a:rPr>
              <a:t>SHORTCOMINGS OBSERVED IN HIRING PROPOSAL</a:t>
            </a:r>
            <a:endParaRPr lang="en-IN" sz="3200" b="1" dirty="0">
              <a:solidFill>
                <a:schemeClr val="accent1">
                  <a:lumMod val="75000"/>
                </a:schemeClr>
              </a:solidFill>
            </a:endParaRPr>
          </a:p>
        </p:txBody>
      </p:sp>
      <p:sp>
        <p:nvSpPr>
          <p:cNvPr id="3" name="Content Placeholder 2"/>
          <p:cNvSpPr>
            <a:spLocks noGrp="1"/>
          </p:cNvSpPr>
          <p:nvPr>
            <p:ph sz="quarter" idx="1"/>
          </p:nvPr>
        </p:nvSpPr>
        <p:spPr>
          <a:xfrm>
            <a:off x="457200" y="1785926"/>
            <a:ext cx="8229600" cy="4538674"/>
          </a:xfrm>
        </p:spPr>
        <p:txBody>
          <a:bodyPr>
            <a:normAutofit/>
          </a:bodyPr>
          <a:lstStyle/>
          <a:p>
            <a:pPr algn="just"/>
            <a:r>
              <a:rPr lang="en-US" b="1" dirty="0"/>
              <a:t>Check-list</a:t>
            </a:r>
            <a:r>
              <a:rPr lang="en-US" dirty="0"/>
              <a:t>: The prescribed check-list is often not submitted or submitted containing inadequate  information.</a:t>
            </a:r>
          </a:p>
          <a:p>
            <a:pPr algn="just"/>
            <a:r>
              <a:rPr lang="en-US" b="1" dirty="0"/>
              <a:t>Space calculation</a:t>
            </a:r>
            <a:r>
              <a:rPr lang="en-US" dirty="0"/>
              <a:t>: Space requirement is not calculated as per the prescribed norms. Worksheet showing actual space entitlement as per  norms issued by MOUD for hiring should be annexed.  </a:t>
            </a:r>
          </a:p>
          <a:p>
            <a:pPr algn="just"/>
            <a:r>
              <a:rPr lang="en-US" b="1" dirty="0"/>
              <a:t>SLA</a:t>
            </a:r>
            <a:r>
              <a:rPr lang="en-US" dirty="0"/>
              <a:t>: SLA in prescribed by MOUD is not often enclosed. SLA is not signed by tenant and owner.  </a:t>
            </a:r>
          </a:p>
          <a:p>
            <a:pPr algn="just"/>
            <a:r>
              <a:rPr lang="en-US" b="1" dirty="0"/>
              <a:t>RRC:   </a:t>
            </a:r>
            <a:r>
              <a:rPr lang="en-US" dirty="0"/>
              <a:t>Issued by CPWD not for relevant period. </a:t>
            </a:r>
            <a:endParaRPr lang="en-IN"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467600" cy="1143000"/>
          </a:xfrm>
        </p:spPr>
        <p:txBody>
          <a:bodyPr>
            <a:noAutofit/>
          </a:bodyPr>
          <a:lstStyle/>
          <a:p>
            <a:pPr algn="ctr"/>
            <a:r>
              <a:rPr lang="en-US" sz="2800" b="1" dirty="0">
                <a:solidFill>
                  <a:schemeClr val="accent1">
                    <a:lumMod val="75000"/>
                  </a:schemeClr>
                </a:solidFill>
              </a:rPr>
              <a:t>HIRING PROPOSAL RECEIVED AND SANCTIONED DULY FINANCIAL YEAR 2020-21</a:t>
            </a:r>
            <a:endParaRPr lang="en-IN" sz="2800" b="1" dirty="0">
              <a:solidFill>
                <a:schemeClr val="accent1">
                  <a:lumMod val="75000"/>
                </a:schemeClr>
              </a:solidFill>
            </a:endParaRPr>
          </a:p>
        </p:txBody>
      </p:sp>
      <p:graphicFrame>
        <p:nvGraphicFramePr>
          <p:cNvPr id="4" name="Content Placeholder 3"/>
          <p:cNvGraphicFramePr>
            <a:graphicFrameLocks noGrp="1"/>
          </p:cNvGraphicFramePr>
          <p:nvPr>
            <p:ph sz="quarter" idx="1"/>
          </p:nvPr>
        </p:nvGraphicFramePr>
        <p:xfrm>
          <a:off x="457200" y="1935162"/>
          <a:ext cx="8043890" cy="3955353"/>
        </p:xfrm>
        <a:graphic>
          <a:graphicData uri="http://schemas.openxmlformats.org/drawingml/2006/table">
            <a:tbl>
              <a:tblPr firstRow="1" bandRow="1">
                <a:tableStyleId>{5C22544A-7EE6-4342-B048-85BDC9FD1C3A}</a:tableStyleId>
              </a:tblPr>
              <a:tblGrid>
                <a:gridCol w="805590">
                  <a:extLst>
                    <a:ext uri="{9D8B030D-6E8A-4147-A177-3AD203B41FA5}">
                      <a16:colId xmlns="" xmlns:a16="http://schemas.microsoft.com/office/drawing/2014/main" val="20000"/>
                    </a:ext>
                  </a:extLst>
                </a:gridCol>
                <a:gridCol w="3576774">
                  <a:extLst>
                    <a:ext uri="{9D8B030D-6E8A-4147-A177-3AD203B41FA5}">
                      <a16:colId xmlns="" xmlns:a16="http://schemas.microsoft.com/office/drawing/2014/main" val="20001"/>
                    </a:ext>
                  </a:extLst>
                </a:gridCol>
                <a:gridCol w="1830763">
                  <a:extLst>
                    <a:ext uri="{9D8B030D-6E8A-4147-A177-3AD203B41FA5}">
                      <a16:colId xmlns="" xmlns:a16="http://schemas.microsoft.com/office/drawing/2014/main" val="20002"/>
                    </a:ext>
                  </a:extLst>
                </a:gridCol>
                <a:gridCol w="1830763">
                  <a:extLst>
                    <a:ext uri="{9D8B030D-6E8A-4147-A177-3AD203B41FA5}">
                      <a16:colId xmlns="" xmlns:a16="http://schemas.microsoft.com/office/drawing/2014/main" val="20003"/>
                    </a:ext>
                  </a:extLst>
                </a:gridCol>
              </a:tblGrid>
              <a:tr h="525541">
                <a:tc>
                  <a:txBody>
                    <a:bodyPr/>
                    <a:lstStyle/>
                    <a:p>
                      <a:pPr algn="ctr"/>
                      <a:r>
                        <a:rPr lang="en-US" sz="2000" dirty="0" err="1">
                          <a:latin typeface="Bookman Old Style" pitchFamily="18" charset="0"/>
                        </a:rPr>
                        <a:t>S.No</a:t>
                      </a:r>
                      <a:r>
                        <a:rPr lang="en-US" sz="2000" dirty="0">
                          <a:latin typeface="Bookman Old Style" pitchFamily="18" charset="0"/>
                        </a:rPr>
                        <a:t>.</a:t>
                      </a:r>
                      <a:endParaRPr lang="en-IN" sz="2000" dirty="0">
                        <a:latin typeface="Bookman Old Style" pitchFamily="18" charset="0"/>
                      </a:endParaRPr>
                    </a:p>
                  </a:txBody>
                  <a:tcPr/>
                </a:tc>
                <a:tc>
                  <a:txBody>
                    <a:bodyPr/>
                    <a:lstStyle/>
                    <a:p>
                      <a:pPr algn="ctr">
                        <a:lnSpc>
                          <a:spcPct val="115000"/>
                        </a:lnSpc>
                        <a:spcAft>
                          <a:spcPts val="0"/>
                        </a:spcAft>
                      </a:pPr>
                      <a:r>
                        <a:rPr lang="en-US" sz="2000" b="1" dirty="0">
                          <a:latin typeface="Bookman Old Style" pitchFamily="18" charset="0"/>
                          <a:ea typeface="Calibri"/>
                          <a:cs typeface="Times New Roman"/>
                        </a:rPr>
                        <a:t>Details of work done</a:t>
                      </a:r>
                      <a:endParaRPr lang="en-IN" sz="1800" dirty="0">
                        <a:latin typeface="Bookman Old Style" pitchFamily="18" charset="0"/>
                        <a:ea typeface="Calibri"/>
                        <a:cs typeface="Mangal"/>
                      </a:endParaRPr>
                    </a:p>
                  </a:txBody>
                  <a:tcPr marL="68580" marR="68580" marT="0" marB="0"/>
                </a:tc>
                <a:tc>
                  <a:txBody>
                    <a:bodyPr/>
                    <a:lstStyle/>
                    <a:p>
                      <a:pPr algn="ctr">
                        <a:lnSpc>
                          <a:spcPct val="115000"/>
                        </a:lnSpc>
                        <a:spcAft>
                          <a:spcPts val="0"/>
                        </a:spcAft>
                      </a:pPr>
                      <a:r>
                        <a:rPr lang="en-US" sz="2000" b="1" dirty="0">
                          <a:latin typeface="Bookman Old Style" pitchFamily="18" charset="0"/>
                          <a:ea typeface="Calibri"/>
                          <a:cs typeface="Times New Roman"/>
                        </a:rPr>
                        <a:t>No. of cases</a:t>
                      </a:r>
                      <a:endParaRPr lang="en-IN" sz="1800" dirty="0">
                        <a:latin typeface="Bookman Old Style" pitchFamily="18" charset="0"/>
                        <a:ea typeface="Calibri"/>
                        <a:cs typeface="Mangal"/>
                      </a:endParaRPr>
                    </a:p>
                  </a:txBody>
                  <a:tcPr marL="68580" marR="68580" marT="0" marB="0"/>
                </a:tc>
                <a:tc>
                  <a:txBody>
                    <a:bodyPr/>
                    <a:lstStyle/>
                    <a:p>
                      <a:pPr algn="ctr">
                        <a:lnSpc>
                          <a:spcPct val="115000"/>
                        </a:lnSpc>
                        <a:spcAft>
                          <a:spcPts val="0"/>
                        </a:spcAft>
                      </a:pPr>
                      <a:r>
                        <a:rPr lang="en-IN" sz="1800" dirty="0">
                          <a:latin typeface="Bookman Old Style" pitchFamily="18" charset="0"/>
                          <a:ea typeface="Calibri"/>
                          <a:cs typeface="Mangal"/>
                        </a:rPr>
                        <a:t>Amount involved</a:t>
                      </a:r>
                    </a:p>
                  </a:txBody>
                  <a:tcPr marL="68580" marR="68580" marT="0" marB="0"/>
                </a:tc>
                <a:extLst>
                  <a:ext uri="{0D108BD9-81ED-4DB2-BD59-A6C34878D82A}">
                    <a16:rowId xmlns="" xmlns:a16="http://schemas.microsoft.com/office/drawing/2014/main" val="10000"/>
                  </a:ext>
                </a:extLst>
              </a:tr>
              <a:tr h="1859607">
                <a:tc>
                  <a:txBody>
                    <a:bodyPr/>
                    <a:lstStyle/>
                    <a:p>
                      <a:pPr algn="ctr">
                        <a:lnSpc>
                          <a:spcPct val="115000"/>
                        </a:lnSpc>
                        <a:spcAft>
                          <a:spcPts val="0"/>
                        </a:spcAft>
                      </a:pPr>
                      <a:r>
                        <a:rPr lang="en-US" sz="2000" dirty="0">
                          <a:latin typeface="Bookman Old Style" pitchFamily="18" charset="0"/>
                          <a:ea typeface="Calibri"/>
                          <a:cs typeface="Times New Roman"/>
                        </a:rPr>
                        <a:t>1</a:t>
                      </a:r>
                      <a:endParaRPr lang="en-IN" sz="1800" dirty="0">
                        <a:latin typeface="Bookman Old Style" pitchFamily="18" charset="0"/>
                        <a:ea typeface="Calibri"/>
                        <a:cs typeface="Mangal"/>
                      </a:endParaRPr>
                    </a:p>
                  </a:txBody>
                  <a:tcPr marL="68580" marR="68580" marT="0" marB="0"/>
                </a:tc>
                <a:tc>
                  <a:txBody>
                    <a:bodyPr/>
                    <a:lstStyle/>
                    <a:p>
                      <a:pPr algn="ctr">
                        <a:lnSpc>
                          <a:spcPct val="115000"/>
                        </a:lnSpc>
                        <a:spcAft>
                          <a:spcPts val="0"/>
                        </a:spcAft>
                      </a:pPr>
                      <a:r>
                        <a:rPr lang="en-US" sz="2000" dirty="0">
                          <a:latin typeface="Bookman Old Style" pitchFamily="18" charset="0"/>
                          <a:ea typeface="Calibri"/>
                          <a:cs typeface="Times New Roman"/>
                        </a:rPr>
                        <a:t>Hiring proposals of fresh /revision of rent processed and sent to Ministry for seeking a/a &amp; e/s</a:t>
                      </a:r>
                      <a:endParaRPr lang="en-IN" sz="1800" dirty="0">
                        <a:latin typeface="Bookman Old Style" pitchFamily="18" charset="0"/>
                        <a:ea typeface="Calibri"/>
                        <a:cs typeface="Mangal"/>
                      </a:endParaRPr>
                    </a:p>
                  </a:txBody>
                  <a:tcPr marL="68580" marR="68580" marT="0" marB="0"/>
                </a:tc>
                <a:tc>
                  <a:txBody>
                    <a:bodyPr/>
                    <a:lstStyle/>
                    <a:p>
                      <a:pPr algn="ctr">
                        <a:lnSpc>
                          <a:spcPct val="115000"/>
                        </a:lnSpc>
                        <a:spcAft>
                          <a:spcPts val="0"/>
                        </a:spcAft>
                      </a:pPr>
                      <a:r>
                        <a:rPr lang="en-US" sz="2000" dirty="0">
                          <a:latin typeface="Bookman Old Style" pitchFamily="18" charset="0"/>
                          <a:ea typeface="Calibri"/>
                          <a:cs typeface="Times New Roman"/>
                        </a:rPr>
                        <a:t>53 </a:t>
                      </a:r>
                      <a:endParaRPr lang="en-IN" sz="1800" dirty="0">
                        <a:latin typeface="Bookman Old Style" pitchFamily="18" charset="0"/>
                        <a:ea typeface="Calibri"/>
                        <a:cs typeface="Mangal"/>
                      </a:endParaRPr>
                    </a:p>
                  </a:txBody>
                  <a:tcPr marL="68580" marR="68580" marT="0" marB="0"/>
                </a:tc>
                <a:tc>
                  <a:txBody>
                    <a:bodyPr/>
                    <a:lstStyle/>
                    <a:p>
                      <a:pPr algn="ctr">
                        <a:lnSpc>
                          <a:spcPct val="115000"/>
                        </a:lnSpc>
                        <a:spcAft>
                          <a:spcPts val="0"/>
                        </a:spcAft>
                      </a:pPr>
                      <a:r>
                        <a:rPr lang="en-IN" sz="1800" dirty="0">
                          <a:latin typeface="Bookman Old Style" pitchFamily="18" charset="0"/>
                          <a:ea typeface="Calibri"/>
                          <a:cs typeface="Mangal"/>
                        </a:rPr>
                        <a:t>Rs. 108.25 Cr.</a:t>
                      </a:r>
                    </a:p>
                  </a:txBody>
                  <a:tcPr marL="68580" marR="68580" marT="0" marB="0"/>
                </a:tc>
                <a:extLst>
                  <a:ext uri="{0D108BD9-81ED-4DB2-BD59-A6C34878D82A}">
                    <a16:rowId xmlns="" xmlns:a16="http://schemas.microsoft.com/office/drawing/2014/main" val="10001"/>
                  </a:ext>
                </a:extLst>
              </a:tr>
              <a:tr h="1394706">
                <a:tc>
                  <a:txBody>
                    <a:bodyPr/>
                    <a:lstStyle/>
                    <a:p>
                      <a:pPr algn="ctr">
                        <a:lnSpc>
                          <a:spcPct val="115000"/>
                        </a:lnSpc>
                        <a:spcAft>
                          <a:spcPts val="0"/>
                        </a:spcAft>
                      </a:pPr>
                      <a:r>
                        <a:rPr lang="en-US" sz="2000">
                          <a:latin typeface="Bookman Old Style" pitchFamily="18" charset="0"/>
                          <a:ea typeface="Calibri"/>
                          <a:cs typeface="Times New Roman"/>
                        </a:rPr>
                        <a:t>2</a:t>
                      </a:r>
                      <a:endParaRPr lang="en-IN" sz="1800">
                        <a:latin typeface="Bookman Old Style" pitchFamily="18" charset="0"/>
                        <a:ea typeface="Calibri"/>
                        <a:cs typeface="Mangal"/>
                      </a:endParaRPr>
                    </a:p>
                  </a:txBody>
                  <a:tcPr marL="68580" marR="68580" marT="0" marB="0"/>
                </a:tc>
                <a:tc>
                  <a:txBody>
                    <a:bodyPr/>
                    <a:lstStyle/>
                    <a:p>
                      <a:pPr algn="ctr">
                        <a:lnSpc>
                          <a:spcPct val="115000"/>
                        </a:lnSpc>
                        <a:spcAft>
                          <a:spcPts val="0"/>
                        </a:spcAft>
                      </a:pPr>
                      <a:r>
                        <a:rPr lang="en-US" sz="2000" dirty="0">
                          <a:latin typeface="Bookman Old Style" pitchFamily="18" charset="0"/>
                          <a:ea typeface="Calibri"/>
                          <a:cs typeface="Times New Roman"/>
                        </a:rPr>
                        <a:t>Out of 53 proposals number  of  proposals sanctioned by the Ministry</a:t>
                      </a:r>
                      <a:endParaRPr lang="en-IN" sz="1800" dirty="0">
                        <a:latin typeface="Bookman Old Style" pitchFamily="18" charset="0"/>
                        <a:ea typeface="Calibri"/>
                        <a:cs typeface="Mangal"/>
                      </a:endParaRPr>
                    </a:p>
                  </a:txBody>
                  <a:tcPr marL="68580" marR="68580" marT="0" marB="0"/>
                </a:tc>
                <a:tc>
                  <a:txBody>
                    <a:bodyPr/>
                    <a:lstStyle/>
                    <a:p>
                      <a:pPr algn="ctr">
                        <a:lnSpc>
                          <a:spcPct val="115000"/>
                        </a:lnSpc>
                        <a:spcAft>
                          <a:spcPts val="0"/>
                        </a:spcAft>
                      </a:pPr>
                      <a:r>
                        <a:rPr lang="en-US" sz="2000" dirty="0">
                          <a:latin typeface="Bookman Old Style" pitchFamily="18" charset="0"/>
                          <a:ea typeface="Calibri"/>
                          <a:cs typeface="Times New Roman"/>
                        </a:rPr>
                        <a:t>23</a:t>
                      </a:r>
                      <a:endParaRPr lang="en-IN" sz="1800" dirty="0">
                        <a:latin typeface="Bookman Old Style" pitchFamily="18" charset="0"/>
                        <a:ea typeface="Calibri"/>
                        <a:cs typeface="Mangal"/>
                      </a:endParaRPr>
                    </a:p>
                  </a:txBody>
                  <a:tcPr marL="68580" marR="68580" marT="0" marB="0"/>
                </a:tc>
                <a:tc>
                  <a:txBody>
                    <a:bodyPr/>
                    <a:lstStyle/>
                    <a:p>
                      <a:pPr algn="ctr">
                        <a:lnSpc>
                          <a:spcPct val="115000"/>
                        </a:lnSpc>
                        <a:spcAft>
                          <a:spcPts val="0"/>
                        </a:spcAft>
                      </a:pPr>
                      <a:r>
                        <a:rPr lang="en-IN" sz="1800" dirty="0">
                          <a:latin typeface="Bookman Old Style" pitchFamily="18" charset="0"/>
                          <a:ea typeface="Calibri"/>
                          <a:cs typeface="Mangal"/>
                        </a:rPr>
                        <a:t>Rs. 50.30 Cr.</a:t>
                      </a:r>
                    </a:p>
                  </a:txBody>
                  <a:tcPr marL="68580" marR="68580" marT="0" marB="0"/>
                </a:tc>
                <a:extLst>
                  <a:ext uri="{0D108BD9-81ED-4DB2-BD59-A6C34878D82A}">
                    <a16:rowId xmlns="" xmlns:a16="http://schemas.microsoft.com/office/drawing/2014/main" val="10002"/>
                  </a:ext>
                </a:extLst>
              </a:tr>
            </a:tbl>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467600" cy="1143000"/>
          </a:xfrm>
        </p:spPr>
        <p:txBody>
          <a:bodyPr>
            <a:noAutofit/>
          </a:bodyPr>
          <a:lstStyle/>
          <a:p>
            <a:pPr algn="ctr"/>
            <a:r>
              <a:rPr lang="en-US" sz="2800" b="1" dirty="0">
                <a:solidFill>
                  <a:schemeClr val="accent1">
                    <a:lumMod val="75000"/>
                  </a:schemeClr>
                </a:solidFill>
              </a:rPr>
              <a:t>HIRING PROPOSAL RECEIVED AND SANCTIONED DULY FINANCIAL YEAR 2021-22 (till date)</a:t>
            </a:r>
            <a:endParaRPr lang="en-IN" sz="2800" b="1" dirty="0">
              <a:solidFill>
                <a:schemeClr val="accent1">
                  <a:lumMod val="75000"/>
                </a:schemeClr>
              </a:solidFill>
            </a:endParaRPr>
          </a:p>
        </p:txBody>
      </p:sp>
      <p:graphicFrame>
        <p:nvGraphicFramePr>
          <p:cNvPr id="4" name="Content Placeholder 3"/>
          <p:cNvGraphicFramePr>
            <a:graphicFrameLocks noGrp="1"/>
          </p:cNvGraphicFramePr>
          <p:nvPr>
            <p:ph sz="quarter" idx="1"/>
          </p:nvPr>
        </p:nvGraphicFramePr>
        <p:xfrm>
          <a:off x="457200" y="1935162"/>
          <a:ext cx="8043890" cy="3955353"/>
        </p:xfrm>
        <a:graphic>
          <a:graphicData uri="http://schemas.openxmlformats.org/drawingml/2006/table">
            <a:tbl>
              <a:tblPr firstRow="1" bandRow="1">
                <a:tableStyleId>{5C22544A-7EE6-4342-B048-85BDC9FD1C3A}</a:tableStyleId>
              </a:tblPr>
              <a:tblGrid>
                <a:gridCol w="805590">
                  <a:extLst>
                    <a:ext uri="{9D8B030D-6E8A-4147-A177-3AD203B41FA5}">
                      <a16:colId xmlns="" xmlns:a16="http://schemas.microsoft.com/office/drawing/2014/main" val="20000"/>
                    </a:ext>
                  </a:extLst>
                </a:gridCol>
                <a:gridCol w="3576774">
                  <a:extLst>
                    <a:ext uri="{9D8B030D-6E8A-4147-A177-3AD203B41FA5}">
                      <a16:colId xmlns="" xmlns:a16="http://schemas.microsoft.com/office/drawing/2014/main" val="20001"/>
                    </a:ext>
                  </a:extLst>
                </a:gridCol>
                <a:gridCol w="1830763">
                  <a:extLst>
                    <a:ext uri="{9D8B030D-6E8A-4147-A177-3AD203B41FA5}">
                      <a16:colId xmlns="" xmlns:a16="http://schemas.microsoft.com/office/drawing/2014/main" val="20002"/>
                    </a:ext>
                  </a:extLst>
                </a:gridCol>
                <a:gridCol w="1830763">
                  <a:extLst>
                    <a:ext uri="{9D8B030D-6E8A-4147-A177-3AD203B41FA5}">
                      <a16:colId xmlns="" xmlns:a16="http://schemas.microsoft.com/office/drawing/2014/main" val="20003"/>
                    </a:ext>
                  </a:extLst>
                </a:gridCol>
              </a:tblGrid>
              <a:tr h="525541">
                <a:tc>
                  <a:txBody>
                    <a:bodyPr/>
                    <a:lstStyle/>
                    <a:p>
                      <a:pPr algn="ctr"/>
                      <a:r>
                        <a:rPr lang="en-US" sz="2000" dirty="0" err="1">
                          <a:latin typeface="Bookman Old Style" pitchFamily="18" charset="0"/>
                        </a:rPr>
                        <a:t>S.No</a:t>
                      </a:r>
                      <a:r>
                        <a:rPr lang="en-US" sz="2000" dirty="0">
                          <a:latin typeface="Bookman Old Style" pitchFamily="18" charset="0"/>
                        </a:rPr>
                        <a:t>.</a:t>
                      </a:r>
                      <a:endParaRPr lang="en-IN" sz="2000" dirty="0">
                        <a:latin typeface="Bookman Old Style" pitchFamily="18" charset="0"/>
                      </a:endParaRPr>
                    </a:p>
                  </a:txBody>
                  <a:tcPr/>
                </a:tc>
                <a:tc>
                  <a:txBody>
                    <a:bodyPr/>
                    <a:lstStyle/>
                    <a:p>
                      <a:pPr algn="ctr">
                        <a:lnSpc>
                          <a:spcPct val="115000"/>
                        </a:lnSpc>
                        <a:spcAft>
                          <a:spcPts val="0"/>
                        </a:spcAft>
                      </a:pPr>
                      <a:r>
                        <a:rPr lang="en-US" sz="2000" b="1" dirty="0">
                          <a:latin typeface="Bookman Old Style" pitchFamily="18" charset="0"/>
                          <a:ea typeface="Calibri"/>
                          <a:cs typeface="Times New Roman"/>
                        </a:rPr>
                        <a:t>Details of work done</a:t>
                      </a:r>
                      <a:endParaRPr lang="en-IN" sz="1800" dirty="0">
                        <a:latin typeface="Bookman Old Style" pitchFamily="18" charset="0"/>
                        <a:ea typeface="Calibri"/>
                        <a:cs typeface="Mangal"/>
                      </a:endParaRPr>
                    </a:p>
                  </a:txBody>
                  <a:tcPr marL="68580" marR="68580" marT="0" marB="0"/>
                </a:tc>
                <a:tc>
                  <a:txBody>
                    <a:bodyPr/>
                    <a:lstStyle/>
                    <a:p>
                      <a:pPr algn="ctr">
                        <a:lnSpc>
                          <a:spcPct val="115000"/>
                        </a:lnSpc>
                        <a:spcAft>
                          <a:spcPts val="0"/>
                        </a:spcAft>
                      </a:pPr>
                      <a:r>
                        <a:rPr lang="en-US" sz="2000" b="1" dirty="0">
                          <a:latin typeface="Bookman Old Style" pitchFamily="18" charset="0"/>
                          <a:ea typeface="Calibri"/>
                          <a:cs typeface="Times New Roman"/>
                        </a:rPr>
                        <a:t>No. of cases</a:t>
                      </a:r>
                      <a:endParaRPr lang="en-IN" sz="1800" dirty="0">
                        <a:latin typeface="Bookman Old Style" pitchFamily="18" charset="0"/>
                        <a:ea typeface="Calibri"/>
                        <a:cs typeface="Mangal"/>
                      </a:endParaRPr>
                    </a:p>
                  </a:txBody>
                  <a:tcPr marL="68580" marR="68580" marT="0" marB="0"/>
                </a:tc>
                <a:tc>
                  <a:txBody>
                    <a:bodyPr/>
                    <a:lstStyle/>
                    <a:p>
                      <a:pPr algn="ctr">
                        <a:lnSpc>
                          <a:spcPct val="115000"/>
                        </a:lnSpc>
                        <a:spcAft>
                          <a:spcPts val="0"/>
                        </a:spcAft>
                      </a:pPr>
                      <a:r>
                        <a:rPr lang="en-IN" sz="1800" dirty="0">
                          <a:latin typeface="Bookman Old Style" pitchFamily="18" charset="0"/>
                          <a:ea typeface="Calibri"/>
                          <a:cs typeface="Mangal"/>
                        </a:rPr>
                        <a:t>Amounting involved</a:t>
                      </a:r>
                    </a:p>
                  </a:txBody>
                  <a:tcPr marL="68580" marR="68580" marT="0" marB="0"/>
                </a:tc>
                <a:extLst>
                  <a:ext uri="{0D108BD9-81ED-4DB2-BD59-A6C34878D82A}">
                    <a16:rowId xmlns="" xmlns:a16="http://schemas.microsoft.com/office/drawing/2014/main" val="10000"/>
                  </a:ext>
                </a:extLst>
              </a:tr>
              <a:tr h="1859607">
                <a:tc>
                  <a:txBody>
                    <a:bodyPr/>
                    <a:lstStyle/>
                    <a:p>
                      <a:pPr algn="ctr">
                        <a:lnSpc>
                          <a:spcPct val="115000"/>
                        </a:lnSpc>
                        <a:spcAft>
                          <a:spcPts val="0"/>
                        </a:spcAft>
                      </a:pPr>
                      <a:r>
                        <a:rPr lang="en-US" sz="2000" dirty="0">
                          <a:latin typeface="Bookman Old Style" pitchFamily="18" charset="0"/>
                          <a:ea typeface="Calibri"/>
                          <a:cs typeface="Times New Roman"/>
                        </a:rPr>
                        <a:t>1</a:t>
                      </a:r>
                      <a:endParaRPr lang="en-IN" sz="1800" dirty="0">
                        <a:latin typeface="Bookman Old Style" pitchFamily="18" charset="0"/>
                        <a:ea typeface="Calibri"/>
                        <a:cs typeface="Mangal"/>
                      </a:endParaRPr>
                    </a:p>
                  </a:txBody>
                  <a:tcPr marL="68580" marR="68580" marT="0" marB="0"/>
                </a:tc>
                <a:tc>
                  <a:txBody>
                    <a:bodyPr/>
                    <a:lstStyle/>
                    <a:p>
                      <a:pPr algn="ctr">
                        <a:lnSpc>
                          <a:spcPct val="115000"/>
                        </a:lnSpc>
                        <a:spcAft>
                          <a:spcPts val="0"/>
                        </a:spcAft>
                      </a:pPr>
                      <a:r>
                        <a:rPr lang="en-US" sz="2000" dirty="0">
                          <a:latin typeface="Bookman Old Style" pitchFamily="18" charset="0"/>
                          <a:ea typeface="Calibri"/>
                          <a:cs typeface="Times New Roman"/>
                        </a:rPr>
                        <a:t>Hiring proposals of fresh /revision of rent processed and sent to Ministry for seeking a/a &amp; e/s</a:t>
                      </a:r>
                      <a:endParaRPr lang="en-IN" sz="1800" dirty="0">
                        <a:latin typeface="Bookman Old Style" pitchFamily="18" charset="0"/>
                        <a:ea typeface="Calibri"/>
                        <a:cs typeface="Mangal"/>
                      </a:endParaRPr>
                    </a:p>
                  </a:txBody>
                  <a:tcPr marL="68580" marR="68580" marT="0" marB="0"/>
                </a:tc>
                <a:tc>
                  <a:txBody>
                    <a:bodyPr/>
                    <a:lstStyle/>
                    <a:p>
                      <a:pPr algn="ctr">
                        <a:lnSpc>
                          <a:spcPct val="115000"/>
                        </a:lnSpc>
                        <a:spcAft>
                          <a:spcPts val="0"/>
                        </a:spcAft>
                      </a:pPr>
                      <a:r>
                        <a:rPr lang="en-IN" sz="1800" dirty="0">
                          <a:latin typeface="Bookman Old Style" pitchFamily="18" charset="0"/>
                          <a:ea typeface="Calibri"/>
                          <a:cs typeface="Mangal"/>
                        </a:rPr>
                        <a:t>47</a:t>
                      </a:r>
                    </a:p>
                  </a:txBody>
                  <a:tcPr marL="68580" marR="68580" marT="0" marB="0"/>
                </a:tc>
                <a:tc>
                  <a:txBody>
                    <a:bodyPr/>
                    <a:lstStyle/>
                    <a:p>
                      <a:pPr algn="ctr">
                        <a:lnSpc>
                          <a:spcPct val="115000"/>
                        </a:lnSpc>
                        <a:spcAft>
                          <a:spcPts val="0"/>
                        </a:spcAft>
                      </a:pPr>
                      <a:r>
                        <a:rPr lang="en-IN" sz="1800" dirty="0">
                          <a:latin typeface="Bookman Old Style" pitchFamily="18" charset="0"/>
                          <a:ea typeface="Calibri"/>
                          <a:cs typeface="Mangal"/>
                        </a:rPr>
                        <a:t>Rs. 82.38 Cr.</a:t>
                      </a:r>
                    </a:p>
                  </a:txBody>
                  <a:tcPr marL="68580" marR="68580" marT="0" marB="0"/>
                </a:tc>
                <a:extLst>
                  <a:ext uri="{0D108BD9-81ED-4DB2-BD59-A6C34878D82A}">
                    <a16:rowId xmlns="" xmlns:a16="http://schemas.microsoft.com/office/drawing/2014/main" val="10001"/>
                  </a:ext>
                </a:extLst>
              </a:tr>
              <a:tr h="1394706">
                <a:tc>
                  <a:txBody>
                    <a:bodyPr/>
                    <a:lstStyle/>
                    <a:p>
                      <a:pPr algn="ctr">
                        <a:lnSpc>
                          <a:spcPct val="115000"/>
                        </a:lnSpc>
                        <a:spcAft>
                          <a:spcPts val="0"/>
                        </a:spcAft>
                      </a:pPr>
                      <a:r>
                        <a:rPr lang="en-US" sz="2000">
                          <a:latin typeface="Bookman Old Style" pitchFamily="18" charset="0"/>
                          <a:ea typeface="Calibri"/>
                          <a:cs typeface="Times New Roman"/>
                        </a:rPr>
                        <a:t>2</a:t>
                      </a:r>
                      <a:endParaRPr lang="en-IN" sz="1800">
                        <a:latin typeface="Bookman Old Style" pitchFamily="18" charset="0"/>
                        <a:ea typeface="Calibri"/>
                        <a:cs typeface="Mangal"/>
                      </a:endParaRPr>
                    </a:p>
                  </a:txBody>
                  <a:tcPr marL="68580" marR="68580" marT="0" marB="0"/>
                </a:tc>
                <a:tc>
                  <a:txBody>
                    <a:bodyPr/>
                    <a:lstStyle/>
                    <a:p>
                      <a:pPr algn="ctr">
                        <a:lnSpc>
                          <a:spcPct val="115000"/>
                        </a:lnSpc>
                        <a:spcAft>
                          <a:spcPts val="0"/>
                        </a:spcAft>
                      </a:pPr>
                      <a:r>
                        <a:rPr lang="en-US" sz="2000" dirty="0">
                          <a:latin typeface="Bookman Old Style" pitchFamily="18" charset="0"/>
                          <a:ea typeface="Calibri"/>
                          <a:cs typeface="Times New Roman"/>
                        </a:rPr>
                        <a:t>Out </a:t>
                      </a:r>
                      <a:r>
                        <a:rPr lang="en-US" sz="2000">
                          <a:latin typeface="Bookman Old Style" pitchFamily="18" charset="0"/>
                          <a:ea typeface="Calibri"/>
                          <a:cs typeface="Times New Roman"/>
                        </a:rPr>
                        <a:t>of these proposals, </a:t>
                      </a:r>
                      <a:r>
                        <a:rPr lang="en-US" sz="2000" dirty="0">
                          <a:latin typeface="Bookman Old Style" pitchFamily="18" charset="0"/>
                          <a:ea typeface="Calibri"/>
                          <a:cs typeface="Times New Roman"/>
                        </a:rPr>
                        <a:t>number  of  proposals sanctioned by the Ministry</a:t>
                      </a:r>
                      <a:endParaRPr lang="en-IN" sz="1800" dirty="0">
                        <a:latin typeface="Bookman Old Style" pitchFamily="18" charset="0"/>
                        <a:ea typeface="Calibri"/>
                        <a:cs typeface="Mangal"/>
                      </a:endParaRPr>
                    </a:p>
                  </a:txBody>
                  <a:tcPr marL="68580" marR="68580" marT="0" marB="0"/>
                </a:tc>
                <a:tc>
                  <a:txBody>
                    <a:bodyPr/>
                    <a:lstStyle/>
                    <a:p>
                      <a:pPr algn="ctr">
                        <a:lnSpc>
                          <a:spcPct val="115000"/>
                        </a:lnSpc>
                        <a:spcAft>
                          <a:spcPts val="0"/>
                        </a:spcAft>
                      </a:pPr>
                      <a:r>
                        <a:rPr lang="en-IN" sz="1800" dirty="0">
                          <a:latin typeface="Bookman Old Style" pitchFamily="18" charset="0"/>
                          <a:ea typeface="Calibri"/>
                          <a:cs typeface="Mangal"/>
                        </a:rPr>
                        <a:t>22</a:t>
                      </a:r>
                    </a:p>
                  </a:txBody>
                  <a:tcPr marL="68580" marR="68580" marT="0" marB="0"/>
                </a:tc>
                <a:tc>
                  <a:txBody>
                    <a:bodyPr/>
                    <a:lstStyle/>
                    <a:p>
                      <a:pPr algn="ctr">
                        <a:lnSpc>
                          <a:spcPct val="115000"/>
                        </a:lnSpc>
                        <a:spcAft>
                          <a:spcPts val="0"/>
                        </a:spcAft>
                      </a:pPr>
                      <a:r>
                        <a:rPr lang="en-IN" sz="1800" dirty="0">
                          <a:latin typeface="Bookman Old Style" pitchFamily="18" charset="0"/>
                          <a:ea typeface="Calibri"/>
                          <a:cs typeface="Mangal"/>
                        </a:rPr>
                        <a:t>Rs.</a:t>
                      </a:r>
                      <a:r>
                        <a:rPr lang="en-IN" sz="1800" baseline="0" dirty="0">
                          <a:latin typeface="Bookman Old Style" pitchFamily="18" charset="0"/>
                          <a:ea typeface="Calibri"/>
                          <a:cs typeface="Mangal"/>
                        </a:rPr>
                        <a:t> 26.63 Cr.</a:t>
                      </a:r>
                      <a:endParaRPr lang="en-IN" sz="1800" dirty="0">
                        <a:latin typeface="Bookman Old Style" pitchFamily="18" charset="0"/>
                        <a:ea typeface="Calibri"/>
                        <a:cs typeface="Mangal"/>
                      </a:endParaRPr>
                    </a:p>
                  </a:txBody>
                  <a:tcPr marL="68580" marR="68580" marT="0" marB="0"/>
                </a:tc>
                <a:extLst>
                  <a:ext uri="{0D108BD9-81ED-4DB2-BD59-A6C34878D82A}">
                    <a16:rowId xmlns="" xmlns:a16="http://schemas.microsoft.com/office/drawing/2014/main" val="10002"/>
                  </a:ext>
                </a:extLst>
              </a:tr>
            </a:tbl>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25C6E9B-33F1-4458-BDFF-19062DB5B903}"/>
              </a:ext>
            </a:extLst>
          </p:cNvPr>
          <p:cNvSpPr>
            <a:spLocks noGrp="1"/>
          </p:cNvSpPr>
          <p:nvPr>
            <p:ph type="ctrTitle"/>
          </p:nvPr>
        </p:nvSpPr>
        <p:spPr>
          <a:xfrm>
            <a:off x="1828800" y="2057400"/>
            <a:ext cx="6400800" cy="1894362"/>
          </a:xfrm>
        </p:spPr>
        <p:txBody>
          <a:bodyPr>
            <a:noAutofit/>
          </a:bodyPr>
          <a:lstStyle/>
          <a:p>
            <a:r>
              <a:rPr lang="en-US" sz="4000" dirty="0">
                <a:solidFill>
                  <a:schemeClr val="accent1">
                    <a:lumMod val="75000"/>
                  </a:schemeClr>
                </a:solidFill>
              </a:rPr>
              <a:t>DGHRD RECOMMENDATIONS</a:t>
            </a:r>
          </a:p>
        </p:txBody>
      </p:sp>
    </p:spTree>
    <p:extLst>
      <p:ext uri="{BB962C8B-B14F-4D97-AF65-F5344CB8AC3E}">
        <p14:creationId xmlns="" xmlns:p14="http://schemas.microsoft.com/office/powerpoint/2010/main" val="239985022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35E2A42F-3747-4313-B8AA-F8C71D2DB211}" type="slidenum">
              <a:rPr lang="en-IN" smtClean="0"/>
              <a:pPr/>
              <a:t>84</a:t>
            </a:fld>
            <a:endParaRPr lang="en-IN"/>
          </a:p>
        </p:txBody>
      </p:sp>
      <p:sp>
        <p:nvSpPr>
          <p:cNvPr id="4" name="TextBox 3"/>
          <p:cNvSpPr txBox="1"/>
          <p:nvPr/>
        </p:nvSpPr>
        <p:spPr>
          <a:xfrm>
            <a:off x="381000" y="914400"/>
            <a:ext cx="7929618" cy="5570756"/>
          </a:xfrm>
          <a:prstGeom prst="rect">
            <a:avLst/>
          </a:prstGeom>
          <a:noFill/>
        </p:spPr>
        <p:txBody>
          <a:bodyPr wrap="square" rtlCol="0">
            <a:spAutoFit/>
          </a:bodyPr>
          <a:lstStyle/>
          <a:p>
            <a:r>
              <a:rPr lang="en-US" sz="2800" b="1" dirty="0">
                <a:solidFill>
                  <a:schemeClr val="accent1">
                    <a:lumMod val="75000"/>
                  </a:schemeClr>
                </a:solidFill>
              </a:rPr>
              <a:t>ISSUES FACED</a:t>
            </a:r>
          </a:p>
          <a:p>
            <a:endParaRPr lang="en-US" sz="2800" dirty="0"/>
          </a:p>
          <a:p>
            <a:pPr marL="0" lvl="1" indent="361950" algn="just">
              <a:buFont typeface="Arial" pitchFamily="34" charset="0"/>
              <a:buChar char="•"/>
              <a:tabLst>
                <a:tab pos="361950" algn="l"/>
                <a:tab pos="712788" algn="l"/>
              </a:tabLst>
            </a:pPr>
            <a:r>
              <a:rPr lang="en-US" sz="2400" dirty="0"/>
              <a:t>Proposals are received late in the Financial Year.</a:t>
            </a:r>
          </a:p>
          <a:p>
            <a:pPr marL="0" lvl="1" indent="361950" algn="just">
              <a:tabLst>
                <a:tab pos="361950" algn="l"/>
                <a:tab pos="712788" algn="l"/>
              </a:tabLst>
            </a:pPr>
            <a:endParaRPr lang="en-US" sz="2400" dirty="0"/>
          </a:p>
          <a:p>
            <a:pPr indent="361950" algn="just">
              <a:buFont typeface="Arial" pitchFamily="34" charset="0"/>
              <a:buChar char="•"/>
              <a:tabLst>
                <a:tab pos="361950" algn="l"/>
                <a:tab pos="712788" algn="l"/>
              </a:tabLst>
            </a:pPr>
            <a:r>
              <a:rPr lang="en-US" sz="2400" dirty="0"/>
              <a:t> After sanction, delay in booking of expenditure.</a:t>
            </a:r>
          </a:p>
          <a:p>
            <a:pPr indent="361950" algn="just">
              <a:buFont typeface="Arial" pitchFamily="34" charset="0"/>
              <a:buChar char="•"/>
              <a:tabLst>
                <a:tab pos="361950" algn="l"/>
                <a:tab pos="712788" algn="l"/>
              </a:tabLst>
            </a:pPr>
            <a:endParaRPr lang="en-US" sz="2400" dirty="0"/>
          </a:p>
          <a:p>
            <a:pPr indent="361950" algn="just">
              <a:buFont typeface="Arial" pitchFamily="34" charset="0"/>
              <a:buChar char="•"/>
              <a:tabLst>
                <a:tab pos="361950" algn="l"/>
                <a:tab pos="712788" algn="l"/>
              </a:tabLst>
            </a:pPr>
            <a:r>
              <a:rPr lang="en-US" sz="2400" dirty="0"/>
              <a:t> Lack of communication between field 	formations and CPWD/Executive Agency.</a:t>
            </a:r>
          </a:p>
          <a:p>
            <a:pPr indent="361950" algn="just">
              <a:buFont typeface="Arial" pitchFamily="34" charset="0"/>
              <a:buChar char="•"/>
              <a:tabLst>
                <a:tab pos="361950" algn="l"/>
                <a:tab pos="712788" algn="l"/>
              </a:tabLst>
            </a:pPr>
            <a:endParaRPr lang="en-US" sz="2400" dirty="0"/>
          </a:p>
          <a:p>
            <a:pPr indent="361950" algn="just">
              <a:buFont typeface="Arial" pitchFamily="34" charset="0"/>
              <a:buChar char="•"/>
              <a:tabLst>
                <a:tab pos="361950" algn="l"/>
                <a:tab pos="712788" algn="l"/>
              </a:tabLst>
            </a:pPr>
            <a:r>
              <a:rPr lang="en-US" sz="2400" dirty="0"/>
              <a:t>Lapse of funds.</a:t>
            </a:r>
          </a:p>
          <a:p>
            <a:pPr indent="361950" algn="just">
              <a:tabLst>
                <a:tab pos="361950" algn="l"/>
                <a:tab pos="712788" algn="l"/>
              </a:tabLst>
            </a:pPr>
            <a:r>
              <a:rPr lang="en-US" sz="2400" dirty="0"/>
              <a:t> </a:t>
            </a:r>
          </a:p>
          <a:p>
            <a:pPr indent="361950" algn="just">
              <a:buFont typeface="Arial" pitchFamily="34" charset="0"/>
              <a:buChar char="•"/>
              <a:tabLst>
                <a:tab pos="361950" algn="l"/>
                <a:tab pos="712788" algn="l"/>
              </a:tabLst>
            </a:pPr>
            <a:r>
              <a:rPr lang="en-US" sz="2400" dirty="0"/>
              <a:t>Revalidation sought which takes a major chunk of funds reserved for 	repair/maintenance works.</a:t>
            </a:r>
          </a:p>
          <a:p>
            <a:pPr>
              <a:buFont typeface="Arial" pitchFamily="34" charset="0"/>
              <a:buChar char="•"/>
            </a:pPr>
            <a:endParaRPr lang="en-US" dirty="0"/>
          </a:p>
          <a:p>
            <a:endParaRPr lang="en-US" dirty="0"/>
          </a:p>
        </p:txBody>
      </p:sp>
    </p:spTree>
    <p:extLst>
      <p:ext uri="{BB962C8B-B14F-4D97-AF65-F5344CB8AC3E}">
        <p14:creationId xmlns="" xmlns:p14="http://schemas.microsoft.com/office/powerpoint/2010/main" val="25321584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35E2A42F-3747-4313-B8AA-F8C71D2DB211}" type="slidenum">
              <a:rPr lang="en-IN" smtClean="0"/>
              <a:pPr/>
              <a:t>85</a:t>
            </a:fld>
            <a:endParaRPr lang="en-IN"/>
          </a:p>
        </p:txBody>
      </p:sp>
      <p:sp>
        <p:nvSpPr>
          <p:cNvPr id="4" name="TextBox 3"/>
          <p:cNvSpPr txBox="1"/>
          <p:nvPr/>
        </p:nvSpPr>
        <p:spPr>
          <a:xfrm>
            <a:off x="381000" y="533400"/>
            <a:ext cx="7929618" cy="6063198"/>
          </a:xfrm>
          <a:prstGeom prst="rect">
            <a:avLst/>
          </a:prstGeom>
          <a:noFill/>
        </p:spPr>
        <p:txBody>
          <a:bodyPr wrap="square" rtlCol="0">
            <a:spAutoFit/>
          </a:bodyPr>
          <a:lstStyle/>
          <a:p>
            <a:pPr algn="ctr"/>
            <a:r>
              <a:rPr lang="en-US" sz="5400" dirty="0">
                <a:solidFill>
                  <a:schemeClr val="accent1">
                    <a:lumMod val="75000"/>
                  </a:schemeClr>
                </a:solidFill>
              </a:rPr>
              <a:t>Do’s</a:t>
            </a:r>
          </a:p>
          <a:p>
            <a:endParaRPr lang="en-US" dirty="0"/>
          </a:p>
          <a:p>
            <a:pPr marL="0" lvl="1" indent="361950" algn="just">
              <a:buFont typeface="Arial" pitchFamily="34" charset="0"/>
              <a:buChar char="•"/>
              <a:tabLst>
                <a:tab pos="361950" algn="l"/>
                <a:tab pos="712788" algn="l"/>
              </a:tabLst>
            </a:pPr>
            <a:r>
              <a:rPr lang="en-US" sz="2000" dirty="0"/>
              <a:t>Proposals should be submitted well in advance so that funds  can be provisioned accordingly.</a:t>
            </a:r>
          </a:p>
          <a:p>
            <a:pPr marL="0" lvl="1" indent="361950" algn="just">
              <a:buFont typeface="Arial" pitchFamily="34" charset="0"/>
              <a:buChar char="•"/>
              <a:tabLst>
                <a:tab pos="361950" algn="l"/>
                <a:tab pos="712788" algn="l"/>
              </a:tabLst>
            </a:pPr>
            <a:endParaRPr lang="en-US" sz="2000" dirty="0"/>
          </a:p>
          <a:p>
            <a:pPr marL="0" lvl="1" indent="361950" algn="just">
              <a:buFont typeface="Arial" pitchFamily="34" charset="0"/>
              <a:buChar char="•"/>
              <a:tabLst>
                <a:tab pos="361950" algn="l"/>
                <a:tab pos="712788" algn="l"/>
              </a:tabLst>
            </a:pPr>
            <a:r>
              <a:rPr lang="en-US" sz="2000" dirty="0"/>
              <a:t>Better communication between the field formation and 	CPWD/Executing agency for proper booking of 	expenditure.</a:t>
            </a:r>
          </a:p>
          <a:p>
            <a:pPr marL="0" lvl="1" indent="361950" algn="just">
              <a:buFont typeface="Arial" pitchFamily="34" charset="0"/>
              <a:buChar char="•"/>
              <a:tabLst>
                <a:tab pos="361950" algn="l"/>
                <a:tab pos="712788" algn="l"/>
              </a:tabLst>
            </a:pPr>
            <a:endParaRPr lang="en-US" sz="2000" dirty="0"/>
          </a:p>
          <a:p>
            <a:pPr marL="0" lvl="1" indent="361950" algn="just">
              <a:buFont typeface="Arial" pitchFamily="34" charset="0"/>
              <a:buChar char="•"/>
              <a:tabLst>
                <a:tab pos="361950" algn="l"/>
                <a:tab pos="712788" algn="l"/>
              </a:tabLst>
            </a:pPr>
            <a:r>
              <a:rPr lang="en-US" sz="2000" dirty="0"/>
              <a:t>Works Committee be constituted with Civil Engineer, CPWD for monitoring of work.</a:t>
            </a:r>
          </a:p>
          <a:p>
            <a:pPr marL="0" lvl="1" indent="361950" algn="just">
              <a:buFont typeface="Arial" pitchFamily="34" charset="0"/>
              <a:buChar char="•"/>
              <a:tabLst>
                <a:tab pos="361950" algn="l"/>
                <a:tab pos="712788" algn="l"/>
              </a:tabLst>
            </a:pPr>
            <a:endParaRPr lang="en-US" sz="2000" dirty="0"/>
          </a:p>
          <a:p>
            <a:pPr marL="0" lvl="1" indent="361950" algn="just">
              <a:buFont typeface="Arial" pitchFamily="34" charset="0"/>
              <a:buChar char="•"/>
              <a:tabLst>
                <a:tab pos="361950" algn="l"/>
                <a:tab pos="712788" algn="l"/>
              </a:tabLst>
            </a:pPr>
            <a:r>
              <a:rPr lang="en-US" sz="2000" dirty="0"/>
              <a:t>Monthly meetings between the Works Committee and CPWD to ensure that the work is completed on time.</a:t>
            </a:r>
          </a:p>
          <a:p>
            <a:pPr marL="0" lvl="1" indent="361950" algn="just">
              <a:tabLst>
                <a:tab pos="361950" algn="l"/>
                <a:tab pos="712788" algn="l"/>
              </a:tabLst>
            </a:pPr>
            <a:endParaRPr lang="en-US" sz="2000" dirty="0"/>
          </a:p>
          <a:p>
            <a:pPr marL="0" lvl="1" indent="361950" algn="just">
              <a:buFont typeface="Arial" pitchFamily="34" charset="0"/>
              <a:buChar char="•"/>
              <a:tabLst>
                <a:tab pos="361950" algn="l"/>
                <a:tab pos="712788" algn="l"/>
              </a:tabLst>
            </a:pPr>
            <a:r>
              <a:rPr lang="en-US" sz="2000" dirty="0"/>
              <a:t>It should be made sure that the funds do not lapse. </a:t>
            </a:r>
          </a:p>
          <a:p>
            <a:pPr>
              <a:buFont typeface="Arial" pitchFamily="34" charset="0"/>
              <a:buChar char="•"/>
            </a:pPr>
            <a:endParaRPr lang="en-US" dirty="0"/>
          </a:p>
          <a:p>
            <a:endParaRPr lang="en-US" dirty="0"/>
          </a:p>
        </p:txBody>
      </p:sp>
    </p:spTree>
    <p:extLst>
      <p:ext uri="{BB962C8B-B14F-4D97-AF65-F5344CB8AC3E}">
        <p14:creationId xmlns="" xmlns:p14="http://schemas.microsoft.com/office/powerpoint/2010/main" val="248953162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entral Board of Indirect Taxes and Customs - Wikipedia">
            <a:extLst>
              <a:ext uri="{FF2B5EF4-FFF2-40B4-BE49-F238E27FC236}">
                <a16:creationId xmlns="" xmlns:a16="http://schemas.microsoft.com/office/drawing/2014/main" id="{08D54622-8745-4CEC-85D6-64ECFE8F1D92}"/>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2321169" y="49133"/>
            <a:ext cx="4642338" cy="5437269"/>
          </a:xfrm>
          <a:prstGeom prst="rect">
            <a:avLst/>
          </a:prstGeom>
          <a:noFill/>
          <a:extLst>
            <a:ext uri="{909E8E84-426E-40DD-AFC4-6F175D3DCCD1}">
              <a14:hiddenFill xmlns="" xmlns:a14="http://schemas.microsoft.com/office/drawing/2010/main">
                <a:solidFill>
                  <a:srgbClr val="FFFFFF"/>
                </a:solidFill>
              </a14:hiddenFill>
            </a:ext>
          </a:extLst>
        </p:spPr>
      </p:pic>
      <p:sp>
        <p:nvSpPr>
          <p:cNvPr id="3" name="Title 2">
            <a:extLst>
              <a:ext uri="{FF2B5EF4-FFF2-40B4-BE49-F238E27FC236}">
                <a16:creationId xmlns="" xmlns:a16="http://schemas.microsoft.com/office/drawing/2014/main" id="{1B2AA5EE-1D87-4B44-A7EF-BFA226CE3DE2}"/>
              </a:ext>
            </a:extLst>
          </p:cNvPr>
          <p:cNvSpPr>
            <a:spLocks noGrp="1"/>
          </p:cNvSpPr>
          <p:nvPr>
            <p:ph type="title"/>
          </p:nvPr>
        </p:nvSpPr>
        <p:spPr>
          <a:xfrm>
            <a:off x="3048000" y="5410200"/>
            <a:ext cx="3505200" cy="1143000"/>
          </a:xfrm>
        </p:spPr>
        <p:txBody>
          <a:bodyPr>
            <a:normAutofit/>
          </a:bodyPr>
          <a:lstStyle/>
          <a:p>
            <a:r>
              <a:rPr lang="en-US" sz="3600" b="1" dirty="0">
                <a:solidFill>
                  <a:schemeClr val="accent1">
                    <a:lumMod val="75000"/>
                  </a:schemeClr>
                </a:solidFill>
              </a:rPr>
              <a:t>THANK YOU</a:t>
            </a:r>
          </a:p>
        </p:txBody>
      </p:sp>
    </p:spTree>
    <p:extLst>
      <p:ext uri="{BB962C8B-B14F-4D97-AF65-F5344CB8AC3E}">
        <p14:creationId xmlns="" xmlns:p14="http://schemas.microsoft.com/office/powerpoint/2010/main" val="1635245005"/>
      </p:ext>
    </p:extLst>
  </p:cSld>
  <p:clrMapOvr>
    <a:masterClrMapping/>
  </p:clrMapOvr>
  <p:transition spd="slow"/>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Trek</Template>
  <TotalTime>1287</TotalTime>
  <Words>5234</Words>
  <Application>Microsoft Office PowerPoint</Application>
  <PresentationFormat>On-screen Show (4:3)</PresentationFormat>
  <Paragraphs>976</Paragraphs>
  <Slides>86</Slides>
  <Notes>3</Notes>
  <HiddenSlides>0</HiddenSlides>
  <MMClips>0</MMClips>
  <ScaleCrop>false</ScaleCrop>
  <HeadingPairs>
    <vt:vector size="4" baseType="variant">
      <vt:variant>
        <vt:lpstr>Theme</vt:lpstr>
      </vt:variant>
      <vt:variant>
        <vt:i4>1</vt:i4>
      </vt:variant>
      <vt:variant>
        <vt:lpstr>Slide Titles</vt:lpstr>
      </vt:variant>
      <vt:variant>
        <vt:i4>86</vt:i4>
      </vt:variant>
    </vt:vector>
  </HeadingPairs>
  <TitlesOfParts>
    <vt:vector size="87" baseType="lpstr">
      <vt:lpstr>Oriel</vt:lpstr>
      <vt:lpstr>Slide 1</vt:lpstr>
      <vt:lpstr>INFRASTRUCTURE DIVISION</vt:lpstr>
      <vt:lpstr>Slide 3</vt:lpstr>
      <vt:lpstr>Slide 4</vt:lpstr>
      <vt:lpstr>Ongoing Construction projects</vt:lpstr>
      <vt:lpstr>Slide 6</vt:lpstr>
      <vt:lpstr>Slide 7</vt:lpstr>
      <vt:lpstr>Onsite photographs of Anna nagar, Chennai project</vt:lpstr>
      <vt:lpstr>NACIN Hindupur project</vt:lpstr>
      <vt:lpstr>NACIN Hindupur project</vt:lpstr>
      <vt:lpstr>Onsite photographs of Hindupur, NACIN project</vt:lpstr>
      <vt:lpstr>Onsite photographs of Dwarka project</vt:lpstr>
      <vt:lpstr>Onsite photographs of Jamnagar project</vt:lpstr>
      <vt:lpstr>Onsite photographs of Kharghar project</vt:lpstr>
      <vt:lpstr>PURCHASE OF LAND</vt:lpstr>
      <vt:lpstr>PURCHASE OF LAND</vt:lpstr>
      <vt:lpstr>SPACE REQUIREMENT CALCULATION</vt:lpstr>
      <vt:lpstr>PURCHASE OF LAND</vt:lpstr>
      <vt:lpstr>PURCHASE OF LAND – Documents to be submitted</vt:lpstr>
      <vt:lpstr>PURCHASE OF LAND</vt:lpstr>
      <vt:lpstr>PURCHASE OF LAND</vt:lpstr>
      <vt:lpstr>PURCHASE OF LAND</vt:lpstr>
      <vt:lpstr>DEFICIENCIES IN PROPOSALS RECEIVED</vt:lpstr>
      <vt:lpstr>POST ACQUISITION OF LAND</vt:lpstr>
      <vt:lpstr>CONSTRUCTION OF OFFICE BUILDINGS &amp; RESIDENTIAL QUARTERS</vt:lpstr>
      <vt:lpstr>     STEPS FOR PREPARATION OF PROPOSAL BY FIELD FORMATIONS    </vt:lpstr>
      <vt:lpstr>OTHER NECESSARY INFORMATION</vt:lpstr>
      <vt:lpstr>Check List for Infrastructure Proposal prescribed by IFU</vt:lpstr>
      <vt:lpstr>Slide 29</vt:lpstr>
      <vt:lpstr>Slide 30</vt:lpstr>
      <vt:lpstr>Slide 31</vt:lpstr>
      <vt:lpstr>          Financial Powers/Approval Authorities           OM No.24(35)/PF-II/2012 dated 5th August 2016</vt:lpstr>
      <vt:lpstr>   Common deficiencies in proposals</vt:lpstr>
      <vt:lpstr> COMMON OBSERVATIONS RAISED BY IFU </vt:lpstr>
      <vt:lpstr>Slide 35</vt:lpstr>
      <vt:lpstr>  Flow Chart-Residential &amp; Office Building Construction  </vt:lpstr>
      <vt:lpstr>Slide 37</vt:lpstr>
      <vt:lpstr>REPAIR AND MAINTENANCE</vt:lpstr>
      <vt:lpstr> Classification of works </vt:lpstr>
      <vt:lpstr>Minor Repair Works</vt:lpstr>
      <vt:lpstr>  Rule 84 of GenerAL FINANCIAL RULES, 2017</vt:lpstr>
      <vt:lpstr>Slide 42</vt:lpstr>
      <vt:lpstr>Slide 43</vt:lpstr>
      <vt:lpstr>Power to Sanction Works </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BOOKING OF EXPENDITURE</vt:lpstr>
      <vt:lpstr>Slide 59</vt:lpstr>
      <vt:lpstr>Slide 60</vt:lpstr>
      <vt:lpstr>Slide 61</vt:lpstr>
      <vt:lpstr>BUDGETING OF EXPENDITURE</vt:lpstr>
      <vt:lpstr>Slide 63</vt:lpstr>
      <vt:lpstr>Slide 64</vt:lpstr>
      <vt:lpstr>Slide 65</vt:lpstr>
      <vt:lpstr>PURCHASE OF DG SETS </vt:lpstr>
      <vt:lpstr>Slide 67</vt:lpstr>
      <vt:lpstr>Slide 68</vt:lpstr>
      <vt:lpstr>HIRING OF ACCOMODATION ON LEASE/RENTAL BASIS</vt:lpstr>
      <vt:lpstr>FLOW CHART</vt:lpstr>
      <vt:lpstr>COMPETENCY DELEGATION OF FINANCIAL POWERS TO HoDs</vt:lpstr>
      <vt:lpstr>A/A1 CITY</vt:lpstr>
      <vt:lpstr>ACQUISITION OF ACCOMODATION ON LEASE/RENTAL BASIS</vt:lpstr>
      <vt:lpstr> ADVERTISEMENT AND TENDER</vt:lpstr>
      <vt:lpstr>RENT REASONABLE CERTIFICATE</vt:lpstr>
      <vt:lpstr>Slide 76</vt:lpstr>
      <vt:lpstr>    STANDARD LEASE AGREEMENT</vt:lpstr>
      <vt:lpstr> APPROVAL OF MINISTRY/IFU REQUIRED FOR HIRING OF OFFICE PREMISES </vt:lpstr>
      <vt:lpstr>e-Procurement  through CPP Portal</vt:lpstr>
      <vt:lpstr>SHORTCOMINGS OBSERVED IN HIRING PROPOSAL</vt:lpstr>
      <vt:lpstr>HIRING PROPOSAL RECEIVED AND SANCTIONED DULY FINANCIAL YEAR 2020-21</vt:lpstr>
      <vt:lpstr>HIRING PROPOSAL RECEIVED AND SANCTIONED DULY FINANCIAL YEAR 2021-22 (till date)</vt:lpstr>
      <vt:lpstr>DGHRD RECOMMENDATIONS</vt:lpstr>
      <vt:lpstr>Slide 84</vt:lpstr>
      <vt:lpstr>Slide 85</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hp</dc:creator>
  <cp:lastModifiedBy>SKYLINE</cp:lastModifiedBy>
  <cp:revision>252</cp:revision>
  <dcterms:created xsi:type="dcterms:W3CDTF">2018-05-09T10:24:40Z</dcterms:created>
  <dcterms:modified xsi:type="dcterms:W3CDTF">2022-02-09T07:13:07Z</dcterms:modified>
</cp:coreProperties>
</file>