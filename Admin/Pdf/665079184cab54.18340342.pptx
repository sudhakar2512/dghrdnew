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17"/>
  </p:notesMasterIdLst>
  <p:handoutMasterIdLst>
    <p:handoutMasterId r:id="rId18"/>
  </p:handoutMasterIdLst>
  <p:sldIdLst>
    <p:sldId id="401" r:id="rId2"/>
    <p:sldId id="388" r:id="rId3"/>
    <p:sldId id="376" r:id="rId4"/>
    <p:sldId id="390" r:id="rId5"/>
    <p:sldId id="392" r:id="rId6"/>
    <p:sldId id="394" r:id="rId7"/>
    <p:sldId id="395" r:id="rId8"/>
    <p:sldId id="382" r:id="rId9"/>
    <p:sldId id="384" r:id="rId10"/>
    <p:sldId id="397" r:id="rId11"/>
    <p:sldId id="369" r:id="rId12"/>
    <p:sldId id="370" r:id="rId13"/>
    <p:sldId id="371" r:id="rId14"/>
    <p:sldId id="399" r:id="rId15"/>
    <p:sldId id="293" r:id="rId16"/>
  </p:sldIdLst>
  <p:sldSz cx="9144000" cy="6858000" type="screen4x3"/>
  <p:notesSz cx="6889750"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AA4"/>
    <a:srgbClr val="FFFFCC"/>
    <a:srgbClr val="FFCCFF"/>
    <a:srgbClr val="BA8CDC"/>
    <a:srgbClr val="00FFFF"/>
    <a:srgbClr val="5F9F61"/>
    <a:srgbClr val="AE54B8"/>
    <a:srgbClr val="E668D7"/>
    <a:srgbClr val="66CCFF"/>
    <a:srgbClr val="EEF4A2"/>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346" autoAdjust="0"/>
    <p:restoredTop sz="94713" autoAdjust="0"/>
  </p:normalViewPr>
  <p:slideViewPr>
    <p:cSldViewPr>
      <p:cViewPr>
        <p:scale>
          <a:sx n="80" d="100"/>
          <a:sy n="80" d="100"/>
        </p:scale>
        <p:origin x="-1502"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EA99F8-AF62-445D-94D7-18A7C8B8140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E8096A0-3C1D-4C31-A107-7AEDE18837C1}">
      <dgm:prSet phldrT="[Text]" custT="1">
        <dgm:style>
          <a:lnRef idx="3">
            <a:schemeClr val="lt1"/>
          </a:lnRef>
          <a:fillRef idx="1">
            <a:schemeClr val="accent5"/>
          </a:fillRef>
          <a:effectRef idx="1">
            <a:schemeClr val="accent5"/>
          </a:effectRef>
          <a:fontRef idx="minor">
            <a:schemeClr val="lt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i="1" dirty="0" smtClean="0">
              <a:solidFill>
                <a:schemeClr val="tx1"/>
              </a:solidFill>
              <a:latin typeface="Times New Roman" pitchFamily="18" charset="0"/>
              <a:cs typeface="Times New Roman" pitchFamily="18" charset="0"/>
            </a:rPr>
            <a:t>Both performance norms i.e. volume/value and number of documents must be met in each of the preceding two financial years.</a:t>
          </a:r>
          <a:endParaRPr lang="en-US" sz="1600" i="1" dirty="0">
            <a:solidFill>
              <a:schemeClr val="tx1"/>
            </a:solidFill>
            <a:latin typeface="Times New Roman" pitchFamily="18" charset="0"/>
            <a:cs typeface="Times New Roman" pitchFamily="18" charset="0"/>
          </a:endParaRPr>
        </a:p>
      </dgm:t>
    </dgm:pt>
    <dgm:pt modelId="{35F2281B-24C1-41CC-BC57-071C91D9BFA4}" type="parTrans" cxnId="{0BD6A1CA-1CB1-4F16-92E8-B967A71476B3}">
      <dgm:prSet/>
      <dgm:spPr/>
      <dgm:t>
        <a:bodyPr/>
        <a:lstStyle/>
        <a:p>
          <a:endParaRPr lang="en-US"/>
        </a:p>
      </dgm:t>
    </dgm:pt>
    <dgm:pt modelId="{4D2D172B-AFAE-4C2B-8E9C-65716C8029EB}" type="sibTrans" cxnId="{0BD6A1CA-1CB1-4F16-92E8-B967A71476B3}">
      <dgm:prSet/>
      <dgm:spPr/>
      <dgm:t>
        <a:bodyPr/>
        <a:lstStyle/>
        <a:p>
          <a:endParaRPr lang="en-US"/>
        </a:p>
      </dgm:t>
    </dgm:pt>
    <dgm:pt modelId="{DC4FB5CA-6877-42FE-92CB-288708A1C2D5}">
      <dgm:prSet phldrT="[Text]" custT="1">
        <dgm:style>
          <a:lnRef idx="3">
            <a:schemeClr val="lt1"/>
          </a:lnRef>
          <a:fillRef idx="1">
            <a:schemeClr val="accent5"/>
          </a:fillRef>
          <a:effectRef idx="1">
            <a:schemeClr val="accent5"/>
          </a:effectRef>
          <a:fontRef idx="minor">
            <a:schemeClr val="lt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just"/>
          <a:r>
            <a:rPr lang="en-US" sz="1600" i="1" dirty="0" smtClean="0">
              <a:solidFill>
                <a:schemeClr val="tx1"/>
              </a:solidFill>
              <a:latin typeface="Times New Roman" pitchFamily="18" charset="0"/>
              <a:cs typeface="Times New Roman" pitchFamily="18" charset="0"/>
            </a:rPr>
            <a:t>In order to avail exemption, there is pre-condition that posts on Cost Recovery Basis should be continued up to date. </a:t>
          </a:r>
          <a:r>
            <a:rPr lang="en-US" sz="1600" b="0" i="1" dirty="0" smtClean="0">
              <a:solidFill>
                <a:schemeClr val="tx1"/>
              </a:solidFill>
              <a:latin typeface="Times New Roman" pitchFamily="18" charset="0"/>
              <a:cs typeface="Times New Roman" pitchFamily="18" charset="0"/>
            </a:rPr>
            <a:t>However, it is often observed that the field formations </a:t>
          </a:r>
          <a:r>
            <a:rPr lang="en-US" sz="1600" b="1" i="1" dirty="0" smtClean="0">
              <a:solidFill>
                <a:schemeClr val="tx1"/>
              </a:solidFill>
              <a:latin typeface="Times New Roman" pitchFamily="18" charset="0"/>
              <a:cs typeface="Times New Roman" pitchFamily="18" charset="0"/>
            </a:rPr>
            <a:t>do not </a:t>
          </a:r>
          <a:r>
            <a:rPr lang="en-US" sz="1600" b="0" i="1" dirty="0" smtClean="0">
              <a:solidFill>
                <a:schemeClr val="tx1"/>
              </a:solidFill>
              <a:latin typeface="Times New Roman" pitchFamily="18" charset="0"/>
              <a:cs typeface="Times New Roman" pitchFamily="18" charset="0"/>
            </a:rPr>
            <a:t>seek continuation of posts on yearly basis which further delay timely grant of exemption. CRC liability continue to accrue which results in  frivolous litigation.</a:t>
          </a:r>
          <a:endParaRPr lang="en-US" sz="1600" b="0" i="1" dirty="0">
            <a:solidFill>
              <a:schemeClr val="tx1"/>
            </a:solidFill>
            <a:latin typeface="Times New Roman" pitchFamily="18" charset="0"/>
            <a:cs typeface="Times New Roman" pitchFamily="18" charset="0"/>
          </a:endParaRPr>
        </a:p>
      </dgm:t>
    </dgm:pt>
    <dgm:pt modelId="{126D0CEC-9CE5-48ED-8182-4C974ED02F9E}" type="parTrans" cxnId="{3F050AB1-AE75-477F-A22A-39BF28FB8BB8}">
      <dgm:prSet/>
      <dgm:spPr/>
      <dgm:t>
        <a:bodyPr/>
        <a:lstStyle/>
        <a:p>
          <a:endParaRPr lang="en-US"/>
        </a:p>
      </dgm:t>
    </dgm:pt>
    <dgm:pt modelId="{8CB99106-6A1C-4048-BEB3-0522CEA37211}" type="sibTrans" cxnId="{3F050AB1-AE75-477F-A22A-39BF28FB8BB8}">
      <dgm:prSet/>
      <dgm:spPr/>
      <dgm:t>
        <a:bodyPr/>
        <a:lstStyle/>
        <a:p>
          <a:endParaRPr lang="en-US"/>
        </a:p>
      </dgm:t>
    </dgm:pt>
    <dgm:pt modelId="{C1F24AD6-3146-44C2-94E1-E57E1306C355}">
      <dgm:prSet custT="1">
        <dgm:style>
          <a:lnRef idx="3">
            <a:schemeClr val="lt1"/>
          </a:lnRef>
          <a:fillRef idx="1">
            <a:schemeClr val="accent5"/>
          </a:fillRef>
          <a:effectRef idx="1">
            <a:schemeClr val="accent5"/>
          </a:effectRef>
          <a:fontRef idx="minor">
            <a:schemeClr val="lt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i="1" dirty="0" smtClean="0">
              <a:solidFill>
                <a:schemeClr val="tx1"/>
              </a:solidFill>
              <a:latin typeface="Times New Roman" pitchFamily="18" charset="0"/>
              <a:cs typeface="Times New Roman" pitchFamily="18" charset="0"/>
            </a:rPr>
            <a:t>Exemption from cost recovery charges shall be </a:t>
          </a:r>
          <a:r>
            <a:rPr lang="en-US" sz="1600" b="1" i="1" dirty="0" smtClean="0">
              <a:solidFill>
                <a:schemeClr val="tx1"/>
              </a:solidFill>
              <a:latin typeface="Times New Roman" pitchFamily="18" charset="0"/>
              <a:cs typeface="Times New Roman" pitchFamily="18" charset="0"/>
            </a:rPr>
            <a:t>prospective </a:t>
          </a:r>
          <a:r>
            <a:rPr lang="en-US" sz="1600" b="0" i="1" dirty="0" smtClean="0">
              <a:solidFill>
                <a:schemeClr val="tx1"/>
              </a:solidFill>
              <a:latin typeface="Times New Roman" pitchFamily="18" charset="0"/>
              <a:cs typeface="Times New Roman" pitchFamily="18" charset="0"/>
            </a:rPr>
            <a:t>&amp;</a:t>
          </a:r>
          <a:r>
            <a:rPr lang="en-US" sz="1600" b="1" i="1" dirty="0" smtClean="0">
              <a:solidFill>
                <a:schemeClr val="tx1"/>
              </a:solidFill>
              <a:latin typeface="Times New Roman" pitchFamily="18" charset="0"/>
              <a:cs typeface="Times New Roman" pitchFamily="18" charset="0"/>
            </a:rPr>
            <a:t> </a:t>
          </a:r>
          <a:r>
            <a:rPr lang="en-US" sz="1600" i="1" dirty="0" smtClean="0">
              <a:solidFill>
                <a:schemeClr val="tx1"/>
              </a:solidFill>
              <a:latin typeface="Times New Roman" pitchFamily="18" charset="0"/>
              <a:cs typeface="Times New Roman" pitchFamily="18" charset="0"/>
            </a:rPr>
            <a:t>No cost recovery charges should be outstanding.</a:t>
          </a:r>
          <a:endParaRPr lang="en-US" sz="1600" i="1" dirty="0">
            <a:solidFill>
              <a:schemeClr val="tx1"/>
            </a:solidFill>
            <a:latin typeface="Times New Roman" pitchFamily="18" charset="0"/>
            <a:cs typeface="Times New Roman" pitchFamily="18" charset="0"/>
          </a:endParaRPr>
        </a:p>
      </dgm:t>
    </dgm:pt>
    <dgm:pt modelId="{D645B311-F94D-45F0-82E1-AA32D867AD30}" type="parTrans" cxnId="{176BDEE5-E005-4223-9FB5-367AE36FD07C}">
      <dgm:prSet/>
      <dgm:spPr/>
      <dgm:t>
        <a:bodyPr/>
        <a:lstStyle/>
        <a:p>
          <a:endParaRPr lang="en-US"/>
        </a:p>
      </dgm:t>
    </dgm:pt>
    <dgm:pt modelId="{C12EB023-6945-42F6-9BF1-084B13BE1018}" type="sibTrans" cxnId="{176BDEE5-E005-4223-9FB5-367AE36FD07C}">
      <dgm:prSet/>
      <dgm:spPr/>
      <dgm:t>
        <a:bodyPr/>
        <a:lstStyle/>
        <a:p>
          <a:endParaRPr lang="en-US"/>
        </a:p>
      </dgm:t>
    </dgm:pt>
    <dgm:pt modelId="{A509D917-A611-4D9C-AE0C-2541FA1F9B8F}" type="pres">
      <dgm:prSet presAssocID="{B8EA99F8-AF62-445D-94D7-18A7C8B8140A}" presName="linear" presStyleCnt="0">
        <dgm:presLayoutVars>
          <dgm:animLvl val="lvl"/>
          <dgm:resizeHandles val="exact"/>
        </dgm:presLayoutVars>
      </dgm:prSet>
      <dgm:spPr/>
      <dgm:t>
        <a:bodyPr/>
        <a:lstStyle/>
        <a:p>
          <a:endParaRPr lang="en-IN"/>
        </a:p>
      </dgm:t>
    </dgm:pt>
    <dgm:pt modelId="{5FB8C081-3AC0-4519-B735-74F14232076E}" type="pres">
      <dgm:prSet presAssocID="{2E8096A0-3C1D-4C31-A107-7AEDE18837C1}" presName="parentText" presStyleLbl="node1" presStyleIdx="0" presStyleCnt="3" custLinFactNeighborY="38302">
        <dgm:presLayoutVars>
          <dgm:chMax val="0"/>
          <dgm:bulletEnabled val="1"/>
        </dgm:presLayoutVars>
      </dgm:prSet>
      <dgm:spPr/>
      <dgm:t>
        <a:bodyPr/>
        <a:lstStyle/>
        <a:p>
          <a:endParaRPr lang="en-IN"/>
        </a:p>
      </dgm:t>
    </dgm:pt>
    <dgm:pt modelId="{672B1753-68BA-4251-92FA-5668F4012832}" type="pres">
      <dgm:prSet presAssocID="{4D2D172B-AFAE-4C2B-8E9C-65716C8029EB}" presName="spacer" presStyleCnt="0"/>
      <dgm:spPr/>
    </dgm:pt>
    <dgm:pt modelId="{FB00B152-EDB6-4F7F-AD0F-50E1D2CF496B}" type="pres">
      <dgm:prSet presAssocID="{C1F24AD6-3146-44C2-94E1-E57E1306C355}" presName="parentText" presStyleLbl="node1" presStyleIdx="1" presStyleCnt="3" custLinFactNeighborY="20994">
        <dgm:presLayoutVars>
          <dgm:chMax val="0"/>
          <dgm:bulletEnabled val="1"/>
        </dgm:presLayoutVars>
      </dgm:prSet>
      <dgm:spPr/>
      <dgm:t>
        <a:bodyPr/>
        <a:lstStyle/>
        <a:p>
          <a:endParaRPr lang="en-IN"/>
        </a:p>
      </dgm:t>
    </dgm:pt>
    <dgm:pt modelId="{E197EDA0-772D-4107-B571-3125CDF5E91F}" type="pres">
      <dgm:prSet presAssocID="{C12EB023-6945-42F6-9BF1-084B13BE1018}" presName="spacer" presStyleCnt="0"/>
      <dgm:spPr/>
    </dgm:pt>
    <dgm:pt modelId="{6E6C2B6C-6939-4B2B-BFE2-4AD1AAC66B0A}" type="pres">
      <dgm:prSet presAssocID="{DC4FB5CA-6877-42FE-92CB-288708A1C2D5}" presName="parentText" presStyleLbl="node1" presStyleIdx="2" presStyleCnt="3">
        <dgm:presLayoutVars>
          <dgm:chMax val="0"/>
          <dgm:bulletEnabled val="1"/>
        </dgm:presLayoutVars>
      </dgm:prSet>
      <dgm:spPr/>
      <dgm:t>
        <a:bodyPr/>
        <a:lstStyle/>
        <a:p>
          <a:endParaRPr lang="en-IN"/>
        </a:p>
      </dgm:t>
    </dgm:pt>
  </dgm:ptLst>
  <dgm:cxnLst>
    <dgm:cxn modelId="{9FB395FE-2235-49AA-9B79-AE6763D48652}" type="presOf" srcId="{C1F24AD6-3146-44C2-94E1-E57E1306C355}" destId="{FB00B152-EDB6-4F7F-AD0F-50E1D2CF496B}" srcOrd="0" destOrd="0" presId="urn:microsoft.com/office/officeart/2005/8/layout/vList2"/>
    <dgm:cxn modelId="{28E8C1C3-B96A-400A-9AC9-59159063EBF9}" type="presOf" srcId="{B8EA99F8-AF62-445D-94D7-18A7C8B8140A}" destId="{A509D917-A611-4D9C-AE0C-2541FA1F9B8F}" srcOrd="0" destOrd="0" presId="urn:microsoft.com/office/officeart/2005/8/layout/vList2"/>
    <dgm:cxn modelId="{5AD34674-AC21-4021-A42A-64751695AEC8}" type="presOf" srcId="{2E8096A0-3C1D-4C31-A107-7AEDE18837C1}" destId="{5FB8C081-3AC0-4519-B735-74F14232076E}" srcOrd="0" destOrd="0" presId="urn:microsoft.com/office/officeart/2005/8/layout/vList2"/>
    <dgm:cxn modelId="{0BD6A1CA-1CB1-4F16-92E8-B967A71476B3}" srcId="{B8EA99F8-AF62-445D-94D7-18A7C8B8140A}" destId="{2E8096A0-3C1D-4C31-A107-7AEDE18837C1}" srcOrd="0" destOrd="0" parTransId="{35F2281B-24C1-41CC-BC57-071C91D9BFA4}" sibTransId="{4D2D172B-AFAE-4C2B-8E9C-65716C8029EB}"/>
    <dgm:cxn modelId="{176BDEE5-E005-4223-9FB5-367AE36FD07C}" srcId="{B8EA99F8-AF62-445D-94D7-18A7C8B8140A}" destId="{C1F24AD6-3146-44C2-94E1-E57E1306C355}" srcOrd="1" destOrd="0" parTransId="{D645B311-F94D-45F0-82E1-AA32D867AD30}" sibTransId="{C12EB023-6945-42F6-9BF1-084B13BE1018}"/>
    <dgm:cxn modelId="{27877920-258E-473E-AE61-CBD546AB315E}" type="presOf" srcId="{DC4FB5CA-6877-42FE-92CB-288708A1C2D5}" destId="{6E6C2B6C-6939-4B2B-BFE2-4AD1AAC66B0A}" srcOrd="0" destOrd="0" presId="urn:microsoft.com/office/officeart/2005/8/layout/vList2"/>
    <dgm:cxn modelId="{3F050AB1-AE75-477F-A22A-39BF28FB8BB8}" srcId="{B8EA99F8-AF62-445D-94D7-18A7C8B8140A}" destId="{DC4FB5CA-6877-42FE-92CB-288708A1C2D5}" srcOrd="2" destOrd="0" parTransId="{126D0CEC-9CE5-48ED-8182-4C974ED02F9E}" sibTransId="{8CB99106-6A1C-4048-BEB3-0522CEA37211}"/>
    <dgm:cxn modelId="{2325461E-48F3-485F-82C9-80F87FF3795C}" type="presParOf" srcId="{A509D917-A611-4D9C-AE0C-2541FA1F9B8F}" destId="{5FB8C081-3AC0-4519-B735-74F14232076E}" srcOrd="0" destOrd="0" presId="urn:microsoft.com/office/officeart/2005/8/layout/vList2"/>
    <dgm:cxn modelId="{27D74E9E-B282-46B4-AFAA-5138BD3A7924}" type="presParOf" srcId="{A509D917-A611-4D9C-AE0C-2541FA1F9B8F}" destId="{672B1753-68BA-4251-92FA-5668F4012832}" srcOrd="1" destOrd="0" presId="urn:microsoft.com/office/officeart/2005/8/layout/vList2"/>
    <dgm:cxn modelId="{DA4F8FE5-41C6-4B18-8D4B-F71D11953053}" type="presParOf" srcId="{A509D917-A611-4D9C-AE0C-2541FA1F9B8F}" destId="{FB00B152-EDB6-4F7F-AD0F-50E1D2CF496B}" srcOrd="2" destOrd="0" presId="urn:microsoft.com/office/officeart/2005/8/layout/vList2"/>
    <dgm:cxn modelId="{F447A225-CB26-44F7-B385-C9E4BB2418DE}" type="presParOf" srcId="{A509D917-A611-4D9C-AE0C-2541FA1F9B8F}" destId="{E197EDA0-772D-4107-B571-3125CDF5E91F}" srcOrd="3" destOrd="0" presId="urn:microsoft.com/office/officeart/2005/8/layout/vList2"/>
    <dgm:cxn modelId="{80CC3BD3-6679-4F96-A57D-F8AEC0783631}" type="presParOf" srcId="{A509D917-A611-4D9C-AE0C-2541FA1F9B8F}" destId="{6E6C2B6C-6939-4B2B-BFE2-4AD1AAC66B0A}" srcOrd="4" destOrd="0" presId="urn:microsoft.com/office/officeart/2005/8/layout/vList2"/>
  </dgm:cxnLst>
  <dgm:bg/>
  <dgm:whole/>
</dgm:dataModel>
</file>

<file path=ppt/diagrams/data2.xml><?xml version="1.0" encoding="utf-8"?>
<dgm:dataModel xmlns:dgm="http://schemas.openxmlformats.org/drawingml/2006/diagram" xmlns:a="http://schemas.openxmlformats.org/drawingml/2006/main">
  <dgm:ptLst>
    <dgm:pt modelId="{CFB5A900-7B22-4335-88FC-1286620C9F8B}"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582605A9-412D-40E6-AD47-50E9702B2BBE}">
      <dgm:prSet phldrT="[Text]" custT="1">
        <dgm:style>
          <a:lnRef idx="3">
            <a:schemeClr val="lt1"/>
          </a:lnRef>
          <a:fillRef idx="1">
            <a:schemeClr val="accent5"/>
          </a:fillRef>
          <a:effectRef idx="1">
            <a:schemeClr val="accent5"/>
          </a:effectRef>
          <a:fontRef idx="minor">
            <a:schemeClr val="lt1"/>
          </a:fontRef>
        </dgm:style>
      </dgm:prSet>
      <dgm:spPr/>
      <dgm:t>
        <a:bodyPr/>
        <a:lstStyle/>
        <a:p>
          <a:pPr algn="just"/>
          <a:r>
            <a:rPr lang="en-US" sz="1600" dirty="0" smtClean="0">
              <a:solidFill>
                <a:schemeClr val="tx1"/>
              </a:solidFill>
              <a:latin typeface="Times New Roman" pitchFamily="18" charset="0"/>
              <a:cs typeface="Times New Roman" pitchFamily="18" charset="0"/>
            </a:rPr>
            <a:t>M/s. EICI  deposited CRC for sanctioned posts </a:t>
          </a:r>
          <a:r>
            <a:rPr lang="en-US" sz="1600" b="1" i="1" dirty="0" smtClean="0">
              <a:solidFill>
                <a:schemeClr val="tx1"/>
              </a:solidFill>
              <a:latin typeface="Times New Roman" pitchFamily="18" charset="0"/>
              <a:cs typeface="Times New Roman" pitchFamily="18" charset="0"/>
            </a:rPr>
            <a:t>only</a:t>
          </a:r>
          <a:r>
            <a:rPr lang="en-US" sz="1600" b="1" dirty="0" smtClean="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cs typeface="Times New Roman" pitchFamily="18" charset="0"/>
            </a:rPr>
            <a:t>for the period </a:t>
          </a:r>
          <a:r>
            <a:rPr lang="en-US" sz="1600" b="1" i="1" dirty="0" smtClean="0">
              <a:solidFill>
                <a:schemeClr val="tx1"/>
              </a:solidFill>
              <a:latin typeface="Times New Roman" pitchFamily="18" charset="0"/>
              <a:cs typeface="Times New Roman" pitchFamily="18" charset="0"/>
            </a:rPr>
            <a:t>1998 to 2011 </a:t>
          </a:r>
          <a:r>
            <a:rPr lang="en-US" sz="1600" dirty="0" smtClean="0">
              <a:solidFill>
                <a:schemeClr val="tx1"/>
              </a:solidFill>
              <a:latin typeface="Times New Roman" pitchFamily="18" charset="0"/>
              <a:cs typeface="Times New Roman" pitchFamily="18" charset="0"/>
            </a:rPr>
            <a:t>and paid MOT Charges for the additional staff deployed over and above the sanctioned strength. </a:t>
          </a:r>
          <a:endParaRPr lang="en-US" sz="1600" dirty="0">
            <a:solidFill>
              <a:schemeClr val="tx1"/>
            </a:solidFill>
            <a:latin typeface="Times New Roman" pitchFamily="18" charset="0"/>
            <a:cs typeface="Times New Roman" pitchFamily="18" charset="0"/>
          </a:endParaRPr>
        </a:p>
      </dgm:t>
    </dgm:pt>
    <dgm:pt modelId="{96590590-9497-4C28-B225-C34801420FD3}" type="parTrans" cxnId="{8F83E36D-BCF0-4694-AE66-2BDDFA512926}">
      <dgm:prSet/>
      <dgm:spPr/>
      <dgm:t>
        <a:bodyPr/>
        <a:lstStyle/>
        <a:p>
          <a:endParaRPr lang="en-US"/>
        </a:p>
      </dgm:t>
    </dgm:pt>
    <dgm:pt modelId="{2F03BC22-5B75-4D5A-A996-1F1100DD8F90}" type="sibTrans" cxnId="{8F83E36D-BCF0-4694-AE66-2BDDFA512926}">
      <dgm:prSet/>
      <dgm:spPr/>
      <dgm:t>
        <a:bodyPr/>
        <a:lstStyle/>
        <a:p>
          <a:endParaRPr lang="en-US"/>
        </a:p>
      </dgm:t>
    </dgm:pt>
    <dgm:pt modelId="{4EC550A3-485F-4511-BD36-D1AE375DB747}">
      <dgm:prSet phldrT="[Text]" custT="1">
        <dgm:style>
          <a:lnRef idx="3">
            <a:schemeClr val="lt1"/>
          </a:lnRef>
          <a:fillRef idx="1">
            <a:schemeClr val="accent5"/>
          </a:fillRef>
          <a:effectRef idx="1">
            <a:schemeClr val="accent5"/>
          </a:effectRef>
          <a:fontRef idx="minor">
            <a:schemeClr val="lt1"/>
          </a:fontRef>
        </dgm:style>
      </dgm:prSet>
      <dgm:spPr/>
      <dgm:t>
        <a:bodyPr/>
        <a:lstStyle/>
        <a:p>
          <a:pPr algn="just"/>
          <a:r>
            <a:rPr lang="en-US" sz="1600" dirty="0" smtClean="0">
              <a:solidFill>
                <a:schemeClr val="tx1"/>
              </a:solidFill>
              <a:latin typeface="Times New Roman" pitchFamily="18" charset="0"/>
              <a:cs typeface="Times New Roman" pitchFamily="18" charset="0"/>
            </a:rPr>
            <a:t>However, CRC is to be recovered for staff </a:t>
          </a:r>
          <a:r>
            <a:rPr lang="en-US" sz="1600" b="1" i="1" dirty="0" smtClean="0">
              <a:solidFill>
                <a:schemeClr val="tx1"/>
              </a:solidFill>
              <a:latin typeface="Times New Roman" pitchFamily="18" charset="0"/>
              <a:cs typeface="Times New Roman" pitchFamily="18" charset="0"/>
            </a:rPr>
            <a:t>actually</a:t>
          </a:r>
          <a:r>
            <a:rPr lang="en-US" sz="1600" dirty="0" smtClean="0">
              <a:solidFill>
                <a:schemeClr val="tx1"/>
              </a:solidFill>
              <a:latin typeface="Times New Roman" pitchFamily="18" charset="0"/>
              <a:cs typeface="Times New Roman" pitchFamily="18" charset="0"/>
            </a:rPr>
            <a:t> deployed </a:t>
          </a:r>
          <a:r>
            <a:rPr lang="en-US" sz="1600" b="1" i="1" dirty="0" smtClean="0">
              <a:solidFill>
                <a:schemeClr val="tx1"/>
              </a:solidFill>
              <a:latin typeface="Times New Roman" pitchFamily="18" charset="0"/>
              <a:cs typeface="Times New Roman" pitchFamily="18" charset="0"/>
            </a:rPr>
            <a:t>irrespective </a:t>
          </a:r>
          <a:r>
            <a:rPr lang="en-US" sz="1600" dirty="0" smtClean="0">
              <a:solidFill>
                <a:schemeClr val="tx1"/>
              </a:solidFill>
              <a:latin typeface="Times New Roman" pitchFamily="18" charset="0"/>
              <a:cs typeface="Times New Roman" pitchFamily="18" charset="0"/>
            </a:rPr>
            <a:t>of sanctioned strength as provisioned under Section 45 of the Customs Act, 1962. Moreover, CRC is to be recovered for period of </a:t>
          </a:r>
          <a:r>
            <a:rPr lang="en-US" sz="1600" b="1" i="1" dirty="0" smtClean="0">
              <a:solidFill>
                <a:schemeClr val="tx1"/>
              </a:solidFill>
              <a:latin typeface="Times New Roman" pitchFamily="18" charset="0"/>
              <a:cs typeface="Times New Roman" pitchFamily="18" charset="0"/>
            </a:rPr>
            <a:t>three months in advance</a:t>
          </a:r>
          <a:r>
            <a:rPr lang="en-US" sz="1600" dirty="0" smtClean="0">
              <a:solidFill>
                <a:schemeClr val="tx1"/>
              </a:solidFill>
              <a:latin typeface="Times New Roman" pitchFamily="18" charset="0"/>
              <a:cs typeface="Times New Roman" pitchFamily="18" charset="0"/>
            </a:rPr>
            <a:t>. </a:t>
          </a:r>
          <a:endParaRPr lang="en-US" sz="1600" dirty="0">
            <a:solidFill>
              <a:schemeClr val="tx1"/>
            </a:solidFill>
            <a:latin typeface="Times New Roman" pitchFamily="18" charset="0"/>
            <a:cs typeface="Times New Roman" pitchFamily="18" charset="0"/>
          </a:endParaRPr>
        </a:p>
      </dgm:t>
    </dgm:pt>
    <dgm:pt modelId="{8D7D6986-95D2-455F-B9DD-7A4DB1CD7D63}" type="parTrans" cxnId="{E47340D5-9DAE-48B3-B687-837F0E3F01BE}">
      <dgm:prSet/>
      <dgm:spPr/>
      <dgm:t>
        <a:bodyPr/>
        <a:lstStyle/>
        <a:p>
          <a:endParaRPr lang="en-US"/>
        </a:p>
      </dgm:t>
    </dgm:pt>
    <dgm:pt modelId="{291F8B80-0FC0-4C81-B957-60D4134D2D3B}" type="sibTrans" cxnId="{E47340D5-9DAE-48B3-B687-837F0E3F01BE}">
      <dgm:prSet/>
      <dgm:spPr/>
      <dgm:t>
        <a:bodyPr/>
        <a:lstStyle/>
        <a:p>
          <a:endParaRPr lang="en-US"/>
        </a:p>
      </dgm:t>
    </dgm:pt>
    <dgm:pt modelId="{2E7F42D1-9BD8-454D-88C7-B5AAA608A905}" type="pres">
      <dgm:prSet presAssocID="{CFB5A900-7B22-4335-88FC-1286620C9F8B}" presName="linear" presStyleCnt="0">
        <dgm:presLayoutVars>
          <dgm:animLvl val="lvl"/>
          <dgm:resizeHandles val="exact"/>
        </dgm:presLayoutVars>
      </dgm:prSet>
      <dgm:spPr/>
      <dgm:t>
        <a:bodyPr/>
        <a:lstStyle/>
        <a:p>
          <a:endParaRPr lang="en-IN"/>
        </a:p>
      </dgm:t>
    </dgm:pt>
    <dgm:pt modelId="{5FC785AF-D312-43E0-BC27-E9A7C309C5E0}" type="pres">
      <dgm:prSet presAssocID="{582605A9-412D-40E6-AD47-50E9702B2BBE}" presName="parentText" presStyleLbl="node1" presStyleIdx="0" presStyleCnt="2">
        <dgm:presLayoutVars>
          <dgm:chMax val="0"/>
          <dgm:bulletEnabled val="1"/>
        </dgm:presLayoutVars>
      </dgm:prSet>
      <dgm:spPr/>
      <dgm:t>
        <a:bodyPr/>
        <a:lstStyle/>
        <a:p>
          <a:endParaRPr lang="en-IN"/>
        </a:p>
      </dgm:t>
    </dgm:pt>
    <dgm:pt modelId="{D3747CE3-EDA0-43A5-A6D6-21AD7BE93388}" type="pres">
      <dgm:prSet presAssocID="{2F03BC22-5B75-4D5A-A996-1F1100DD8F90}" presName="spacer" presStyleCnt="0"/>
      <dgm:spPr/>
      <dgm:t>
        <a:bodyPr/>
        <a:lstStyle/>
        <a:p>
          <a:endParaRPr lang="en-IN"/>
        </a:p>
      </dgm:t>
    </dgm:pt>
    <dgm:pt modelId="{F5384B9F-DC3C-4914-8118-D77235074983}" type="pres">
      <dgm:prSet presAssocID="{4EC550A3-485F-4511-BD36-D1AE375DB747}" presName="parentText" presStyleLbl="node1" presStyleIdx="1" presStyleCnt="2" custLinFactNeighborX="2020" custLinFactNeighborY="-9295">
        <dgm:presLayoutVars>
          <dgm:chMax val="0"/>
          <dgm:bulletEnabled val="1"/>
        </dgm:presLayoutVars>
      </dgm:prSet>
      <dgm:spPr/>
      <dgm:t>
        <a:bodyPr/>
        <a:lstStyle/>
        <a:p>
          <a:endParaRPr lang="en-IN"/>
        </a:p>
      </dgm:t>
    </dgm:pt>
  </dgm:ptLst>
  <dgm:cxnLst>
    <dgm:cxn modelId="{E47340D5-9DAE-48B3-B687-837F0E3F01BE}" srcId="{CFB5A900-7B22-4335-88FC-1286620C9F8B}" destId="{4EC550A3-485F-4511-BD36-D1AE375DB747}" srcOrd="1" destOrd="0" parTransId="{8D7D6986-95D2-455F-B9DD-7A4DB1CD7D63}" sibTransId="{291F8B80-0FC0-4C81-B957-60D4134D2D3B}"/>
    <dgm:cxn modelId="{8F83E36D-BCF0-4694-AE66-2BDDFA512926}" srcId="{CFB5A900-7B22-4335-88FC-1286620C9F8B}" destId="{582605A9-412D-40E6-AD47-50E9702B2BBE}" srcOrd="0" destOrd="0" parTransId="{96590590-9497-4C28-B225-C34801420FD3}" sibTransId="{2F03BC22-5B75-4D5A-A996-1F1100DD8F90}"/>
    <dgm:cxn modelId="{7F43A7F8-76FC-4C77-965A-FBFB71146203}" type="presOf" srcId="{582605A9-412D-40E6-AD47-50E9702B2BBE}" destId="{5FC785AF-D312-43E0-BC27-E9A7C309C5E0}" srcOrd="0" destOrd="0" presId="urn:microsoft.com/office/officeart/2005/8/layout/vList2"/>
    <dgm:cxn modelId="{3B751883-EE7D-4BB3-9B0D-84CEDF25E8A9}" type="presOf" srcId="{CFB5A900-7B22-4335-88FC-1286620C9F8B}" destId="{2E7F42D1-9BD8-454D-88C7-B5AAA608A905}" srcOrd="0" destOrd="0" presId="urn:microsoft.com/office/officeart/2005/8/layout/vList2"/>
    <dgm:cxn modelId="{7452F0A9-76F7-486B-B703-3D4E2C01F29F}" type="presOf" srcId="{4EC550A3-485F-4511-BD36-D1AE375DB747}" destId="{F5384B9F-DC3C-4914-8118-D77235074983}" srcOrd="0" destOrd="0" presId="urn:microsoft.com/office/officeart/2005/8/layout/vList2"/>
    <dgm:cxn modelId="{017B6D57-AFC0-4A76-B906-90B1C8074617}" type="presParOf" srcId="{2E7F42D1-9BD8-454D-88C7-B5AAA608A905}" destId="{5FC785AF-D312-43E0-BC27-E9A7C309C5E0}" srcOrd="0" destOrd="0" presId="urn:microsoft.com/office/officeart/2005/8/layout/vList2"/>
    <dgm:cxn modelId="{2147F1AD-296C-4D12-8A60-E1BB3A8E8D7B}" type="presParOf" srcId="{2E7F42D1-9BD8-454D-88C7-B5AAA608A905}" destId="{D3747CE3-EDA0-43A5-A6D6-21AD7BE93388}" srcOrd="1" destOrd="0" presId="urn:microsoft.com/office/officeart/2005/8/layout/vList2"/>
    <dgm:cxn modelId="{50C96E66-F9BF-4975-A04E-FB7401AEAEF2}" type="presParOf" srcId="{2E7F42D1-9BD8-454D-88C7-B5AAA608A905}" destId="{F5384B9F-DC3C-4914-8118-D77235074983}" srcOrd="2" destOrd="0" presId="urn:microsoft.com/office/officeart/2005/8/layout/vList2"/>
  </dgm:cxnLst>
  <dgm:bg/>
  <dgm:whole/>
</dgm:dataModel>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8" cy="500936"/>
          </a:xfrm>
          <a:prstGeom prst="rect">
            <a:avLst/>
          </a:prstGeom>
        </p:spPr>
        <p:txBody>
          <a:bodyPr vert="horz" lIns="92418" tIns="46209" rIns="92418" bIns="46209" rtlCol="0"/>
          <a:lstStyle>
            <a:lvl1pPr algn="l">
              <a:defRPr sz="1200"/>
            </a:lvl1pPr>
          </a:lstStyle>
          <a:p>
            <a:endParaRPr lang="en-IN"/>
          </a:p>
        </p:txBody>
      </p:sp>
      <p:sp>
        <p:nvSpPr>
          <p:cNvPr id="3" name="Date Placeholder 2"/>
          <p:cNvSpPr>
            <a:spLocks noGrp="1"/>
          </p:cNvSpPr>
          <p:nvPr>
            <p:ph type="dt" sz="quarter" idx="1"/>
          </p:nvPr>
        </p:nvSpPr>
        <p:spPr>
          <a:xfrm>
            <a:off x="3902598" y="0"/>
            <a:ext cx="2985558" cy="500936"/>
          </a:xfrm>
          <a:prstGeom prst="rect">
            <a:avLst/>
          </a:prstGeom>
        </p:spPr>
        <p:txBody>
          <a:bodyPr vert="horz" lIns="92418" tIns="46209" rIns="92418" bIns="46209" rtlCol="0"/>
          <a:lstStyle>
            <a:lvl1pPr algn="r">
              <a:defRPr sz="1200"/>
            </a:lvl1pPr>
          </a:lstStyle>
          <a:p>
            <a:fld id="{2BE3104A-12BC-4CD2-A1E3-946BC312C5AE}" type="datetimeFigureOut">
              <a:rPr lang="en-US" smtClean="0"/>
              <a:pPr/>
              <a:t>6/1/2018</a:t>
            </a:fld>
            <a:endParaRPr lang="en-IN"/>
          </a:p>
        </p:txBody>
      </p:sp>
      <p:sp>
        <p:nvSpPr>
          <p:cNvPr id="4" name="Footer Placeholder 3"/>
          <p:cNvSpPr>
            <a:spLocks noGrp="1"/>
          </p:cNvSpPr>
          <p:nvPr>
            <p:ph type="ftr" sz="quarter" idx="2"/>
          </p:nvPr>
        </p:nvSpPr>
        <p:spPr>
          <a:xfrm>
            <a:off x="1" y="9516038"/>
            <a:ext cx="2985558" cy="500936"/>
          </a:xfrm>
          <a:prstGeom prst="rect">
            <a:avLst/>
          </a:prstGeom>
        </p:spPr>
        <p:txBody>
          <a:bodyPr vert="horz" lIns="92418" tIns="46209" rIns="92418" bIns="46209" rtlCol="0" anchor="b"/>
          <a:lstStyle>
            <a:lvl1pPr algn="l">
              <a:defRPr sz="1200"/>
            </a:lvl1pPr>
          </a:lstStyle>
          <a:p>
            <a:endParaRPr lang="en-IN"/>
          </a:p>
        </p:txBody>
      </p:sp>
      <p:sp>
        <p:nvSpPr>
          <p:cNvPr id="5" name="Slide Number Placeholder 4"/>
          <p:cNvSpPr>
            <a:spLocks noGrp="1"/>
          </p:cNvSpPr>
          <p:nvPr>
            <p:ph type="sldNum" sz="quarter" idx="3"/>
          </p:nvPr>
        </p:nvSpPr>
        <p:spPr>
          <a:xfrm>
            <a:off x="3902598" y="9516038"/>
            <a:ext cx="2985558" cy="500936"/>
          </a:xfrm>
          <a:prstGeom prst="rect">
            <a:avLst/>
          </a:prstGeom>
        </p:spPr>
        <p:txBody>
          <a:bodyPr vert="horz" lIns="92418" tIns="46209" rIns="92418" bIns="46209" rtlCol="0" anchor="b"/>
          <a:lstStyle>
            <a:lvl1pPr algn="r">
              <a:defRPr sz="1200"/>
            </a:lvl1pPr>
          </a:lstStyle>
          <a:p>
            <a:fld id="{F98D95B2-7A22-4787-9D7F-26DA93072EA0}" type="slidenum">
              <a:rPr lang="en-IN" smtClean="0"/>
              <a:pPr/>
              <a:t>‹#›</a:t>
            </a:fld>
            <a:endParaRPr lang="en-IN"/>
          </a:p>
        </p:txBody>
      </p:sp>
    </p:spTree>
    <p:extLst>
      <p:ext uri="{BB962C8B-B14F-4D97-AF65-F5344CB8AC3E}">
        <p14:creationId xmlns="" xmlns:p14="http://schemas.microsoft.com/office/powerpoint/2010/main" val="4173654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8" cy="500936"/>
          </a:xfrm>
          <a:prstGeom prst="rect">
            <a:avLst/>
          </a:prstGeom>
        </p:spPr>
        <p:txBody>
          <a:bodyPr vert="horz" lIns="92418" tIns="46209" rIns="92418" bIns="46209" rtlCol="0"/>
          <a:lstStyle>
            <a:lvl1pPr algn="l">
              <a:defRPr sz="1200"/>
            </a:lvl1pPr>
          </a:lstStyle>
          <a:p>
            <a:endParaRPr lang="en-IN"/>
          </a:p>
        </p:txBody>
      </p:sp>
      <p:sp>
        <p:nvSpPr>
          <p:cNvPr id="3" name="Date Placeholder 2"/>
          <p:cNvSpPr>
            <a:spLocks noGrp="1"/>
          </p:cNvSpPr>
          <p:nvPr>
            <p:ph type="dt" idx="1"/>
          </p:nvPr>
        </p:nvSpPr>
        <p:spPr>
          <a:xfrm>
            <a:off x="3902598" y="0"/>
            <a:ext cx="2985558" cy="500936"/>
          </a:xfrm>
          <a:prstGeom prst="rect">
            <a:avLst/>
          </a:prstGeom>
        </p:spPr>
        <p:txBody>
          <a:bodyPr vert="horz" lIns="92418" tIns="46209" rIns="92418" bIns="46209" rtlCol="0"/>
          <a:lstStyle>
            <a:lvl1pPr algn="r">
              <a:defRPr sz="1200"/>
            </a:lvl1pPr>
          </a:lstStyle>
          <a:p>
            <a:fld id="{EC49884E-2AC0-465C-8B00-5D9C5654B9CC}" type="datetimeFigureOut">
              <a:rPr lang="en-US" smtClean="0"/>
              <a:pPr/>
              <a:t>6/1/2018</a:t>
            </a:fld>
            <a:endParaRPr lang="en-IN"/>
          </a:p>
        </p:txBody>
      </p:sp>
      <p:sp>
        <p:nvSpPr>
          <p:cNvPr id="4" name="Slide Image Placeholder 3"/>
          <p:cNvSpPr>
            <a:spLocks noGrp="1" noRot="1" noChangeAspect="1"/>
          </p:cNvSpPr>
          <p:nvPr>
            <p:ph type="sldImg" idx="2"/>
          </p:nvPr>
        </p:nvSpPr>
        <p:spPr>
          <a:xfrm>
            <a:off x="939800" y="750888"/>
            <a:ext cx="5010150" cy="3757612"/>
          </a:xfrm>
          <a:prstGeom prst="rect">
            <a:avLst/>
          </a:prstGeom>
          <a:noFill/>
          <a:ln w="12700">
            <a:solidFill>
              <a:prstClr val="black"/>
            </a:solidFill>
          </a:ln>
        </p:spPr>
        <p:txBody>
          <a:bodyPr vert="horz" lIns="92418" tIns="46209" rIns="92418" bIns="46209" rtlCol="0" anchor="ctr"/>
          <a:lstStyle/>
          <a:p>
            <a:endParaRPr lang="en-IN"/>
          </a:p>
        </p:txBody>
      </p:sp>
      <p:sp>
        <p:nvSpPr>
          <p:cNvPr id="5" name="Notes Placeholder 4"/>
          <p:cNvSpPr>
            <a:spLocks noGrp="1"/>
          </p:cNvSpPr>
          <p:nvPr>
            <p:ph type="body" sz="quarter" idx="3"/>
          </p:nvPr>
        </p:nvSpPr>
        <p:spPr>
          <a:xfrm>
            <a:off x="688976" y="4758889"/>
            <a:ext cx="5511800" cy="4508421"/>
          </a:xfrm>
          <a:prstGeom prst="rect">
            <a:avLst/>
          </a:prstGeom>
        </p:spPr>
        <p:txBody>
          <a:bodyPr vert="horz" lIns="92418" tIns="46209" rIns="92418" bIns="4620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1" y="9516038"/>
            <a:ext cx="2985558" cy="500936"/>
          </a:xfrm>
          <a:prstGeom prst="rect">
            <a:avLst/>
          </a:prstGeom>
        </p:spPr>
        <p:txBody>
          <a:bodyPr vert="horz" lIns="92418" tIns="46209" rIns="92418" bIns="46209" rtlCol="0" anchor="b"/>
          <a:lstStyle>
            <a:lvl1pPr algn="l">
              <a:defRPr sz="1200"/>
            </a:lvl1pPr>
          </a:lstStyle>
          <a:p>
            <a:endParaRPr lang="en-IN"/>
          </a:p>
        </p:txBody>
      </p:sp>
      <p:sp>
        <p:nvSpPr>
          <p:cNvPr id="7" name="Slide Number Placeholder 6"/>
          <p:cNvSpPr>
            <a:spLocks noGrp="1"/>
          </p:cNvSpPr>
          <p:nvPr>
            <p:ph type="sldNum" sz="quarter" idx="5"/>
          </p:nvPr>
        </p:nvSpPr>
        <p:spPr>
          <a:xfrm>
            <a:off x="3902598" y="9516038"/>
            <a:ext cx="2985558" cy="500936"/>
          </a:xfrm>
          <a:prstGeom prst="rect">
            <a:avLst/>
          </a:prstGeom>
        </p:spPr>
        <p:txBody>
          <a:bodyPr vert="horz" lIns="92418" tIns="46209" rIns="92418" bIns="46209" rtlCol="0" anchor="b"/>
          <a:lstStyle>
            <a:lvl1pPr algn="r">
              <a:defRPr sz="1200"/>
            </a:lvl1pPr>
          </a:lstStyle>
          <a:p>
            <a:fld id="{67E60B98-E70B-4203-9AB1-4A8198AA81AE}" type="slidenum">
              <a:rPr lang="en-IN" smtClean="0"/>
              <a:pPr/>
              <a:t>‹#›</a:t>
            </a:fld>
            <a:endParaRPr lang="en-IN"/>
          </a:p>
        </p:txBody>
      </p:sp>
    </p:spTree>
    <p:extLst>
      <p:ext uri="{BB962C8B-B14F-4D97-AF65-F5344CB8AC3E}">
        <p14:creationId xmlns="" xmlns:p14="http://schemas.microsoft.com/office/powerpoint/2010/main" val="2908921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9DC9323-2F51-4A56-9AC1-DA4587A9D8CF}" type="datetime1">
              <a:rPr lang="en-US" smtClean="0"/>
              <a:pPr/>
              <a:t>6/1/2018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C4500C-2F42-43A1-AC4E-66999B1481F4}" type="datetime1">
              <a:rPr lang="en-US" smtClean="0"/>
              <a:pPr/>
              <a:t>6/1/2018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1AD7F2-6CB1-42C6-9021-D29DE6209327}" type="datetime1">
              <a:rPr lang="en-US" smtClean="0"/>
              <a:pPr/>
              <a:t>6/1/2018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7772F0-5330-4EA7-869E-F253840AAFDF}" type="datetime1">
              <a:rPr lang="en-US" smtClean="0"/>
              <a:pPr/>
              <a:t>6/1/2018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9C1D39E-AA7E-4BB6-A6B9-1AA848D1012E}" type="datetime1">
              <a:rPr lang="en-US" smtClean="0"/>
              <a:pPr/>
              <a:t>6/1/2018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171FE8-09C6-47B8-A9A6-EEB457FC7E38}" type="datetime1">
              <a:rPr lang="en-US" smtClean="0"/>
              <a:pPr/>
              <a:t>6/1/2018</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AAA839-0AAD-4FAD-9DD4-57E647F734F6}" type="datetime1">
              <a:rPr lang="en-US" smtClean="0"/>
              <a:pPr/>
              <a:t>6/1/2018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37DDB8-EC88-4E19-AAA6-EC0D7438ECA9}" type="datetime1">
              <a:rPr lang="en-US" smtClean="0"/>
              <a:pPr/>
              <a:t>6/1/2018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BC8FAD-490E-4317-B61E-4563D5FF319B}" type="datetime1">
              <a:rPr lang="en-US" smtClean="0"/>
              <a:pPr/>
              <a:t>6/1/2018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B5CF7C-6120-4781-87D2-3D1D9ED59AC8}" type="datetime1">
              <a:rPr lang="en-US" smtClean="0"/>
              <a:pPr/>
              <a:t>6/1/2018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66976-ECE8-4894-BF7E-15833DEDD5C8}" type="datetime1">
              <a:rPr lang="en-US" smtClean="0"/>
              <a:pPr/>
              <a:t>6/1/2018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219D3-AEA3-4CD9-AB83-E36069E32E9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93000"/>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8A97E-C5F8-4A65-9A14-C5326BD83930}" type="datetime1">
              <a:rPr lang="en-US" smtClean="0"/>
              <a:pPr/>
              <a:t>6/1/2018</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3219D3-AEA3-4CD9-AB83-E36069E32E9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67200" y="4572000"/>
            <a:ext cx="4648200" cy="1371600"/>
          </a:xfrm>
          <a:solidFill>
            <a:srgbClr val="00B0F0">
              <a:alpha val="76000"/>
            </a:srgbClr>
          </a:solidFill>
          <a:ln w="19050">
            <a:solidFill>
              <a:schemeClr val="tx1"/>
            </a:solidFill>
          </a:ln>
        </p:spPr>
        <p:txBody>
          <a:bodyPr>
            <a:normAutofit fontScale="40000" lnSpcReduction="20000"/>
          </a:bodyPr>
          <a:lstStyle/>
          <a:p>
            <a:pPr>
              <a:buNone/>
            </a:pPr>
            <a:r>
              <a:rPr lang="en-IN" dirty="0" smtClean="0"/>
              <a:t>                                   </a:t>
            </a:r>
          </a:p>
          <a:p>
            <a:pPr>
              <a:buNone/>
            </a:pPr>
            <a:r>
              <a:rPr lang="en-IN" dirty="0" smtClean="0">
                <a:latin typeface="Baskerville Old Face" pitchFamily="18" charset="0"/>
              </a:rPr>
              <a:t> </a:t>
            </a:r>
          </a:p>
          <a:p>
            <a:pPr lvl="0" algn="r">
              <a:buNone/>
            </a:pPr>
            <a:r>
              <a:rPr lang="en-IN" sz="3400" b="1" dirty="0" smtClean="0">
                <a:latin typeface="Baskerville Old Face" pitchFamily="18" charset="0"/>
              </a:rPr>
              <a:t>DIRECTORATE GENERAL </a:t>
            </a:r>
          </a:p>
          <a:p>
            <a:pPr lvl="0" algn="r">
              <a:buNone/>
            </a:pPr>
            <a:r>
              <a:rPr lang="en-IN" sz="3400" b="1" dirty="0" smtClean="0">
                <a:latin typeface="Baskerville Old Face" pitchFamily="18" charset="0"/>
              </a:rPr>
              <a:t>OF  HUMAN  RESOURCE  DEVELOPMENT </a:t>
            </a:r>
          </a:p>
          <a:p>
            <a:pPr lvl="0" algn="r">
              <a:buNone/>
            </a:pPr>
            <a:r>
              <a:rPr lang="en-IN" b="1" dirty="0">
                <a:solidFill>
                  <a:srgbClr val="FF0000"/>
                </a:solidFill>
                <a:latin typeface="Baskerville Old Face" pitchFamily="18" charset="0"/>
              </a:rPr>
              <a:t>(</a:t>
            </a:r>
            <a:r>
              <a:rPr lang="en-IN" b="1" dirty="0" smtClean="0">
                <a:solidFill>
                  <a:srgbClr val="FF0000"/>
                </a:solidFill>
                <a:latin typeface="Baskerville Old Face" pitchFamily="18" charset="0"/>
              </a:rPr>
              <a:t> </a:t>
            </a:r>
            <a:r>
              <a:rPr lang="en-IN" dirty="0" smtClean="0">
                <a:solidFill>
                  <a:srgbClr val="FF0000"/>
                </a:solidFill>
                <a:latin typeface="Baskerville Old Face" pitchFamily="18" charset="0"/>
              </a:rPr>
              <a:t>DGHRD)</a:t>
            </a:r>
            <a:endParaRPr lang="en-IN" b="1" dirty="0" smtClean="0">
              <a:solidFill>
                <a:srgbClr val="FF0000"/>
              </a:solidFill>
              <a:latin typeface="Baskerville Old Face" pitchFamily="18" charset="0"/>
            </a:endParaRPr>
          </a:p>
          <a:p>
            <a:pPr lvl="0">
              <a:buNone/>
            </a:pPr>
            <a:r>
              <a:rPr lang="en-IN" b="1" dirty="0" smtClean="0"/>
              <a:t>  </a:t>
            </a:r>
          </a:p>
          <a:p>
            <a:pPr>
              <a:buNone/>
            </a:pPr>
            <a:endParaRPr lang="en-IN" dirty="0" smtClean="0"/>
          </a:p>
          <a:p>
            <a:pPr>
              <a:buNone/>
            </a:pPr>
            <a:endParaRPr lang="en-IN" dirty="0"/>
          </a:p>
        </p:txBody>
      </p:sp>
      <p:sp>
        <p:nvSpPr>
          <p:cNvPr id="4" name="Date Placeholder 3"/>
          <p:cNvSpPr>
            <a:spLocks noGrp="1"/>
          </p:cNvSpPr>
          <p:nvPr>
            <p:ph type="dt" sz="half" idx="10"/>
          </p:nvPr>
        </p:nvSpPr>
        <p:spPr/>
        <p:txBody>
          <a:bodyPr/>
          <a:lstStyle/>
          <a:p>
            <a:fld id="{8E45DFC3-CD8E-4FBB-913A-D148880A4DD4}" type="datetime1">
              <a:rPr lang="en-US" smtClean="0"/>
              <a:pPr/>
              <a:t>6/1/2018</a:t>
            </a:fld>
            <a:endParaRPr lang="en-IN"/>
          </a:p>
        </p:txBody>
      </p:sp>
      <p:sp>
        <p:nvSpPr>
          <p:cNvPr id="8" name="Slide Number Placeholder 7"/>
          <p:cNvSpPr>
            <a:spLocks noGrp="1"/>
          </p:cNvSpPr>
          <p:nvPr>
            <p:ph type="sldNum" sz="quarter" idx="12"/>
          </p:nvPr>
        </p:nvSpPr>
        <p:spPr/>
        <p:txBody>
          <a:bodyPr/>
          <a:lstStyle/>
          <a:p>
            <a:fld id="{093219D3-AEA3-4CD9-AB83-E36069E32E92}" type="slidenum">
              <a:rPr lang="en-IN" smtClean="0"/>
              <a:pPr/>
              <a:t>1</a:t>
            </a:fld>
            <a:endParaRPr lang="en-IN"/>
          </a:p>
        </p:txBody>
      </p:sp>
      <p:sp>
        <p:nvSpPr>
          <p:cNvPr id="6" name="Rectangle 5"/>
          <p:cNvSpPr/>
          <p:nvPr/>
        </p:nvSpPr>
        <p:spPr>
          <a:xfrm>
            <a:off x="381000" y="2133600"/>
            <a:ext cx="8305800" cy="584775"/>
          </a:xfrm>
          <a:prstGeom prst="rect">
            <a:avLst/>
          </a:prstGeom>
          <a:solidFill>
            <a:schemeClr val="tx2">
              <a:lumMod val="40000"/>
              <a:lumOff val="60000"/>
            </a:schemeClr>
          </a:solidFill>
          <a:ln w="19050">
            <a:solidFill>
              <a:schemeClr val="accent4">
                <a:lumMod val="75000"/>
              </a:schemeClr>
            </a:solidFill>
          </a:ln>
        </p:spPr>
        <p:txBody>
          <a:bodyPr wrap="square">
            <a:spAutoFit/>
          </a:bodyPr>
          <a:lstStyle/>
          <a:p>
            <a:pPr marL="342900" lvl="0" indent="-342900">
              <a:spcBef>
                <a:spcPct val="20000"/>
              </a:spcBef>
            </a:pPr>
            <a:r>
              <a:rPr lang="en-IN" sz="3200" b="1" dirty="0" smtClean="0">
                <a:solidFill>
                  <a:srgbClr val="FF0000"/>
                </a:solidFill>
                <a:latin typeface="Baskerville Old Face" pitchFamily="18" charset="0"/>
              </a:rPr>
              <a:t>		</a:t>
            </a:r>
            <a:r>
              <a:rPr lang="en-IN" sz="3200" b="1" dirty="0" smtClean="0">
                <a:solidFill>
                  <a:srgbClr val="FF0000"/>
                </a:solidFill>
                <a:latin typeface="Baskerville Old Face" pitchFamily="18" charset="0"/>
              </a:rPr>
              <a:t>  COST RECOVERY BASIS (CRB)</a:t>
            </a:r>
            <a:endParaRPr lang="en-IN" sz="3200" b="1" dirty="0" smtClean="0">
              <a:solidFill>
                <a:srgbClr val="FF0000"/>
              </a:solidFill>
              <a:latin typeface="Baskerville Old Face" pitchFamily="18" charset="0"/>
            </a:endParaRPr>
          </a:p>
        </p:txBody>
      </p:sp>
      <p:sp>
        <p:nvSpPr>
          <p:cNvPr id="7" name="Rectangle 6"/>
          <p:cNvSpPr/>
          <p:nvPr/>
        </p:nvSpPr>
        <p:spPr>
          <a:xfrm>
            <a:off x="7086600" y="2201575"/>
            <a:ext cx="1719445" cy="584775"/>
          </a:xfrm>
          <a:prstGeom prst="rect">
            <a:avLst/>
          </a:prstGeom>
        </p:spPr>
        <p:txBody>
          <a:bodyPr wrap="square">
            <a:spAutoFit/>
          </a:bodyPr>
          <a:lstStyle/>
          <a:p>
            <a:r>
              <a:rPr lang="en-IN" sz="3200" dirty="0" smtClean="0">
                <a:solidFill>
                  <a:srgbClr val="FF0000"/>
                </a:solidFill>
                <a:latin typeface="Baskerville Old Face" pitchFamily="18" charset="0"/>
              </a:rPr>
              <a:t> </a:t>
            </a:r>
            <a:endParaRPr lang="en-IN" dirty="0"/>
          </a:p>
        </p:txBody>
      </p:sp>
      <p:pic>
        <p:nvPicPr>
          <p:cNvPr id="9" name="Picture 8" descr="Emblem"/>
          <p:cNvPicPr/>
          <p:nvPr/>
        </p:nvPicPr>
        <p:blipFill>
          <a:blip r:embed="rId2">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7239000" y="381000"/>
            <a:ext cx="1219200" cy="1295400"/>
          </a:xfrm>
          <a:prstGeom prst="rect">
            <a:avLst/>
          </a:prstGeom>
          <a:noFill/>
          <a:extLst/>
        </p:spPr>
      </p:pic>
      <p:pic>
        <p:nvPicPr>
          <p:cNvPr id="10" name="Picture 9" descr="C:\Users\Administrator\Downloads\IMG-20180511-WA0016.jpg"/>
          <p:cNvPicPr/>
          <p:nvPr/>
        </p:nvPicPr>
        <p:blipFill>
          <a:blip r:embed="rId3" cstate="print"/>
          <a:srcRect/>
          <a:stretch>
            <a:fillRect/>
          </a:stretch>
        </p:blipFill>
        <p:spPr bwMode="auto">
          <a:xfrm>
            <a:off x="762000" y="533400"/>
            <a:ext cx="996950" cy="1181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914400" y="274638"/>
            <a:ext cx="6553200" cy="944562"/>
          </a:xfrm>
          <a:solidFill>
            <a:schemeClr val="tx2">
              <a:lumMod val="40000"/>
              <a:lumOff val="60000"/>
            </a:schemeClr>
          </a:solidFill>
        </p:spPr>
        <p:txBody>
          <a:bodyPr/>
          <a:lstStyle/>
          <a:p>
            <a:r>
              <a:rPr lang="en-US" dirty="0" smtClean="0"/>
              <a:t>COST RECOVERY POSTS </a:t>
            </a:r>
            <a:endParaRPr lang="en-US" dirty="0"/>
          </a:p>
        </p:txBody>
      </p:sp>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2</a:t>
            </a:fld>
            <a:endParaRPr lang="en-IN"/>
          </a:p>
        </p:txBody>
      </p:sp>
      <p:sp>
        <p:nvSpPr>
          <p:cNvPr id="6" name="Rectangle 5"/>
          <p:cNvSpPr/>
          <p:nvPr/>
        </p:nvSpPr>
        <p:spPr>
          <a:xfrm>
            <a:off x="1066800" y="2971800"/>
            <a:ext cx="25908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FUNCTION OF CRB CELL</a:t>
            </a:r>
            <a:endParaRPr lang="en-US" sz="1600" dirty="0">
              <a:solidFill>
                <a:schemeClr val="tx1"/>
              </a:solidFill>
            </a:endParaRPr>
          </a:p>
        </p:txBody>
      </p:sp>
      <p:sp>
        <p:nvSpPr>
          <p:cNvPr id="7" name="Rectangle 6"/>
          <p:cNvSpPr/>
          <p:nvPr/>
        </p:nvSpPr>
        <p:spPr>
          <a:xfrm>
            <a:off x="6248400" y="1600200"/>
            <a:ext cx="19050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CREATION OF POSTS</a:t>
            </a:r>
            <a:endParaRPr lang="en-US" sz="1600" dirty="0">
              <a:solidFill>
                <a:schemeClr val="tx1"/>
              </a:solidFill>
            </a:endParaRPr>
          </a:p>
        </p:txBody>
      </p:sp>
      <p:sp>
        <p:nvSpPr>
          <p:cNvPr id="8" name="Rectangle 7"/>
          <p:cNvSpPr/>
          <p:nvPr/>
        </p:nvSpPr>
        <p:spPr>
          <a:xfrm>
            <a:off x="6248400" y="4495800"/>
            <a:ext cx="19812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EXEMPTION OF CRC &amp; REGULARISATION OF POSTS</a:t>
            </a:r>
            <a:endParaRPr lang="en-US" sz="1600" dirty="0">
              <a:solidFill>
                <a:schemeClr val="tx1"/>
              </a:solidFill>
            </a:endParaRPr>
          </a:p>
        </p:txBody>
      </p:sp>
      <p:sp>
        <p:nvSpPr>
          <p:cNvPr id="9" name="Rectangle 8"/>
          <p:cNvSpPr/>
          <p:nvPr/>
        </p:nvSpPr>
        <p:spPr>
          <a:xfrm>
            <a:off x="6248400" y="2971800"/>
            <a:ext cx="19050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CONTINUATION OF POSTS</a:t>
            </a:r>
            <a:endParaRPr lang="en-US" sz="1600" dirty="0">
              <a:solidFill>
                <a:schemeClr val="tx1"/>
              </a:solidFill>
            </a:endParaRPr>
          </a:p>
        </p:txBody>
      </p:sp>
      <p:sp>
        <p:nvSpPr>
          <p:cNvPr id="15" name="Bent Arrow 14"/>
          <p:cNvSpPr/>
          <p:nvPr/>
        </p:nvSpPr>
        <p:spPr>
          <a:xfrm>
            <a:off x="4724400" y="1828800"/>
            <a:ext cx="1524000" cy="1447800"/>
          </a:xfrm>
          <a:prstGeom prst="bentArrow">
            <a:avLst>
              <a:gd name="adj1" fmla="val 28769"/>
              <a:gd name="adj2" fmla="val 20315"/>
              <a:gd name="adj3" fmla="val 26300"/>
              <a:gd name="adj4" fmla="val 1910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19" name="Right Arrow 18"/>
          <p:cNvSpPr/>
          <p:nvPr/>
        </p:nvSpPr>
        <p:spPr>
          <a:xfrm>
            <a:off x="3657600" y="3048000"/>
            <a:ext cx="2590800" cy="78943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Rectangle 10"/>
          <p:cNvSpPr/>
          <p:nvPr/>
        </p:nvSpPr>
        <p:spPr>
          <a:xfrm>
            <a:off x="4292917" y="3244334"/>
            <a:ext cx="558166" cy="369332"/>
          </a:xfrm>
          <a:prstGeom prst="rect">
            <a:avLst/>
          </a:prstGeom>
        </p:spPr>
        <p:txBody>
          <a:bodyPr wrap="none">
            <a:spAutoFit/>
          </a:bodyPr>
          <a:lstStyle/>
          <a:p>
            <a:r>
              <a:rPr lang="en-US" dirty="0" smtClean="0"/>
              <a:t>CRB</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19800"/>
          </a:xfrm>
        </p:spPr>
        <p:txBody>
          <a:bodyPr>
            <a:normAutofit/>
          </a:bodyPr>
          <a:lstStyle/>
          <a:p>
            <a:pPr algn="ctr">
              <a:buNone/>
            </a:pPr>
            <a:r>
              <a:rPr lang="en-US" sz="2000" b="1" dirty="0" smtClean="0">
                <a:ln w="10541" cmpd="sng">
                  <a:solidFill>
                    <a:srgbClr val="7D7D7D">
                      <a:tint val="100000"/>
                      <a:shade val="100000"/>
                      <a:satMod val="110000"/>
                    </a:srgbClr>
                  </a:solidFill>
                  <a:prstDash val="solid"/>
                </a:ln>
                <a:latin typeface="Times New Roman" pitchFamily="18" charset="0"/>
                <a:cs typeface="Times New Roman" pitchFamily="18" charset="0"/>
              </a:rPr>
              <a:t>PROCEDURE FOR SETTING UP OF CUSTOMS FACILITIES</a:t>
            </a:r>
            <a:endParaRPr lang="en-US" sz="2000" b="1" dirty="0">
              <a:ln w="10541" cmpd="sng">
                <a:solidFill>
                  <a:srgbClr val="7D7D7D">
                    <a:tint val="100000"/>
                    <a:shade val="100000"/>
                    <a:satMod val="110000"/>
                  </a:srgbClr>
                </a:solidFill>
                <a:prstDash val="solid"/>
              </a:ln>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3</a:t>
            </a:fld>
            <a:endParaRPr lang="en-IN"/>
          </a:p>
        </p:txBody>
      </p:sp>
      <p:sp>
        <p:nvSpPr>
          <p:cNvPr id="6" name="Rectangle 5"/>
          <p:cNvSpPr/>
          <p:nvPr/>
        </p:nvSpPr>
        <p:spPr>
          <a:xfrm>
            <a:off x="1066800" y="990600"/>
            <a:ext cx="6934200" cy="11430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Ministry of Commerce to issue </a:t>
            </a:r>
            <a:r>
              <a:rPr lang="en-US" sz="1600" b="1" dirty="0" smtClean="0">
                <a:solidFill>
                  <a:srgbClr val="FFFF00"/>
                </a:solidFill>
              </a:rPr>
              <a:t>Letter of Intent</a:t>
            </a:r>
            <a:r>
              <a:rPr lang="en-US" sz="1600" dirty="0" smtClean="0">
                <a:solidFill>
                  <a:schemeClr val="tx1"/>
                </a:solidFill>
              </a:rPr>
              <a:t> for development of necessary Infrastructure  of ICD/ CFS.</a:t>
            </a:r>
            <a:endParaRPr lang="en-US" sz="1600" dirty="0">
              <a:solidFill>
                <a:schemeClr val="tx1"/>
              </a:solidFill>
            </a:endParaRPr>
          </a:p>
        </p:txBody>
      </p:sp>
      <p:sp>
        <p:nvSpPr>
          <p:cNvPr id="8" name="Rectangle 7"/>
          <p:cNvSpPr/>
          <p:nvPr/>
        </p:nvSpPr>
        <p:spPr>
          <a:xfrm>
            <a:off x="762000" y="2667000"/>
            <a:ext cx="7467600" cy="7620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CBIC to issue  Notification under </a:t>
            </a:r>
            <a:r>
              <a:rPr lang="en-US" sz="1600" b="1" dirty="0" smtClean="0">
                <a:solidFill>
                  <a:srgbClr val="FFFF00"/>
                </a:solidFill>
              </a:rPr>
              <a:t>Section 7 (1) (</a:t>
            </a:r>
            <a:r>
              <a:rPr lang="en-US" sz="1600" b="1" dirty="0" err="1" smtClean="0">
                <a:solidFill>
                  <a:srgbClr val="FFFF00"/>
                </a:solidFill>
              </a:rPr>
              <a:t>aa</a:t>
            </a:r>
            <a:r>
              <a:rPr lang="en-US" sz="1600" b="1" dirty="0" smtClean="0">
                <a:solidFill>
                  <a:srgbClr val="FFFF00"/>
                </a:solidFill>
              </a:rPr>
              <a:t>) of Customs Act, 1962 </a:t>
            </a:r>
            <a:r>
              <a:rPr lang="en-US" sz="1600" dirty="0" smtClean="0">
                <a:solidFill>
                  <a:schemeClr val="tx1"/>
                </a:solidFill>
              </a:rPr>
              <a:t>declaring a place for unloading of imported goods and loading of export goods</a:t>
            </a:r>
            <a:r>
              <a:rPr lang="en-US" dirty="0" smtClean="0">
                <a:solidFill>
                  <a:schemeClr val="tx1"/>
                </a:solidFill>
              </a:rPr>
              <a:t>.</a:t>
            </a:r>
            <a:endParaRPr lang="en-US" dirty="0">
              <a:solidFill>
                <a:schemeClr val="tx1"/>
              </a:solidFill>
            </a:endParaRPr>
          </a:p>
        </p:txBody>
      </p:sp>
      <p:sp>
        <p:nvSpPr>
          <p:cNvPr id="9" name="Rectangle 8"/>
          <p:cNvSpPr/>
          <p:nvPr/>
        </p:nvSpPr>
        <p:spPr>
          <a:xfrm>
            <a:off x="1600200" y="3962400"/>
            <a:ext cx="5486400" cy="6858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Sanction of posts on cost recovery basis by DGHRD</a:t>
            </a:r>
            <a:r>
              <a:rPr lang="en-US" dirty="0" smtClean="0">
                <a:solidFill>
                  <a:schemeClr val="tx1"/>
                </a:solidFill>
              </a:rPr>
              <a:t>.</a:t>
            </a:r>
            <a:endParaRPr lang="en-US" dirty="0">
              <a:solidFill>
                <a:schemeClr val="tx1"/>
              </a:solidFill>
            </a:endParaRPr>
          </a:p>
        </p:txBody>
      </p:sp>
      <p:sp>
        <p:nvSpPr>
          <p:cNvPr id="10" name="Rectangle 9"/>
          <p:cNvSpPr/>
          <p:nvPr/>
        </p:nvSpPr>
        <p:spPr>
          <a:xfrm>
            <a:off x="685800" y="5257800"/>
            <a:ext cx="78486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smtClean="0">
                <a:solidFill>
                  <a:schemeClr val="tx1"/>
                </a:solidFill>
              </a:rPr>
              <a:t>The jurisdictional Commissioner to issue Notifications under </a:t>
            </a:r>
            <a:r>
              <a:rPr lang="en-US" sz="1600" b="1" dirty="0" smtClean="0">
                <a:solidFill>
                  <a:srgbClr val="FFFF00"/>
                </a:solidFill>
              </a:rPr>
              <a:t>Section 8 &amp; 45 of the Customs Act, 1962 </a:t>
            </a:r>
            <a:r>
              <a:rPr lang="en-US" sz="1600" dirty="0" smtClean="0">
                <a:solidFill>
                  <a:schemeClr val="tx1"/>
                </a:solidFill>
              </a:rPr>
              <a:t>and to issue Notification for Commencement of Customs facility.</a:t>
            </a:r>
            <a:endParaRPr lang="en-US" sz="1600" dirty="0">
              <a:solidFill>
                <a:schemeClr val="tx1"/>
              </a:solidFill>
            </a:endParaRPr>
          </a:p>
        </p:txBody>
      </p:sp>
      <p:sp>
        <p:nvSpPr>
          <p:cNvPr id="11" name="Down Arrow 10"/>
          <p:cNvSpPr/>
          <p:nvPr/>
        </p:nvSpPr>
        <p:spPr>
          <a:xfrm>
            <a:off x="4114800" y="2133600"/>
            <a:ext cx="484632" cy="533400"/>
          </a:xfrm>
          <a:prstGeom prst="downArrow">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Down Arrow 12"/>
          <p:cNvSpPr/>
          <p:nvPr/>
        </p:nvSpPr>
        <p:spPr>
          <a:xfrm>
            <a:off x="4114800" y="3276600"/>
            <a:ext cx="457200" cy="685800"/>
          </a:xfrm>
          <a:prstGeom prst="downArrow">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Down Arrow 13"/>
          <p:cNvSpPr/>
          <p:nvPr/>
        </p:nvSpPr>
        <p:spPr>
          <a:xfrm>
            <a:off x="4114800" y="4648200"/>
            <a:ext cx="484632" cy="609600"/>
          </a:xfrm>
          <a:prstGeom prst="downArrow">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533400"/>
            <a:ext cx="4800600" cy="838200"/>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5"/>
          </a:fillRef>
          <a:effectRef idx="1">
            <a:schemeClr val="accent5"/>
          </a:effectRef>
          <a:fontRef idx="minor">
            <a:schemeClr val="lt1"/>
          </a:fontRef>
        </p:style>
        <p:txBody>
          <a:bodyPr>
            <a:noAutofit/>
          </a:bodyPr>
          <a:lstStyle/>
          <a:p>
            <a:pPr lvl="0"/>
            <a:r>
              <a:rPr lang="en-US" sz="2400" b="1" dirty="0" smtClean="0">
                <a:solidFill>
                  <a:schemeClr val="tx1"/>
                </a:solidFill>
                <a:latin typeface="Times New Roman" pitchFamily="18" charset="0"/>
                <a:cs typeface="Times New Roman" pitchFamily="18" charset="0"/>
              </a:rPr>
              <a:t>STAFFING NORMS</a:t>
            </a:r>
            <a:endParaRPr lang="en-US" sz="2400" b="1" dirty="0">
              <a:solidFill>
                <a:schemeClr val="tx1"/>
              </a:solidFill>
              <a:latin typeface="Times New Roman" pitchFamily="18" charset="0"/>
              <a:cs typeface="Times New Roman" pitchFamily="18" charset="0"/>
            </a:endParaRPr>
          </a:p>
        </p:txBody>
      </p:sp>
      <p:graphicFrame>
        <p:nvGraphicFramePr>
          <p:cNvPr id="7" name="Content Placeholder 6"/>
          <p:cNvGraphicFramePr>
            <a:graphicFrameLocks noGrp="1"/>
          </p:cNvGraphicFramePr>
          <p:nvPr>
            <p:ph idx="1"/>
          </p:nvPr>
        </p:nvGraphicFramePr>
        <p:xfrm>
          <a:off x="1066800" y="1953314"/>
          <a:ext cx="6857999" cy="3072718"/>
        </p:xfrm>
        <a:graphic>
          <a:graphicData uri="http://schemas.openxmlformats.org/drawingml/2006/table">
            <a:tbl>
              <a:tblPr firstRow="1" bandRow="1">
                <a:tableStyleId>{7DF18680-E054-41AD-8BC1-D1AEF772440D}</a:tableStyleId>
              </a:tblPr>
              <a:tblGrid>
                <a:gridCol w="880845"/>
                <a:gridCol w="1195431"/>
                <a:gridCol w="1352724"/>
                <a:gridCol w="914400"/>
                <a:gridCol w="762000"/>
                <a:gridCol w="990600"/>
                <a:gridCol w="761999"/>
              </a:tblGrid>
              <a:tr h="687570">
                <a:tc>
                  <a:txBody>
                    <a:bodyPr/>
                    <a:lstStyle/>
                    <a:p>
                      <a:pPr marL="0" marR="0" algn="ctr">
                        <a:lnSpc>
                          <a:spcPct val="115000"/>
                        </a:lnSpc>
                        <a:spcBef>
                          <a:spcPts val="0"/>
                        </a:spcBef>
                        <a:spcAft>
                          <a:spcPts val="1000"/>
                        </a:spcAft>
                      </a:pPr>
                      <a:r>
                        <a:rPr lang="en-US" sz="1400" dirty="0">
                          <a:solidFill>
                            <a:schemeClr val="tx1"/>
                          </a:solidFill>
                        </a:rPr>
                        <a:t>Customs Facility</a:t>
                      </a:r>
                      <a:endParaRPr lang="en-US" sz="140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1000"/>
                        </a:spcAft>
                      </a:pPr>
                      <a:r>
                        <a:rPr lang="en-US" sz="1400" dirty="0">
                          <a:solidFill>
                            <a:schemeClr val="tx1"/>
                          </a:solidFill>
                        </a:rPr>
                        <a:t>Dy./Asst. Commissioner</a:t>
                      </a:r>
                      <a:endParaRPr lang="en-US" sz="140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1000"/>
                        </a:spcAft>
                      </a:pPr>
                      <a:r>
                        <a:rPr lang="en-US" sz="1400" dirty="0">
                          <a:solidFill>
                            <a:schemeClr val="tx1"/>
                          </a:solidFill>
                        </a:rPr>
                        <a:t>Appraiser/ Superintendent</a:t>
                      </a:r>
                      <a:endParaRPr lang="en-US" sz="140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solidFill>
                            <a:schemeClr val="tx1"/>
                          </a:solidFill>
                        </a:rPr>
                        <a:t>Inspector</a:t>
                      </a:r>
                      <a:endParaRPr lang="en-US" sz="140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1000"/>
                        </a:spcAft>
                      </a:pPr>
                      <a:r>
                        <a:rPr lang="en-US" sz="1400" dirty="0">
                          <a:solidFill>
                            <a:schemeClr val="tx1"/>
                          </a:solidFill>
                        </a:rPr>
                        <a:t>EA/TA</a:t>
                      </a:r>
                      <a:endParaRPr lang="en-US" sz="140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1000"/>
                        </a:spcAft>
                      </a:pPr>
                      <a:r>
                        <a:rPr lang="en-US" sz="1400" dirty="0" err="1">
                          <a:solidFill>
                            <a:schemeClr val="tx1"/>
                          </a:solidFill>
                        </a:rPr>
                        <a:t>Havaldar</a:t>
                      </a:r>
                      <a:r>
                        <a:rPr lang="en-US" sz="1400" dirty="0">
                          <a:solidFill>
                            <a:schemeClr val="tx1"/>
                          </a:solidFill>
                        </a:rPr>
                        <a:t> </a:t>
                      </a:r>
                      <a:endParaRPr lang="en-US" sz="1400" dirty="0">
                        <a:solidFill>
                          <a:schemeClr val="tx1"/>
                        </a:solidFill>
                        <a:latin typeface="Calibri"/>
                        <a:ea typeface="Times New Roman"/>
                        <a:cs typeface="Mangal"/>
                      </a:endParaRPr>
                    </a:p>
                  </a:txBody>
                  <a:tcPr marL="68580" marR="68580" marT="0" marB="0"/>
                </a:tc>
                <a:tc>
                  <a:txBody>
                    <a:bodyPr/>
                    <a:lstStyle/>
                    <a:p>
                      <a:pPr marL="3108960" marR="0" indent="-3108960" algn="ctr">
                        <a:lnSpc>
                          <a:spcPct val="115000"/>
                        </a:lnSpc>
                        <a:spcBef>
                          <a:spcPts val="0"/>
                        </a:spcBef>
                        <a:spcAft>
                          <a:spcPts val="1000"/>
                        </a:spcAft>
                      </a:pPr>
                      <a:r>
                        <a:rPr lang="en-US" sz="1400" dirty="0">
                          <a:solidFill>
                            <a:schemeClr val="tx1"/>
                          </a:solidFill>
                        </a:rPr>
                        <a:t>Total</a:t>
                      </a:r>
                      <a:endParaRPr lang="en-US" sz="1400" dirty="0">
                        <a:solidFill>
                          <a:schemeClr val="tx1"/>
                        </a:solidFill>
                        <a:latin typeface="Calibri"/>
                        <a:ea typeface="Times New Roman"/>
                        <a:cs typeface="Mangal"/>
                      </a:endParaRPr>
                    </a:p>
                  </a:txBody>
                  <a:tcPr marL="68580" marR="68580" marT="0" marB="0"/>
                </a:tc>
              </a:tr>
              <a:tr h="379764">
                <a:tc>
                  <a:txBody>
                    <a:bodyPr/>
                    <a:lstStyle/>
                    <a:p>
                      <a:pPr marL="0" marR="0">
                        <a:lnSpc>
                          <a:spcPct val="115000"/>
                        </a:lnSpc>
                        <a:spcBef>
                          <a:spcPts val="0"/>
                        </a:spcBef>
                        <a:spcAft>
                          <a:spcPts val="0"/>
                        </a:spcAft>
                      </a:pPr>
                      <a:r>
                        <a:rPr lang="en-US" sz="1400" dirty="0"/>
                        <a:t>ICDs/ </a:t>
                      </a:r>
                      <a:r>
                        <a:rPr lang="en-US" sz="1400" dirty="0" smtClean="0"/>
                        <a:t>CFS</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1</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4</a:t>
                      </a:r>
                      <a:endParaRPr lang="en-US" sz="14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4</a:t>
                      </a:r>
                      <a:endParaRPr lang="en-US" sz="1400">
                        <a:latin typeface="Calibri"/>
                        <a:ea typeface="Times New Roman"/>
                        <a:cs typeface="Mangal"/>
                      </a:endParaRPr>
                    </a:p>
                  </a:txBody>
                  <a:tcPr marL="68580" marR="68580" marT="0" marB="0"/>
                </a:tc>
                <a:tc>
                  <a:txBody>
                    <a:bodyPr/>
                    <a:lstStyle/>
                    <a:p>
                      <a:pPr marL="3108960" marR="0" indent="-3108960" algn="ctr">
                        <a:lnSpc>
                          <a:spcPct val="115000"/>
                        </a:lnSpc>
                        <a:spcBef>
                          <a:spcPts val="0"/>
                        </a:spcBef>
                        <a:spcAft>
                          <a:spcPts val="0"/>
                        </a:spcAft>
                      </a:pPr>
                      <a:r>
                        <a:rPr lang="en-US" sz="1400"/>
                        <a:t>13</a:t>
                      </a:r>
                      <a:endParaRPr lang="en-US" sz="1400">
                        <a:latin typeface="Calibri"/>
                        <a:ea typeface="Times New Roman"/>
                        <a:cs typeface="Mangal"/>
                      </a:endParaRPr>
                    </a:p>
                  </a:txBody>
                  <a:tcPr marL="68580" marR="68580" marT="0" marB="0"/>
                </a:tc>
              </a:tr>
              <a:tr h="336358">
                <a:tc>
                  <a:txBody>
                    <a:bodyPr/>
                    <a:lstStyle/>
                    <a:p>
                      <a:pPr marL="0" marR="0">
                        <a:lnSpc>
                          <a:spcPct val="115000"/>
                        </a:lnSpc>
                        <a:spcBef>
                          <a:spcPts val="0"/>
                        </a:spcBef>
                        <a:spcAft>
                          <a:spcPts val="0"/>
                        </a:spcAft>
                      </a:pPr>
                      <a:r>
                        <a:rPr lang="en-US" sz="1400" dirty="0"/>
                        <a:t>Sea Port</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4</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12</a:t>
                      </a:r>
                      <a:endParaRPr lang="en-US" sz="14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12</a:t>
                      </a:r>
                      <a:endParaRPr lang="en-US" sz="1400">
                        <a:latin typeface="Calibri"/>
                        <a:ea typeface="Times New Roman"/>
                        <a:cs typeface="Mangal"/>
                      </a:endParaRPr>
                    </a:p>
                  </a:txBody>
                  <a:tcPr marL="68580" marR="68580" marT="0" marB="0"/>
                </a:tc>
                <a:tc>
                  <a:txBody>
                    <a:bodyPr/>
                    <a:lstStyle/>
                    <a:p>
                      <a:pPr marL="3108960" marR="0" indent="-3108960" algn="ctr">
                        <a:lnSpc>
                          <a:spcPct val="115000"/>
                        </a:lnSpc>
                        <a:spcBef>
                          <a:spcPts val="0"/>
                        </a:spcBef>
                        <a:spcAft>
                          <a:spcPts val="0"/>
                        </a:spcAft>
                      </a:pPr>
                      <a:r>
                        <a:rPr lang="en-US" sz="1400"/>
                        <a:t>32</a:t>
                      </a:r>
                      <a:endParaRPr lang="en-US" sz="1400">
                        <a:latin typeface="Calibri"/>
                        <a:ea typeface="Times New Roman"/>
                        <a:cs typeface="Mangal"/>
                      </a:endParaRPr>
                    </a:p>
                  </a:txBody>
                  <a:tcPr marL="68580" marR="68580" marT="0" marB="0"/>
                </a:tc>
              </a:tr>
              <a:tr h="458380">
                <a:tc>
                  <a:txBody>
                    <a:bodyPr/>
                    <a:lstStyle/>
                    <a:p>
                      <a:pPr marL="0" marR="0">
                        <a:lnSpc>
                          <a:spcPct val="115000"/>
                        </a:lnSpc>
                        <a:spcBef>
                          <a:spcPts val="0"/>
                        </a:spcBef>
                        <a:spcAft>
                          <a:spcPts val="0"/>
                        </a:spcAft>
                      </a:pPr>
                      <a:r>
                        <a:rPr lang="en-US" sz="1400"/>
                        <a:t>Air Cargo Complex</a:t>
                      </a:r>
                      <a:endParaRPr lang="en-US" sz="14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8</a:t>
                      </a:r>
                      <a:endParaRPr lang="en-US" sz="14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12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4</a:t>
                      </a:r>
                      <a:endParaRPr lang="en-US" sz="14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a:t>5</a:t>
                      </a:r>
                      <a:endParaRPr lang="en-US" sz="1400">
                        <a:latin typeface="Calibri"/>
                        <a:ea typeface="Times New Roman"/>
                        <a:cs typeface="Mangal"/>
                      </a:endParaRPr>
                    </a:p>
                  </a:txBody>
                  <a:tcPr marL="68580" marR="68580" marT="0" marB="0"/>
                </a:tc>
                <a:tc>
                  <a:txBody>
                    <a:bodyPr/>
                    <a:lstStyle/>
                    <a:p>
                      <a:pPr marL="3108960" marR="0" indent="-3108960" algn="ctr">
                        <a:lnSpc>
                          <a:spcPct val="115000"/>
                        </a:lnSpc>
                        <a:spcBef>
                          <a:spcPts val="0"/>
                        </a:spcBef>
                        <a:spcAft>
                          <a:spcPts val="0"/>
                        </a:spcAft>
                      </a:pPr>
                      <a:r>
                        <a:rPr lang="en-US" sz="1400"/>
                        <a:t>31</a:t>
                      </a:r>
                      <a:endParaRPr lang="en-US" sz="1400">
                        <a:latin typeface="Calibri"/>
                        <a:ea typeface="Times New Roman"/>
                        <a:cs typeface="Mangal"/>
                      </a:endParaRPr>
                    </a:p>
                  </a:txBody>
                  <a:tcPr marL="68580" marR="68580" marT="0" marB="0"/>
                </a:tc>
              </a:tr>
              <a:tr h="687570">
                <a:tc>
                  <a:txBody>
                    <a:bodyPr/>
                    <a:lstStyle/>
                    <a:p>
                      <a:pPr marL="0" marR="0">
                        <a:lnSpc>
                          <a:spcPct val="115000"/>
                        </a:lnSpc>
                        <a:spcBef>
                          <a:spcPts val="0"/>
                        </a:spcBef>
                        <a:spcAft>
                          <a:spcPts val="0"/>
                        </a:spcAft>
                      </a:pPr>
                      <a:r>
                        <a:rPr lang="en-US" sz="1400"/>
                        <a:t>Courier Terminals</a:t>
                      </a:r>
                      <a:endParaRPr lang="en-US" sz="14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4</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9</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12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4</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8</a:t>
                      </a:r>
                      <a:endParaRPr lang="en-US" sz="1400" dirty="0">
                        <a:latin typeface="Calibri"/>
                        <a:ea typeface="Times New Roman"/>
                        <a:cs typeface="Mangal"/>
                      </a:endParaRPr>
                    </a:p>
                  </a:txBody>
                  <a:tcPr marL="68580" marR="68580" marT="0" marB="0"/>
                </a:tc>
                <a:tc>
                  <a:txBody>
                    <a:bodyPr/>
                    <a:lstStyle/>
                    <a:p>
                      <a:pPr marL="3108960" marR="0" indent="-3108960" algn="ctr">
                        <a:lnSpc>
                          <a:spcPct val="115000"/>
                        </a:lnSpc>
                        <a:spcBef>
                          <a:spcPts val="0"/>
                        </a:spcBef>
                        <a:spcAft>
                          <a:spcPts val="0"/>
                        </a:spcAft>
                      </a:pPr>
                      <a:r>
                        <a:rPr lang="en-US" sz="1400"/>
                        <a:t>37</a:t>
                      </a:r>
                      <a:endParaRPr lang="en-US" sz="1400">
                        <a:latin typeface="Calibri"/>
                        <a:ea typeface="Times New Roman"/>
                        <a:cs typeface="Mangal"/>
                      </a:endParaRPr>
                    </a:p>
                  </a:txBody>
                  <a:tcPr marL="68580" marR="68580" marT="0" marB="0"/>
                </a:tc>
              </a:tr>
              <a:tr h="458380">
                <a:tc>
                  <a:txBody>
                    <a:bodyPr/>
                    <a:lstStyle/>
                    <a:p>
                      <a:pPr marL="0" marR="0">
                        <a:lnSpc>
                          <a:spcPct val="115000"/>
                        </a:lnSpc>
                        <a:spcBef>
                          <a:spcPts val="0"/>
                        </a:spcBef>
                        <a:spcAft>
                          <a:spcPts val="0"/>
                        </a:spcAft>
                      </a:pPr>
                      <a:r>
                        <a:rPr lang="en-US" sz="1400" dirty="0"/>
                        <a:t>Diamond Plaza</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1</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8</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2</a:t>
                      </a:r>
                      <a:endParaRPr lang="en-US" sz="14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400" dirty="0"/>
                        <a:t>4</a:t>
                      </a:r>
                      <a:endParaRPr lang="en-US" sz="1400" dirty="0">
                        <a:latin typeface="Calibri"/>
                        <a:ea typeface="Times New Roman"/>
                        <a:cs typeface="Mangal"/>
                      </a:endParaRPr>
                    </a:p>
                  </a:txBody>
                  <a:tcPr marL="68580" marR="68580" marT="0" marB="0"/>
                </a:tc>
                <a:tc>
                  <a:txBody>
                    <a:bodyPr/>
                    <a:lstStyle/>
                    <a:p>
                      <a:pPr marL="3108960" marR="0" indent="-3108960" algn="ctr">
                        <a:lnSpc>
                          <a:spcPct val="115000"/>
                        </a:lnSpc>
                        <a:spcBef>
                          <a:spcPts val="0"/>
                        </a:spcBef>
                        <a:spcAft>
                          <a:spcPts val="0"/>
                        </a:spcAft>
                      </a:pPr>
                      <a:r>
                        <a:rPr lang="en-US" sz="1400" dirty="0"/>
                        <a:t>19</a:t>
                      </a:r>
                      <a:endParaRPr lang="en-US" sz="1400" dirty="0">
                        <a:latin typeface="Calibri"/>
                        <a:ea typeface="Times New Roman"/>
                        <a:cs typeface="Mangal"/>
                      </a:endParaRPr>
                    </a:p>
                  </a:txBody>
                  <a:tcPr marL="68580" marR="68580"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4</a:t>
            </a:fld>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5"/>
          </a:fillRef>
          <a:effectRef idx="1">
            <a:schemeClr val="accent5"/>
          </a:effectRef>
          <a:fontRef idx="minor">
            <a:schemeClr val="lt1"/>
          </a:fontRef>
        </p:style>
        <p:txBody>
          <a:bodyPr>
            <a:normAutofit/>
          </a:bodyPr>
          <a:lstStyle/>
          <a:p>
            <a:r>
              <a:rPr lang="en-US" sz="2000" b="1" i="1" dirty="0" smtClean="0">
                <a:solidFill>
                  <a:srgbClr val="FFFF00"/>
                </a:solidFill>
                <a:latin typeface="Times New Roman" pitchFamily="18" charset="0"/>
                <a:cs typeface="Times New Roman" pitchFamily="18" charset="0"/>
              </a:rPr>
              <a:t>EXEMPTION</a:t>
            </a:r>
            <a:r>
              <a:rPr lang="en-US" sz="2000" b="1" i="1" dirty="0" smtClean="0">
                <a:solidFill>
                  <a:schemeClr val="tx1"/>
                </a:solidFill>
                <a:latin typeface="Times New Roman" pitchFamily="18" charset="0"/>
                <a:cs typeface="Times New Roman" pitchFamily="18" charset="0"/>
              </a:rPr>
              <a:t> FROM THE PAYMENT OF COST RECOVERY CHARGES:</a:t>
            </a:r>
            <a:br>
              <a:rPr lang="en-US" sz="2000" b="1" i="1" dirty="0" smtClean="0">
                <a:solidFill>
                  <a:schemeClr val="tx1"/>
                </a:solidFill>
                <a:latin typeface="Times New Roman" pitchFamily="18" charset="0"/>
                <a:cs typeface="Times New Roman" pitchFamily="18" charset="0"/>
              </a:rPr>
            </a:br>
            <a:endParaRPr lang="en-US" sz="2000" b="1" i="1" dirty="0">
              <a:latin typeface="Times New Roman" pitchFamily="18" charset="0"/>
              <a:cs typeface="Times New Roman" pitchFamily="18" charset="0"/>
            </a:endParaRPr>
          </a:p>
        </p:txBody>
      </p:sp>
      <p:graphicFrame>
        <p:nvGraphicFramePr>
          <p:cNvPr id="6" name="Content Placeholder 5"/>
          <p:cNvGraphicFramePr>
            <a:graphicFrameLocks noGrp="1"/>
          </p:cNvGraphicFramePr>
          <p:nvPr>
            <p:ph idx="1"/>
          </p:nvPr>
        </p:nvGraphicFramePr>
        <p:xfrm>
          <a:off x="533400" y="1219200"/>
          <a:ext cx="80772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5</a:t>
            </a:fld>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19200"/>
          </a:xfrm>
          <a:ln>
            <a:solidFill>
              <a:schemeClr val="bg1"/>
            </a:solidFill>
          </a:ln>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en-US" sz="2400" dirty="0" smtClean="0"/>
              <a:t>  </a:t>
            </a:r>
            <a:r>
              <a:rPr lang="en-US" sz="2400" dirty="0" smtClean="0">
                <a:solidFill>
                  <a:schemeClr val="tx1"/>
                </a:solidFill>
                <a:latin typeface="Times New Roman" pitchFamily="18" charset="0"/>
                <a:cs typeface="Times New Roman" pitchFamily="18" charset="0"/>
              </a:rPr>
              <a:t>Norms for grant of exemption of CR charges for </a:t>
            </a:r>
            <a:br>
              <a:rPr lang="en-US" sz="2400" dirty="0" smtClean="0">
                <a:solidFill>
                  <a:schemeClr val="tx1"/>
                </a:solidFill>
                <a:latin typeface="Times New Roman" pitchFamily="18" charset="0"/>
                <a:cs typeface="Times New Roman" pitchFamily="18" charset="0"/>
              </a:rPr>
            </a:br>
            <a:r>
              <a:rPr lang="en-US" sz="2400" b="1" dirty="0" smtClean="0">
                <a:solidFill>
                  <a:srgbClr val="FFFF00"/>
                </a:solidFill>
                <a:latin typeface="Times New Roman" pitchFamily="18" charset="0"/>
                <a:cs typeface="Times New Roman" pitchFamily="18" charset="0"/>
              </a:rPr>
              <a:t>ICDs/ CFSs</a:t>
            </a:r>
            <a:endParaRPr lang="en-US" sz="2400" b="1" dirty="0">
              <a:solidFill>
                <a:srgbClr val="FFFF00"/>
              </a:solidFill>
              <a:latin typeface="Times New Roman" pitchFamily="18" charset="0"/>
              <a:cs typeface="Times New Roman" pitchFamily="18" charset="0"/>
            </a:endParaRPr>
          </a:p>
        </p:txBody>
      </p:sp>
      <p:graphicFrame>
        <p:nvGraphicFramePr>
          <p:cNvPr id="6" name="Content Placeholder 5"/>
          <p:cNvGraphicFramePr>
            <a:graphicFrameLocks noGrp="1"/>
          </p:cNvGraphicFramePr>
          <p:nvPr>
            <p:ph idx="1"/>
          </p:nvPr>
        </p:nvGraphicFramePr>
        <p:xfrm>
          <a:off x="457200" y="1935163"/>
          <a:ext cx="8382000" cy="3856036"/>
        </p:xfrm>
        <a:graphic>
          <a:graphicData uri="http://schemas.openxmlformats.org/drawingml/2006/table">
            <a:tbl>
              <a:tblPr firstRow="1" bandRow="1">
                <a:tableStyleId>{7DF18680-E054-41AD-8BC1-D1AEF772440D}</a:tableStyleId>
              </a:tblPr>
              <a:tblGrid>
                <a:gridCol w="4191000"/>
                <a:gridCol w="4191000"/>
              </a:tblGrid>
              <a:tr h="1208368">
                <a:tc>
                  <a:txBody>
                    <a:bodyPr/>
                    <a:lstStyle/>
                    <a:p>
                      <a:r>
                        <a:rPr kumimoji="0" lang="en-US" sz="1800" kern="1200" dirty="0" smtClean="0">
                          <a:solidFill>
                            <a:schemeClr val="tx1"/>
                          </a:solidFill>
                        </a:rPr>
                        <a:t>For facilities ICDs/ CFSs</a:t>
                      </a:r>
                      <a:endParaRPr lang="en-US" dirty="0">
                        <a:solidFill>
                          <a:schemeClr val="tx1"/>
                        </a:solidFill>
                      </a:endParaRPr>
                    </a:p>
                  </a:txBody>
                  <a:tcPr marL="91439" marR="91439"/>
                </a:tc>
                <a:tc>
                  <a:txBody>
                    <a:bodyPr/>
                    <a:lstStyle/>
                    <a:p>
                      <a:r>
                        <a:rPr kumimoji="0" lang="en-US" sz="1800" kern="1200" dirty="0" smtClean="0">
                          <a:solidFill>
                            <a:schemeClr val="tx1"/>
                          </a:solidFill>
                        </a:rPr>
                        <a:t>As per norms prescribed vide CBEC letter F. No. 434/17/2004- </a:t>
                      </a:r>
                      <a:r>
                        <a:rPr kumimoji="0" lang="en-US" sz="1800" kern="1200" dirty="0" err="1" smtClean="0">
                          <a:solidFill>
                            <a:schemeClr val="tx1"/>
                          </a:solidFill>
                        </a:rPr>
                        <a:t>Cus</a:t>
                      </a:r>
                      <a:r>
                        <a:rPr kumimoji="0" lang="en-US" sz="1800" kern="1200" dirty="0" smtClean="0">
                          <a:solidFill>
                            <a:schemeClr val="tx1"/>
                          </a:solidFill>
                        </a:rPr>
                        <a:t>. IV dated 12.09.2005</a:t>
                      </a:r>
                      <a:endParaRPr lang="en-US" dirty="0">
                        <a:solidFill>
                          <a:schemeClr val="tx1"/>
                        </a:solidFill>
                      </a:endParaRPr>
                    </a:p>
                  </a:txBody>
                  <a:tcPr marL="91439" marR="91439"/>
                </a:tc>
              </a:tr>
              <a:tr h="490060">
                <a:tc>
                  <a:txBody>
                    <a:bodyPr/>
                    <a:lstStyle/>
                    <a:p>
                      <a:pPr marL="0" marR="0" algn="just">
                        <a:lnSpc>
                          <a:spcPct val="115000"/>
                        </a:lnSpc>
                        <a:spcBef>
                          <a:spcPts val="0"/>
                        </a:spcBef>
                        <a:spcAft>
                          <a:spcPts val="0"/>
                        </a:spcAft>
                      </a:pPr>
                      <a:r>
                        <a:rPr lang="en-US" sz="1800" dirty="0"/>
                        <a:t>No. of container handled by ICD</a:t>
                      </a:r>
                      <a:endParaRPr lang="en-US" sz="1800" dirty="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a:t>7200</a:t>
                      </a:r>
                      <a:endParaRPr lang="en-US" sz="1800">
                        <a:latin typeface="Calibri"/>
                        <a:ea typeface="Times New Roman"/>
                        <a:cs typeface="Times New Roman"/>
                      </a:endParaRPr>
                    </a:p>
                  </a:txBody>
                  <a:tcPr marL="68579" marR="68579" marT="0" marB="0"/>
                </a:tc>
              </a:tr>
              <a:tr h="490060">
                <a:tc>
                  <a:txBody>
                    <a:bodyPr/>
                    <a:lstStyle/>
                    <a:p>
                      <a:pPr marL="0" marR="0" algn="just">
                        <a:lnSpc>
                          <a:spcPct val="115000"/>
                        </a:lnSpc>
                        <a:spcBef>
                          <a:spcPts val="0"/>
                        </a:spcBef>
                        <a:spcAft>
                          <a:spcPts val="0"/>
                        </a:spcAft>
                      </a:pPr>
                      <a:r>
                        <a:rPr lang="en-US" sz="1800"/>
                        <a:t>No. of container handled by CFS</a:t>
                      </a:r>
                      <a:endParaRPr lang="en-US" sz="180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a:t>1200</a:t>
                      </a:r>
                      <a:endParaRPr lang="en-US" sz="1800">
                        <a:latin typeface="Calibri"/>
                        <a:ea typeface="Times New Roman"/>
                        <a:cs typeface="Times New Roman"/>
                      </a:endParaRPr>
                    </a:p>
                  </a:txBody>
                  <a:tcPr marL="68579" marR="68579" marT="0" marB="0"/>
                </a:tc>
              </a:tr>
              <a:tr h="833774">
                <a:tc>
                  <a:txBody>
                    <a:bodyPr/>
                    <a:lstStyle/>
                    <a:p>
                      <a:pPr marL="0" marR="0" algn="just">
                        <a:lnSpc>
                          <a:spcPct val="115000"/>
                        </a:lnSpc>
                        <a:spcBef>
                          <a:spcPts val="0"/>
                        </a:spcBef>
                        <a:spcAft>
                          <a:spcPts val="0"/>
                        </a:spcAft>
                      </a:pPr>
                      <a:r>
                        <a:rPr lang="en-US" sz="1800" dirty="0"/>
                        <a:t>No. of documents processed (</a:t>
                      </a:r>
                      <a:r>
                        <a:rPr lang="en-US" sz="1800" dirty="0" smtClean="0"/>
                        <a:t>Bills of Entry or Shipping Bills) </a:t>
                      </a:r>
                      <a:r>
                        <a:rPr lang="en-US" sz="1800" dirty="0"/>
                        <a:t>by ICD</a:t>
                      </a:r>
                      <a:endParaRPr lang="en-US" sz="1800" dirty="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dirty="0"/>
                        <a:t>7200</a:t>
                      </a:r>
                      <a:endParaRPr lang="en-US" sz="1800" dirty="0">
                        <a:latin typeface="Calibri"/>
                        <a:ea typeface="Times New Roman"/>
                        <a:cs typeface="Times New Roman"/>
                      </a:endParaRPr>
                    </a:p>
                  </a:txBody>
                  <a:tcPr marL="68579" marR="68579" marT="0" marB="0"/>
                </a:tc>
              </a:tr>
              <a:tr h="833774">
                <a:tc>
                  <a:txBody>
                    <a:bodyPr/>
                    <a:lstStyle/>
                    <a:p>
                      <a:pPr marL="0" marR="0" algn="just">
                        <a:lnSpc>
                          <a:spcPct val="115000"/>
                        </a:lnSpc>
                        <a:spcBef>
                          <a:spcPts val="0"/>
                        </a:spcBef>
                        <a:spcAft>
                          <a:spcPts val="0"/>
                        </a:spcAft>
                      </a:pPr>
                      <a:r>
                        <a:rPr lang="en-US" sz="1800" dirty="0"/>
                        <a:t>No. of documents processed (</a:t>
                      </a:r>
                      <a:r>
                        <a:rPr lang="en-US" sz="1800" dirty="0" smtClean="0"/>
                        <a:t>Bills of Entry </a:t>
                      </a:r>
                      <a:r>
                        <a:rPr lang="en-US" sz="1800" dirty="0"/>
                        <a:t>or </a:t>
                      </a:r>
                      <a:r>
                        <a:rPr lang="en-US" sz="1800" dirty="0" smtClean="0"/>
                        <a:t>Shipping Bills) </a:t>
                      </a:r>
                      <a:r>
                        <a:rPr lang="en-US" sz="1800" dirty="0"/>
                        <a:t>by CFS</a:t>
                      </a:r>
                      <a:endParaRPr lang="en-US" sz="1800" dirty="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dirty="0"/>
                        <a:t>1200</a:t>
                      </a:r>
                      <a:endParaRPr lang="en-US" sz="1800" dirty="0">
                        <a:latin typeface="Calibri"/>
                        <a:ea typeface="Times New Roman"/>
                        <a:cs typeface="Times New Roman"/>
                      </a:endParaRPr>
                    </a:p>
                  </a:txBody>
                  <a:tcPr marL="68579" marR="68579"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6</a:t>
            </a:fld>
            <a:endParaRPr lang="en-IN"/>
          </a:p>
        </p:txBody>
      </p:sp>
      <p:sp>
        <p:nvSpPr>
          <p:cNvPr id="7" name="Rectangle 6"/>
          <p:cNvSpPr/>
          <p:nvPr/>
        </p:nvSpPr>
        <p:spPr>
          <a:xfrm>
            <a:off x="9525000" y="-45719"/>
            <a:ext cx="45719" cy="457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5540" name="Rectangle 4"/>
          <p:cNvSpPr>
            <a:spLocks noChangeArrowheads="1"/>
          </p:cNvSpPr>
          <p:nvPr/>
        </p:nvSpPr>
        <p:spPr bwMode="auto">
          <a:xfrm>
            <a:off x="533400" y="5867400"/>
            <a:ext cx="7924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Note: The above benchmark shall be reduced by 50% for those ICDs/ CFSs exclusively dealing with exports, as per staffing norms</a:t>
            </a:r>
            <a:r>
              <a:rPr kumimoji="0" lang="en-US" sz="11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1800" b="0" i="0" u="none" strike="noStrike" cap="none" normalizeH="0" baseline="0" dirty="0" smtClean="0">
              <a:ln>
                <a:noFill/>
              </a:ln>
              <a:solidFill>
                <a:schemeClr val="tx1"/>
              </a:solidFill>
              <a:effectLst/>
              <a:latin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05800" cy="1466088"/>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just"/>
            <a:r>
              <a:rPr lang="en-US" sz="1800" dirty="0" smtClean="0">
                <a:solidFill>
                  <a:schemeClr val="tx1"/>
                </a:solidFill>
              </a:rPr>
              <a:t>Norms for eligibility for grant of exemption from the payment of cost recovery charges in respect of facilities </a:t>
            </a:r>
            <a:r>
              <a:rPr lang="en-US" sz="1800" b="1" dirty="0" smtClean="0">
                <a:solidFill>
                  <a:srgbClr val="FFFF00"/>
                </a:solidFill>
              </a:rPr>
              <a:t>Sea Ports, Air Cargo Complex, Courier Terminals and Diamond Plaza:</a:t>
            </a:r>
            <a:endParaRPr lang="en-US" sz="1800" b="1" dirty="0">
              <a:solidFill>
                <a:srgbClr val="FFFF00"/>
              </a:solidFill>
            </a:endParaRPr>
          </a:p>
        </p:txBody>
      </p:sp>
      <p:graphicFrame>
        <p:nvGraphicFramePr>
          <p:cNvPr id="6" name="Content Placeholder 5"/>
          <p:cNvGraphicFramePr>
            <a:graphicFrameLocks noGrp="1"/>
          </p:cNvGraphicFramePr>
          <p:nvPr>
            <p:ph idx="1"/>
          </p:nvPr>
        </p:nvGraphicFramePr>
        <p:xfrm>
          <a:off x="457200" y="1981199"/>
          <a:ext cx="8305800" cy="3810000"/>
        </p:xfrm>
        <a:graphic>
          <a:graphicData uri="http://schemas.openxmlformats.org/drawingml/2006/table">
            <a:tbl>
              <a:tblPr firstRow="1" bandRow="1">
                <a:tableStyleId>{7DF18680-E054-41AD-8BC1-D1AEF772440D}</a:tableStyleId>
              </a:tblPr>
              <a:tblGrid>
                <a:gridCol w="2768600"/>
                <a:gridCol w="2768600"/>
                <a:gridCol w="2768600"/>
              </a:tblGrid>
              <a:tr h="1583324">
                <a:tc>
                  <a:txBody>
                    <a:bodyPr/>
                    <a:lstStyle/>
                    <a:p>
                      <a:pPr marL="0" marR="0" algn="ctr">
                        <a:lnSpc>
                          <a:spcPct val="115000"/>
                        </a:lnSpc>
                        <a:spcBef>
                          <a:spcPts val="0"/>
                        </a:spcBef>
                        <a:spcAft>
                          <a:spcPts val="0"/>
                        </a:spcAft>
                      </a:pPr>
                      <a:r>
                        <a:rPr lang="en-US" sz="1600" b="1" dirty="0">
                          <a:solidFill>
                            <a:schemeClr val="tx1"/>
                          </a:solidFill>
                        </a:rPr>
                        <a:t>Facility</a:t>
                      </a:r>
                      <a:endParaRPr lang="en-US" sz="1600" b="1"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b="1" dirty="0">
                          <a:solidFill>
                            <a:schemeClr val="tx1"/>
                          </a:solidFill>
                        </a:rPr>
                        <a:t>Minimum Annual Volume/Value of Import &amp; Export Cargo</a:t>
                      </a:r>
                      <a:endParaRPr lang="en-US" sz="1600" b="1"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b="1" dirty="0">
                          <a:solidFill>
                            <a:schemeClr val="tx1"/>
                          </a:solidFill>
                        </a:rPr>
                        <a:t>Minimum Annual Number of Documents – Bills of Entry/Shipping Bills</a:t>
                      </a:r>
                      <a:endParaRPr lang="en-US" sz="1600" b="1" dirty="0">
                        <a:solidFill>
                          <a:schemeClr val="tx1"/>
                        </a:solidFill>
                        <a:latin typeface="Calibri"/>
                        <a:ea typeface="Times New Roman"/>
                        <a:cs typeface="Mangal"/>
                      </a:endParaRPr>
                    </a:p>
                  </a:txBody>
                  <a:tcPr marL="68580" marR="68580" marT="0" marB="0"/>
                </a:tc>
              </a:tr>
              <a:tr h="556669">
                <a:tc>
                  <a:txBody>
                    <a:bodyPr/>
                    <a:lstStyle/>
                    <a:p>
                      <a:pPr marL="0" marR="0" algn="just">
                        <a:lnSpc>
                          <a:spcPct val="115000"/>
                        </a:lnSpc>
                        <a:spcBef>
                          <a:spcPts val="0"/>
                        </a:spcBef>
                        <a:spcAft>
                          <a:spcPts val="0"/>
                        </a:spcAft>
                      </a:pPr>
                      <a:r>
                        <a:rPr lang="en-US" sz="1600" dirty="0"/>
                        <a:t>Sea Port</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6 </a:t>
                      </a:r>
                      <a:r>
                        <a:rPr lang="en-US" sz="1600" dirty="0" err="1"/>
                        <a:t>Lakhs</a:t>
                      </a:r>
                      <a:r>
                        <a:rPr lang="en-US" sz="1600" dirty="0"/>
                        <a:t> </a:t>
                      </a:r>
                      <a:r>
                        <a:rPr lang="en-US" sz="1600" dirty="0" err="1"/>
                        <a:t>MTs.</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3,000</a:t>
                      </a:r>
                      <a:endParaRPr lang="en-US" sz="1600">
                        <a:latin typeface="Calibri"/>
                        <a:ea typeface="Times New Roman"/>
                        <a:cs typeface="Mangal"/>
                      </a:endParaRPr>
                    </a:p>
                  </a:txBody>
                  <a:tcPr marL="68580" marR="68580" marT="0" marB="0"/>
                </a:tc>
              </a:tr>
              <a:tr h="556669">
                <a:tc>
                  <a:txBody>
                    <a:bodyPr/>
                    <a:lstStyle/>
                    <a:p>
                      <a:pPr marL="0" marR="0" algn="just">
                        <a:lnSpc>
                          <a:spcPct val="115000"/>
                        </a:lnSpc>
                        <a:spcBef>
                          <a:spcPts val="0"/>
                        </a:spcBef>
                        <a:spcAft>
                          <a:spcPts val="0"/>
                        </a:spcAft>
                      </a:pPr>
                      <a:r>
                        <a:rPr lang="en-US" sz="1600" dirty="0"/>
                        <a:t>Air Cargo Complex</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12,000 MTs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35,000</a:t>
                      </a:r>
                      <a:endParaRPr lang="en-US" sz="1600">
                        <a:latin typeface="Calibri"/>
                        <a:ea typeface="Times New Roman"/>
                        <a:cs typeface="Mangal"/>
                      </a:endParaRPr>
                    </a:p>
                  </a:txBody>
                  <a:tcPr marL="68580" marR="68580" marT="0" marB="0"/>
                </a:tc>
              </a:tr>
              <a:tr h="556669">
                <a:tc>
                  <a:txBody>
                    <a:bodyPr/>
                    <a:lstStyle/>
                    <a:p>
                      <a:pPr marL="0" marR="0" algn="just">
                        <a:lnSpc>
                          <a:spcPct val="115000"/>
                        </a:lnSpc>
                        <a:spcBef>
                          <a:spcPts val="0"/>
                        </a:spcBef>
                        <a:spcAft>
                          <a:spcPts val="0"/>
                        </a:spcAft>
                      </a:pPr>
                      <a:r>
                        <a:rPr lang="en-US" sz="1600"/>
                        <a:t>Courier Terminals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1.5 Lakh Packages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20,000</a:t>
                      </a:r>
                      <a:endParaRPr lang="en-US" sz="1600">
                        <a:latin typeface="Calibri"/>
                        <a:ea typeface="Times New Roman"/>
                        <a:cs typeface="Mangal"/>
                      </a:endParaRPr>
                    </a:p>
                  </a:txBody>
                  <a:tcPr marL="68580" marR="68580" marT="0" marB="0"/>
                </a:tc>
              </a:tr>
              <a:tr h="556669">
                <a:tc>
                  <a:txBody>
                    <a:bodyPr/>
                    <a:lstStyle/>
                    <a:p>
                      <a:pPr marL="0" marR="0" algn="just">
                        <a:lnSpc>
                          <a:spcPct val="115000"/>
                        </a:lnSpc>
                        <a:spcBef>
                          <a:spcPts val="0"/>
                        </a:spcBef>
                        <a:spcAft>
                          <a:spcPts val="0"/>
                        </a:spcAft>
                      </a:pPr>
                      <a:r>
                        <a:rPr lang="en-US" sz="1600" dirty="0"/>
                        <a:t>Diamond Plaza</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Rs. 15,000 </a:t>
                      </a:r>
                      <a:r>
                        <a:rPr lang="en-US" sz="1600" dirty="0" err="1"/>
                        <a:t>Crores</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12,000</a:t>
                      </a:r>
                      <a:endParaRPr lang="en-US" sz="1600" dirty="0">
                        <a:latin typeface="Calibri"/>
                        <a:ea typeface="Times New Roman"/>
                        <a:cs typeface="Mangal"/>
                      </a:endParaRPr>
                    </a:p>
                  </a:txBody>
                  <a:tcPr marL="68580" marR="68580"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7</a:t>
            </a:fld>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19200"/>
          </a:xfrm>
          <a:ln>
            <a:solidFill>
              <a:schemeClr val="bg1"/>
            </a:solidFill>
          </a:ln>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en-US" sz="2400" dirty="0" smtClean="0"/>
              <a:t>  </a:t>
            </a:r>
            <a:r>
              <a:rPr lang="en-US" sz="2400" dirty="0" smtClean="0">
                <a:solidFill>
                  <a:schemeClr val="tx1"/>
                </a:solidFill>
                <a:latin typeface="Times New Roman" pitchFamily="18" charset="0"/>
                <a:cs typeface="Times New Roman" pitchFamily="18" charset="0"/>
              </a:rPr>
              <a:t>Norms for grant of exemption of CR charges in </a:t>
            </a:r>
            <a:br>
              <a:rPr lang="en-US" sz="2400" dirty="0" smtClean="0">
                <a:solidFill>
                  <a:schemeClr val="tx1"/>
                </a:solidFill>
                <a:latin typeface="Times New Roman" pitchFamily="18" charset="0"/>
                <a:cs typeface="Times New Roman" pitchFamily="18" charset="0"/>
              </a:rPr>
            </a:br>
            <a:r>
              <a:rPr lang="en-US" sz="2400" b="1" dirty="0" smtClean="0">
                <a:solidFill>
                  <a:srgbClr val="FFFF00"/>
                </a:solidFill>
                <a:latin typeface="Times New Roman" pitchFamily="18" charset="0"/>
                <a:cs typeface="Times New Roman" pitchFamily="18" charset="0"/>
              </a:rPr>
              <a:t>ICDs/ CFSs………. </a:t>
            </a:r>
            <a:endParaRPr lang="en-US" sz="2400" b="1" dirty="0">
              <a:solidFill>
                <a:srgbClr val="FFFF00"/>
              </a:solidFill>
              <a:latin typeface="Times New Roman" pitchFamily="18" charset="0"/>
              <a:cs typeface="Times New Roman" pitchFamily="18" charset="0"/>
            </a:endParaRPr>
          </a:p>
        </p:txBody>
      </p:sp>
      <p:graphicFrame>
        <p:nvGraphicFramePr>
          <p:cNvPr id="6" name="Content Placeholder 5"/>
          <p:cNvGraphicFramePr>
            <a:graphicFrameLocks noGrp="1"/>
          </p:cNvGraphicFramePr>
          <p:nvPr>
            <p:ph idx="1"/>
          </p:nvPr>
        </p:nvGraphicFramePr>
        <p:xfrm>
          <a:off x="457200" y="1935163"/>
          <a:ext cx="8229598" cy="2917952"/>
        </p:xfrm>
        <a:graphic>
          <a:graphicData uri="http://schemas.openxmlformats.org/drawingml/2006/table">
            <a:tbl>
              <a:tblPr firstRow="1" bandRow="1">
                <a:tableStyleId>{7DF18680-E054-41AD-8BC1-D1AEF772440D}</a:tableStyleId>
              </a:tblPr>
              <a:tblGrid>
                <a:gridCol w="4114799"/>
                <a:gridCol w="4114799"/>
              </a:tblGrid>
              <a:tr h="370840">
                <a:tc>
                  <a:txBody>
                    <a:bodyPr/>
                    <a:lstStyle/>
                    <a:p>
                      <a:r>
                        <a:rPr kumimoji="0" lang="en-US" sz="1800" kern="1200" dirty="0" smtClean="0">
                          <a:solidFill>
                            <a:schemeClr val="tx1"/>
                          </a:solidFill>
                        </a:rPr>
                        <a:t>For facilities ICDs/ CFSs</a:t>
                      </a:r>
                      <a:endParaRPr lang="en-US" dirty="0">
                        <a:solidFill>
                          <a:schemeClr val="tx1"/>
                        </a:solidFill>
                      </a:endParaRPr>
                    </a:p>
                  </a:txBody>
                  <a:tcPr marL="91439" marR="91439"/>
                </a:tc>
                <a:tc>
                  <a:txBody>
                    <a:bodyPr/>
                    <a:lstStyle/>
                    <a:p>
                      <a:r>
                        <a:rPr kumimoji="0" lang="en-US" sz="1800" kern="1200" dirty="0" smtClean="0">
                          <a:solidFill>
                            <a:schemeClr val="tx1"/>
                          </a:solidFill>
                        </a:rPr>
                        <a:t>As per norms prescribed vide CBEC letter F. No. 434/17/2004- </a:t>
                      </a:r>
                      <a:r>
                        <a:rPr kumimoji="0" lang="en-US" sz="1800" kern="1200" dirty="0" err="1" smtClean="0">
                          <a:solidFill>
                            <a:schemeClr val="tx1"/>
                          </a:solidFill>
                        </a:rPr>
                        <a:t>Cus</a:t>
                      </a:r>
                      <a:r>
                        <a:rPr kumimoji="0" lang="en-US" sz="1800" kern="1200" dirty="0" smtClean="0">
                          <a:solidFill>
                            <a:schemeClr val="tx1"/>
                          </a:solidFill>
                        </a:rPr>
                        <a:t>. IV dated 12.09.2005</a:t>
                      </a:r>
                      <a:endParaRPr lang="en-US" dirty="0">
                        <a:solidFill>
                          <a:schemeClr val="tx1"/>
                        </a:solidFill>
                      </a:endParaRPr>
                    </a:p>
                  </a:txBody>
                  <a:tcPr marL="91439" marR="91439"/>
                </a:tc>
              </a:tr>
              <a:tr h="370840">
                <a:tc>
                  <a:txBody>
                    <a:bodyPr/>
                    <a:lstStyle/>
                    <a:p>
                      <a:pPr marL="0" marR="0" algn="just">
                        <a:lnSpc>
                          <a:spcPct val="115000"/>
                        </a:lnSpc>
                        <a:spcBef>
                          <a:spcPts val="0"/>
                        </a:spcBef>
                        <a:spcAft>
                          <a:spcPts val="0"/>
                        </a:spcAft>
                      </a:pPr>
                      <a:r>
                        <a:rPr lang="en-US" sz="1800" dirty="0"/>
                        <a:t>No. of container handled by ICD</a:t>
                      </a:r>
                      <a:endParaRPr lang="en-US" sz="1800" dirty="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a:t>7200</a:t>
                      </a:r>
                      <a:endParaRPr lang="en-US" sz="1800">
                        <a:latin typeface="Calibri"/>
                        <a:ea typeface="Times New Roman"/>
                        <a:cs typeface="Times New Roman"/>
                      </a:endParaRPr>
                    </a:p>
                  </a:txBody>
                  <a:tcPr marL="68579" marR="68579" marT="0" marB="0"/>
                </a:tc>
              </a:tr>
              <a:tr h="370840">
                <a:tc>
                  <a:txBody>
                    <a:bodyPr/>
                    <a:lstStyle/>
                    <a:p>
                      <a:pPr marL="0" marR="0" algn="just">
                        <a:lnSpc>
                          <a:spcPct val="115000"/>
                        </a:lnSpc>
                        <a:spcBef>
                          <a:spcPts val="0"/>
                        </a:spcBef>
                        <a:spcAft>
                          <a:spcPts val="0"/>
                        </a:spcAft>
                      </a:pPr>
                      <a:r>
                        <a:rPr lang="en-US" sz="1800"/>
                        <a:t>No. of container handled by CFS</a:t>
                      </a:r>
                      <a:endParaRPr lang="en-US" sz="180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a:t>1200</a:t>
                      </a:r>
                      <a:endParaRPr lang="en-US" sz="1800">
                        <a:latin typeface="Calibri"/>
                        <a:ea typeface="Times New Roman"/>
                        <a:cs typeface="Times New Roman"/>
                      </a:endParaRPr>
                    </a:p>
                  </a:txBody>
                  <a:tcPr marL="68579" marR="68579" marT="0" marB="0"/>
                </a:tc>
              </a:tr>
              <a:tr h="370840">
                <a:tc>
                  <a:txBody>
                    <a:bodyPr/>
                    <a:lstStyle/>
                    <a:p>
                      <a:pPr marL="0" marR="0" algn="just">
                        <a:lnSpc>
                          <a:spcPct val="115000"/>
                        </a:lnSpc>
                        <a:spcBef>
                          <a:spcPts val="0"/>
                        </a:spcBef>
                        <a:spcAft>
                          <a:spcPts val="0"/>
                        </a:spcAft>
                      </a:pPr>
                      <a:r>
                        <a:rPr lang="en-US" sz="1800" dirty="0"/>
                        <a:t>No. of documents processed (</a:t>
                      </a:r>
                      <a:r>
                        <a:rPr lang="en-US" sz="1800" dirty="0" smtClean="0"/>
                        <a:t>Bills of Entry or Shipping Bills) </a:t>
                      </a:r>
                      <a:r>
                        <a:rPr lang="en-US" sz="1800" dirty="0"/>
                        <a:t>by ICD</a:t>
                      </a:r>
                      <a:endParaRPr lang="en-US" sz="1800" dirty="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a:t>7200</a:t>
                      </a:r>
                      <a:endParaRPr lang="en-US" sz="1800">
                        <a:latin typeface="Calibri"/>
                        <a:ea typeface="Times New Roman"/>
                        <a:cs typeface="Times New Roman"/>
                      </a:endParaRPr>
                    </a:p>
                  </a:txBody>
                  <a:tcPr marL="68579" marR="68579" marT="0" marB="0"/>
                </a:tc>
              </a:tr>
              <a:tr h="370840">
                <a:tc>
                  <a:txBody>
                    <a:bodyPr/>
                    <a:lstStyle/>
                    <a:p>
                      <a:pPr marL="0" marR="0" algn="just">
                        <a:lnSpc>
                          <a:spcPct val="115000"/>
                        </a:lnSpc>
                        <a:spcBef>
                          <a:spcPts val="0"/>
                        </a:spcBef>
                        <a:spcAft>
                          <a:spcPts val="0"/>
                        </a:spcAft>
                      </a:pPr>
                      <a:r>
                        <a:rPr lang="en-US" sz="1800" dirty="0"/>
                        <a:t>No. of documents processed (</a:t>
                      </a:r>
                      <a:r>
                        <a:rPr lang="en-US" sz="1800" dirty="0" smtClean="0"/>
                        <a:t>Bills of Entry </a:t>
                      </a:r>
                      <a:r>
                        <a:rPr lang="en-US" sz="1800" dirty="0"/>
                        <a:t>or </a:t>
                      </a:r>
                      <a:r>
                        <a:rPr lang="en-US" sz="1800" dirty="0" smtClean="0"/>
                        <a:t>Shipping Bills) </a:t>
                      </a:r>
                      <a:r>
                        <a:rPr lang="en-US" sz="1800" dirty="0"/>
                        <a:t>by CFS</a:t>
                      </a:r>
                      <a:endParaRPr lang="en-US" sz="1800" dirty="0">
                        <a:latin typeface="Calibri"/>
                        <a:ea typeface="Times New Roman"/>
                        <a:cs typeface="Times New Roman"/>
                      </a:endParaRPr>
                    </a:p>
                  </a:txBody>
                  <a:tcPr marL="68579" marR="68579" marT="0" marB="0"/>
                </a:tc>
                <a:tc>
                  <a:txBody>
                    <a:bodyPr/>
                    <a:lstStyle/>
                    <a:p>
                      <a:pPr marL="0" marR="0" algn="ctr">
                        <a:lnSpc>
                          <a:spcPct val="115000"/>
                        </a:lnSpc>
                        <a:spcBef>
                          <a:spcPts val="0"/>
                        </a:spcBef>
                        <a:spcAft>
                          <a:spcPts val="0"/>
                        </a:spcAft>
                      </a:pPr>
                      <a:r>
                        <a:rPr lang="en-US" sz="1800" dirty="0"/>
                        <a:t>1200</a:t>
                      </a:r>
                      <a:endParaRPr lang="en-US" sz="1800" dirty="0">
                        <a:latin typeface="Calibri"/>
                        <a:ea typeface="Times New Roman"/>
                        <a:cs typeface="Times New Roman"/>
                      </a:endParaRPr>
                    </a:p>
                  </a:txBody>
                  <a:tcPr marL="68579" marR="68579"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8</a:t>
            </a:fld>
            <a:endParaRPr lang="en-IN"/>
          </a:p>
        </p:txBody>
      </p:sp>
      <p:sp>
        <p:nvSpPr>
          <p:cNvPr id="7" name="Rectangle 6"/>
          <p:cNvSpPr/>
          <p:nvPr/>
        </p:nvSpPr>
        <p:spPr>
          <a:xfrm>
            <a:off x="9525000" y="-45719"/>
            <a:ext cx="45719" cy="457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5540" name="Rectangle 4"/>
          <p:cNvSpPr>
            <a:spLocks noChangeArrowheads="1"/>
          </p:cNvSpPr>
          <p:nvPr/>
        </p:nvSpPr>
        <p:spPr bwMode="auto">
          <a:xfrm>
            <a:off x="685800" y="5029200"/>
            <a:ext cx="7924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Note: The above benchmark shall be reduced by 50% for those ICDs/ CFSs exclusively dealing with exports, as per staffing norms</a:t>
            </a:r>
            <a:r>
              <a:rPr kumimoji="0" lang="en-US" sz="11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1800" b="0" i="0" u="none" strike="noStrike" cap="none" normalizeH="0" baseline="0" dirty="0" smtClean="0">
              <a:ln>
                <a:noFill/>
              </a:ln>
              <a:solidFill>
                <a:schemeClr val="tx1"/>
              </a:solidFill>
              <a:effectLst/>
              <a:latin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05800" cy="1466088"/>
          </a:xfrm>
          <a:ln>
            <a:solidFill>
              <a:schemeClr val="bg1"/>
            </a:solidFill>
          </a:ln>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just"/>
            <a:r>
              <a:rPr lang="en-US" sz="1800" dirty="0" smtClean="0">
                <a:solidFill>
                  <a:schemeClr val="tx1"/>
                </a:solidFill>
              </a:rPr>
              <a:t>Norms for eligibility for grant of exemption from the payment of cost recovery charges in respect of facilities </a:t>
            </a:r>
            <a:r>
              <a:rPr lang="en-US" sz="1800" b="1" dirty="0" smtClean="0">
                <a:solidFill>
                  <a:srgbClr val="FFFF00"/>
                </a:solidFill>
              </a:rPr>
              <a:t>Sea Ports, Air Cargo Complex, Courier Terminals and Diamond Plaza:</a:t>
            </a:r>
            <a:endParaRPr lang="en-US" sz="1800" b="1" dirty="0">
              <a:solidFill>
                <a:srgbClr val="FFFF00"/>
              </a:solidFill>
            </a:endParaRPr>
          </a:p>
        </p:txBody>
      </p:sp>
      <p:graphicFrame>
        <p:nvGraphicFramePr>
          <p:cNvPr id="6" name="Content Placeholder 5"/>
          <p:cNvGraphicFramePr>
            <a:graphicFrameLocks noGrp="1"/>
          </p:cNvGraphicFramePr>
          <p:nvPr>
            <p:ph idx="1"/>
          </p:nvPr>
        </p:nvGraphicFramePr>
        <p:xfrm>
          <a:off x="457200" y="1981201"/>
          <a:ext cx="8229600" cy="2024320"/>
        </p:xfrm>
        <a:graphic>
          <a:graphicData uri="http://schemas.openxmlformats.org/drawingml/2006/table">
            <a:tbl>
              <a:tblPr firstRow="1" bandRow="1">
                <a:tableStyleId>{7DF18680-E054-41AD-8BC1-D1AEF772440D}</a:tableStyleId>
              </a:tblPr>
              <a:tblGrid>
                <a:gridCol w="2743200"/>
                <a:gridCol w="2743200"/>
                <a:gridCol w="2743200"/>
              </a:tblGrid>
              <a:tr h="569530">
                <a:tc>
                  <a:txBody>
                    <a:bodyPr/>
                    <a:lstStyle/>
                    <a:p>
                      <a:pPr marL="0" marR="0" algn="ctr">
                        <a:lnSpc>
                          <a:spcPct val="115000"/>
                        </a:lnSpc>
                        <a:spcBef>
                          <a:spcPts val="0"/>
                        </a:spcBef>
                        <a:spcAft>
                          <a:spcPts val="0"/>
                        </a:spcAft>
                      </a:pPr>
                      <a:r>
                        <a:rPr lang="en-US" sz="1600" b="0" dirty="0">
                          <a:solidFill>
                            <a:schemeClr val="tx1"/>
                          </a:solidFill>
                        </a:rPr>
                        <a:t>Facility</a:t>
                      </a:r>
                      <a:endParaRPr lang="en-US" sz="1600" b="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b="0" dirty="0">
                          <a:solidFill>
                            <a:schemeClr val="tx1"/>
                          </a:solidFill>
                        </a:rPr>
                        <a:t>Minimum Annual Volume/Value of Import &amp; Export Cargo</a:t>
                      </a:r>
                      <a:endParaRPr lang="en-US" sz="1600" b="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b="0" dirty="0">
                          <a:solidFill>
                            <a:schemeClr val="tx1"/>
                          </a:solidFill>
                        </a:rPr>
                        <a:t>Minimum Annual Number of Documents – Bills of Entry/Shipping Bills</a:t>
                      </a:r>
                      <a:endParaRPr lang="en-US" sz="1600" b="0" dirty="0">
                        <a:solidFill>
                          <a:schemeClr val="tx1"/>
                        </a:solidFill>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dirty="0"/>
                        <a:t>Sea Port</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6 </a:t>
                      </a:r>
                      <a:r>
                        <a:rPr lang="en-US" sz="1600" dirty="0" err="1"/>
                        <a:t>Lakhs</a:t>
                      </a:r>
                      <a:r>
                        <a:rPr lang="en-US" sz="1600" dirty="0"/>
                        <a:t> </a:t>
                      </a:r>
                      <a:r>
                        <a:rPr lang="en-US" sz="1600" dirty="0" err="1"/>
                        <a:t>MTs.</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3,000</a:t>
                      </a:r>
                      <a:endParaRPr lang="en-US" sz="1600">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dirty="0"/>
                        <a:t>Air Cargo Complex</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12,000 MTs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35,000</a:t>
                      </a:r>
                      <a:endParaRPr lang="en-US" sz="1600">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a:t>Courier Terminals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1.5 Lakh Packages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20,000</a:t>
                      </a:r>
                      <a:endParaRPr lang="en-US" sz="1600">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dirty="0"/>
                        <a:t>Diamond Plaza</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Rs. 15,000 </a:t>
                      </a:r>
                      <a:r>
                        <a:rPr lang="en-US" sz="1600" dirty="0" err="1"/>
                        <a:t>Crores</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12,000</a:t>
                      </a:r>
                      <a:endParaRPr lang="en-US" sz="1600" dirty="0">
                        <a:latin typeface="Calibri"/>
                        <a:ea typeface="Times New Roman"/>
                        <a:cs typeface="Mangal"/>
                      </a:endParaRPr>
                    </a:p>
                  </a:txBody>
                  <a:tcPr marL="68580" marR="68580"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9</a:t>
            </a:fld>
            <a:endParaRPr lang="en-IN"/>
          </a:p>
        </p:txBody>
      </p:sp>
      <p:sp>
        <p:nvSpPr>
          <p:cNvPr id="7" name="Rectangle 6"/>
          <p:cNvSpPr/>
          <p:nvPr/>
        </p:nvSpPr>
        <p:spPr>
          <a:xfrm>
            <a:off x="533400" y="4191000"/>
            <a:ext cx="8153400" cy="6463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just"/>
            <a:r>
              <a:rPr lang="en-US" dirty="0" smtClean="0">
                <a:solidFill>
                  <a:schemeClr val="tx1"/>
                </a:solidFill>
              </a:rPr>
              <a:t>Norms for eligibility for grant of exemption from the payment of cost recovery charges for Air Ports:</a:t>
            </a:r>
            <a:endParaRPr lang="en-US" dirty="0">
              <a:solidFill>
                <a:schemeClr val="tx1"/>
              </a:solidFill>
            </a:endParaRPr>
          </a:p>
        </p:txBody>
      </p:sp>
      <p:sp>
        <p:nvSpPr>
          <p:cNvPr id="114689" name="Rectangle 1"/>
          <p:cNvSpPr>
            <a:spLocks noChangeArrowheads="1"/>
          </p:cNvSpPr>
          <p:nvPr/>
        </p:nvSpPr>
        <p:spPr bwMode="auto">
          <a:xfrm>
            <a:off x="533400" y="4953000"/>
            <a:ext cx="8153400" cy="830997"/>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6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Minimum number of international flights is 3500 (both incoming and outgoing) and the minimum number of passengers is 3 </a:t>
            </a:r>
            <a:r>
              <a:rPr kumimoji="0" lang="en-US" sz="1600" b="0" i="1"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lakhs</a:t>
            </a:r>
            <a:r>
              <a:rPr kumimoji="0" lang="en-US" sz="16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(both incoming and outgoing) in each of the preceding two financial years.</a:t>
            </a:r>
            <a:endParaRPr kumimoji="0" lang="en-US" sz="1600" b="0" i="1"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5"/>
          </a:fillRef>
          <a:effectRef idx="1">
            <a:schemeClr val="accent5"/>
          </a:effectRef>
          <a:fontRef idx="minor">
            <a:schemeClr val="lt1"/>
          </a:fontRef>
        </p:style>
        <p:txBody>
          <a:bodyPr>
            <a:normAutofit/>
          </a:bodyPr>
          <a:lstStyle/>
          <a:p>
            <a:r>
              <a:rPr lang="en-US" sz="2600" dirty="0" smtClean="0">
                <a:solidFill>
                  <a:schemeClr val="tx1"/>
                </a:solidFill>
              </a:rPr>
              <a:t>Status of sanction strength of posts on Cost Recovery Basis </a:t>
            </a:r>
            <a:endParaRPr lang="en-US" sz="2600" dirty="0">
              <a:solidFill>
                <a:schemeClr val="tx1"/>
              </a:solidFill>
            </a:endParaRPr>
          </a:p>
        </p:txBody>
      </p:sp>
      <p:sp>
        <p:nvSpPr>
          <p:cNvPr id="3" name="Content Placeholder 2"/>
          <p:cNvSpPr>
            <a:spLocks noGrp="1"/>
          </p:cNvSpPr>
          <p:nvPr>
            <p:ph idx="1"/>
          </p:nvPr>
        </p:nvSpPr>
        <p:spPr/>
        <p:txBody>
          <a:bodyPr>
            <a:normAutofit fontScale="70000" lnSpcReduction="20000"/>
          </a:bodyPr>
          <a:lstStyle/>
          <a:p>
            <a:pPr algn="just"/>
            <a:r>
              <a:rPr lang="en-US" dirty="0" smtClean="0"/>
              <a:t>Sanctioned strength of posts (temporary, permanent/ </a:t>
            </a:r>
            <a:r>
              <a:rPr lang="en-US" dirty="0" err="1" smtClean="0"/>
              <a:t>encadred</a:t>
            </a:r>
            <a:r>
              <a:rPr lang="en-US" dirty="0" smtClean="0"/>
              <a:t> posts) AND (filled up posts) &amp; vacant posts (date of vacancy) in respect of ICDs, CFSs, Air Cargo Complex, Sea Port, Courier Terminals, Diamond Plazas facilities etc. </a:t>
            </a:r>
          </a:p>
          <a:p>
            <a:pPr algn="just">
              <a:buNone/>
            </a:pPr>
            <a:endParaRPr lang="en-US" b="1" dirty="0" smtClean="0"/>
          </a:p>
          <a:p>
            <a:pPr algn="just">
              <a:buNone/>
            </a:pPr>
            <a:r>
              <a:rPr lang="en-US" b="1" dirty="0" smtClean="0"/>
              <a:t> TABLE-A (Temporary Posts) </a:t>
            </a:r>
          </a:p>
          <a:p>
            <a:pPr algn="just"/>
            <a:r>
              <a:rPr lang="en-US" dirty="0" smtClean="0"/>
              <a:t>Sanctioned Posts in different grades (since 01.01.2014)</a:t>
            </a:r>
          </a:p>
          <a:p>
            <a:pPr algn="just"/>
            <a:r>
              <a:rPr lang="en-US" dirty="0" smtClean="0"/>
              <a:t> Borne Posts (Filled up posts) in different grade </a:t>
            </a:r>
          </a:p>
          <a:p>
            <a:pPr algn="just"/>
            <a:r>
              <a:rPr lang="en-US" dirty="0" smtClean="0"/>
              <a:t>Vacant Posts along with date of vacancy (in different grades) </a:t>
            </a:r>
          </a:p>
          <a:p>
            <a:pPr algn="just"/>
            <a:endParaRPr lang="en-US" dirty="0" smtClean="0"/>
          </a:p>
          <a:p>
            <a:pPr algn="just">
              <a:buNone/>
            </a:pPr>
            <a:r>
              <a:rPr lang="en-US" b="1" dirty="0" smtClean="0"/>
              <a:t>TABLE- B (Permanent/ </a:t>
            </a:r>
            <a:r>
              <a:rPr lang="en-US" b="1" dirty="0" err="1" smtClean="0"/>
              <a:t>Encadred</a:t>
            </a:r>
            <a:r>
              <a:rPr lang="en-US" b="1" dirty="0" smtClean="0"/>
              <a:t> posts) </a:t>
            </a:r>
          </a:p>
          <a:p>
            <a:pPr algn="just"/>
            <a:r>
              <a:rPr lang="en-US" dirty="0" smtClean="0"/>
              <a:t>Sanctioned Posts (along with Sanction Order No. )</a:t>
            </a:r>
          </a:p>
          <a:p>
            <a:pPr algn="just"/>
            <a:r>
              <a:rPr lang="en-US" dirty="0" smtClean="0"/>
              <a:t>Borne Posts </a:t>
            </a:r>
          </a:p>
          <a:p>
            <a:pPr algn="just"/>
            <a:r>
              <a:rPr lang="en-US" dirty="0" smtClean="0"/>
              <a:t>Vacant Posts in different grades along with date of vacancy </a:t>
            </a:r>
            <a:endParaRPr lang="en-US" dirty="0"/>
          </a:p>
        </p:txBody>
      </p:sp>
      <p:sp>
        <p:nvSpPr>
          <p:cNvPr id="4" name="Date Placeholder 3"/>
          <p:cNvSpPr>
            <a:spLocks noGrp="1"/>
          </p:cNvSpPr>
          <p:nvPr>
            <p:ph type="dt" sz="half" idx="10"/>
          </p:nvPr>
        </p:nvSpPr>
        <p:spPr/>
        <p:txBody>
          <a:bodyPr/>
          <a:lstStyle/>
          <a:p>
            <a:fld id="{F1C4500C-2F42-43A1-AC4E-66999B1481F4}"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10</a:t>
            </a:fld>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162800" cy="1618488"/>
          </a:xfrm>
        </p:spPr>
        <p:style>
          <a:lnRef idx="2">
            <a:schemeClr val="accent5">
              <a:shade val="50000"/>
            </a:schemeClr>
          </a:lnRef>
          <a:fillRef idx="1">
            <a:schemeClr val="accent5"/>
          </a:fillRef>
          <a:effectRef idx="0">
            <a:schemeClr val="accent5"/>
          </a:effectRef>
          <a:fontRef idx="minor">
            <a:schemeClr val="lt1"/>
          </a:fontRef>
        </p:style>
        <p:txBody>
          <a:bodyPr>
            <a:normAutofit/>
          </a:bodyPr>
          <a:lstStyle/>
          <a:p>
            <a:r>
              <a:rPr lang="en-US" sz="2000" dirty="0" smtClean="0">
                <a:solidFill>
                  <a:schemeClr val="tx1"/>
                </a:solidFill>
                <a:latin typeface="+mn-lt"/>
              </a:rPr>
              <a:t>EXEMPTION FROM THE PAYMENT OF COST RECOVERY CHARGES:</a:t>
            </a:r>
            <a:br>
              <a:rPr lang="en-US" sz="2000" dirty="0" smtClean="0">
                <a:solidFill>
                  <a:schemeClr val="tx1"/>
                </a:solidFill>
                <a:latin typeface="+mn-lt"/>
              </a:rPr>
            </a:br>
            <a:r>
              <a:rPr lang="en-US" sz="2000" dirty="0" smtClean="0">
                <a:solidFill>
                  <a:schemeClr val="tx1"/>
                </a:solidFill>
                <a:latin typeface="+mn-lt"/>
              </a:rPr>
              <a:t> </a:t>
            </a:r>
            <a:endParaRPr lang="en-US" sz="2000" dirty="0">
              <a:solidFill>
                <a:schemeClr val="tx1"/>
              </a:solidFill>
              <a:latin typeface="+mn-lt"/>
            </a:endParaRPr>
          </a:p>
        </p:txBody>
      </p:sp>
      <p:sp>
        <p:nvSpPr>
          <p:cNvPr id="3" name="Content Placeholder 2"/>
          <p:cNvSpPr>
            <a:spLocks noGrp="1"/>
          </p:cNvSpPr>
          <p:nvPr>
            <p:ph idx="1"/>
          </p:nvPr>
        </p:nvSpPr>
        <p:spPr>
          <a:xfrm>
            <a:off x="457200" y="2133600"/>
            <a:ext cx="8229600" cy="3992563"/>
          </a:xfrm>
        </p:spPr>
        <p:txBody>
          <a:bodyPr>
            <a:normAutofit fontScale="92500" lnSpcReduction="10000"/>
          </a:bodyPr>
          <a:lstStyle/>
          <a:p>
            <a:pPr lvl="0" algn="just">
              <a:buFont typeface="Wingdings" pitchFamily="2" charset="2"/>
              <a:buChar char="Ø"/>
            </a:pPr>
            <a:r>
              <a:rPr lang="en-US" sz="1800" dirty="0" smtClean="0"/>
              <a:t>Cost Recovery Basis posts are regularized for those facilities which have been in operation for two consecutive years and met the prescribed eligibility criteria as provided in the CBEC letter F. No. 434/17/2004 </a:t>
            </a:r>
            <a:r>
              <a:rPr lang="en-US" sz="1800" dirty="0" err="1" smtClean="0"/>
              <a:t>Cus</a:t>
            </a:r>
            <a:r>
              <a:rPr lang="en-US" sz="1800" dirty="0" smtClean="0"/>
              <a:t> IV dated 12.09.2005 for ICDs/ CFSs &amp; CBEC Circular No. 16/2013-Customs dated 10.04.2013 for Air Cargo Complexes, Sea Ports, Diamond Plazas, Courier Terminals and Air Ports.</a:t>
            </a:r>
          </a:p>
          <a:p>
            <a:pPr>
              <a:buFont typeface="Wingdings" pitchFamily="2" charset="2"/>
              <a:buChar char="Ø"/>
            </a:pPr>
            <a:r>
              <a:rPr lang="en-US" sz="1800" dirty="0" smtClean="0"/>
              <a:t>The conditions for grant of exemption from payment of cost recovery charges for Customs facilities  are as follows:</a:t>
            </a:r>
          </a:p>
          <a:p>
            <a:pPr>
              <a:buNone/>
            </a:pPr>
            <a:r>
              <a:rPr lang="en-US" sz="1800" dirty="0" smtClean="0"/>
              <a:t>(a) Both performance norms i.e. volume/value and number of documents must be met in each of the preceding two financial years.</a:t>
            </a:r>
          </a:p>
          <a:p>
            <a:pPr>
              <a:buNone/>
            </a:pPr>
            <a:r>
              <a:rPr lang="en-US" sz="1800" dirty="0" smtClean="0"/>
              <a:t>(b) Exemption from cost recovery charges shall be prospective; and</a:t>
            </a:r>
          </a:p>
          <a:p>
            <a:pPr>
              <a:buNone/>
            </a:pPr>
            <a:r>
              <a:rPr lang="en-US" sz="1800" dirty="0" smtClean="0"/>
              <a:t>(c) No cost recovery charges should be outstanding.</a:t>
            </a:r>
          </a:p>
          <a:p>
            <a:pPr algn="just">
              <a:buFont typeface="Wingdings" pitchFamily="2" charset="2"/>
              <a:buChar char="Ø"/>
            </a:pPr>
            <a:r>
              <a:rPr lang="en-US" sz="1800" dirty="0" smtClean="0"/>
              <a:t>In order to avail exemption, there is pre-condition that posts on Cost Recovery Basis should be continued up to date. </a:t>
            </a:r>
            <a:r>
              <a:rPr lang="en-US" sz="1800" b="1" dirty="0" smtClean="0"/>
              <a:t>However, it is often observed that the field formations do not seek continuation of posts on yearly basis which further delay timely grant of exemption. </a:t>
            </a:r>
            <a:r>
              <a:rPr lang="en-US" sz="1800" dirty="0" smtClean="0"/>
              <a:t> </a:t>
            </a:r>
          </a:p>
          <a:p>
            <a:pPr lvl="0" algn="just">
              <a:buFont typeface="Wingdings" pitchFamily="2" charset="2"/>
              <a:buChar char="Ø"/>
            </a:pPr>
            <a:endParaRPr lang="en-US" sz="1800" dirty="0" smtClean="0"/>
          </a:p>
          <a:p>
            <a:pPr>
              <a:buNone/>
            </a:pPr>
            <a:endParaRPr lang="en-US" dirty="0"/>
          </a:p>
        </p:txBody>
      </p:sp>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11</a:t>
            </a:fld>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14400"/>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en-US" sz="2400" dirty="0" smtClean="0"/>
              <a:t>  </a:t>
            </a:r>
            <a:r>
              <a:rPr lang="en-US" sz="2400" dirty="0" smtClean="0">
                <a:solidFill>
                  <a:schemeClr val="tx1"/>
                </a:solidFill>
              </a:rPr>
              <a:t>Norms for grant of waiver of CR charges in </a:t>
            </a:r>
            <a:r>
              <a:rPr lang="en-US" sz="2400" b="1" dirty="0" smtClean="0">
                <a:solidFill>
                  <a:srgbClr val="FFFF00"/>
                </a:solidFill>
              </a:rPr>
              <a:t>ICDs/ CFSs </a:t>
            </a:r>
            <a:endParaRPr lang="en-US" sz="2400" b="1" dirty="0">
              <a:solidFill>
                <a:srgbClr val="FFFF00"/>
              </a:solidFill>
            </a:endParaRPr>
          </a:p>
        </p:txBody>
      </p:sp>
      <p:graphicFrame>
        <p:nvGraphicFramePr>
          <p:cNvPr id="6" name="Content Placeholder 5"/>
          <p:cNvGraphicFramePr>
            <a:graphicFrameLocks noGrp="1"/>
          </p:cNvGraphicFramePr>
          <p:nvPr>
            <p:ph idx="1"/>
          </p:nvPr>
        </p:nvGraphicFramePr>
        <p:xfrm>
          <a:off x="457200" y="1935163"/>
          <a:ext cx="8229600" cy="2917952"/>
        </p:xfrm>
        <a:graphic>
          <a:graphicData uri="http://schemas.openxmlformats.org/drawingml/2006/table">
            <a:tbl>
              <a:tblPr firstRow="1" bandRow="1">
                <a:tableStyleId>{7DF18680-E054-41AD-8BC1-D1AEF772440D}</a:tableStyleId>
              </a:tblPr>
              <a:tblGrid>
                <a:gridCol w="4114800"/>
                <a:gridCol w="4114800"/>
              </a:tblGrid>
              <a:tr h="370840">
                <a:tc>
                  <a:txBody>
                    <a:bodyPr/>
                    <a:lstStyle/>
                    <a:p>
                      <a:r>
                        <a:rPr kumimoji="0" lang="en-US" sz="1800" kern="1200" dirty="0" smtClean="0">
                          <a:solidFill>
                            <a:schemeClr val="tx1"/>
                          </a:solidFill>
                        </a:rPr>
                        <a:t>For facilities ICDs/ CFSs</a:t>
                      </a:r>
                      <a:endParaRPr lang="en-US" dirty="0">
                        <a:solidFill>
                          <a:schemeClr val="tx1"/>
                        </a:solidFill>
                      </a:endParaRPr>
                    </a:p>
                  </a:txBody>
                  <a:tcPr/>
                </a:tc>
                <a:tc>
                  <a:txBody>
                    <a:bodyPr/>
                    <a:lstStyle/>
                    <a:p>
                      <a:r>
                        <a:rPr kumimoji="0" lang="en-US" sz="1800" kern="1200" dirty="0" smtClean="0">
                          <a:solidFill>
                            <a:schemeClr val="tx1"/>
                          </a:solidFill>
                        </a:rPr>
                        <a:t>As per norms prescribed vide CBEC letter F. No. 434/17/2004- </a:t>
                      </a:r>
                      <a:r>
                        <a:rPr kumimoji="0" lang="en-US" sz="1800" kern="1200" dirty="0" err="1" smtClean="0">
                          <a:solidFill>
                            <a:schemeClr val="tx1"/>
                          </a:solidFill>
                        </a:rPr>
                        <a:t>Cus</a:t>
                      </a:r>
                      <a:r>
                        <a:rPr kumimoji="0" lang="en-US" sz="1800" kern="1200" dirty="0" smtClean="0">
                          <a:solidFill>
                            <a:schemeClr val="tx1"/>
                          </a:solidFill>
                        </a:rPr>
                        <a:t>. IV dated 12.09.2005</a:t>
                      </a:r>
                      <a:endParaRPr lang="en-US" dirty="0">
                        <a:solidFill>
                          <a:schemeClr val="tx1"/>
                        </a:solidFill>
                      </a:endParaRPr>
                    </a:p>
                  </a:txBody>
                  <a:tcPr/>
                </a:tc>
              </a:tr>
              <a:tr h="370840">
                <a:tc>
                  <a:txBody>
                    <a:bodyPr/>
                    <a:lstStyle/>
                    <a:p>
                      <a:pPr marL="0" marR="0" algn="just">
                        <a:lnSpc>
                          <a:spcPct val="115000"/>
                        </a:lnSpc>
                        <a:spcBef>
                          <a:spcPts val="0"/>
                        </a:spcBef>
                        <a:spcAft>
                          <a:spcPts val="0"/>
                        </a:spcAft>
                      </a:pPr>
                      <a:r>
                        <a:rPr lang="en-US" sz="1800" dirty="0"/>
                        <a:t>No. of container handled by ICD</a:t>
                      </a:r>
                      <a:endParaRPr lang="en-US" sz="1800" dirty="0">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800"/>
                        <a:t>7200</a:t>
                      </a:r>
                      <a:endParaRPr lang="en-US" sz="1800">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a:t>No. of container handled by CFS</a:t>
                      </a:r>
                      <a:endParaRPr lang="en-US" sz="1800">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800"/>
                        <a:t>1200</a:t>
                      </a:r>
                      <a:endParaRPr lang="en-US" sz="1800">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dirty="0"/>
                        <a:t>No. of documents processed (</a:t>
                      </a:r>
                      <a:r>
                        <a:rPr lang="en-US" sz="1800" dirty="0" smtClean="0"/>
                        <a:t>Bills of Entry or Shipping Bills) </a:t>
                      </a:r>
                      <a:r>
                        <a:rPr lang="en-US" sz="1800" dirty="0"/>
                        <a:t>by ICD</a:t>
                      </a:r>
                      <a:endParaRPr lang="en-US" sz="1800" dirty="0">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800"/>
                        <a:t>7200</a:t>
                      </a:r>
                      <a:endParaRPr lang="en-US" sz="1800">
                        <a:latin typeface="Calibri"/>
                        <a:ea typeface="Times New Roman"/>
                        <a:cs typeface="Times New Roman"/>
                      </a:endParaRPr>
                    </a:p>
                  </a:txBody>
                  <a:tcPr marL="68580" marR="68580" marT="0" marB="0"/>
                </a:tc>
              </a:tr>
              <a:tr h="370840">
                <a:tc>
                  <a:txBody>
                    <a:bodyPr/>
                    <a:lstStyle/>
                    <a:p>
                      <a:pPr marL="0" marR="0" algn="just">
                        <a:lnSpc>
                          <a:spcPct val="115000"/>
                        </a:lnSpc>
                        <a:spcBef>
                          <a:spcPts val="0"/>
                        </a:spcBef>
                        <a:spcAft>
                          <a:spcPts val="0"/>
                        </a:spcAft>
                      </a:pPr>
                      <a:r>
                        <a:rPr lang="en-US" sz="1800" dirty="0"/>
                        <a:t>No. of documents processed (</a:t>
                      </a:r>
                      <a:r>
                        <a:rPr lang="en-US" sz="1800" dirty="0" smtClean="0"/>
                        <a:t>Bills of Entry </a:t>
                      </a:r>
                      <a:r>
                        <a:rPr lang="en-US" sz="1800" dirty="0"/>
                        <a:t>or </a:t>
                      </a:r>
                      <a:r>
                        <a:rPr lang="en-US" sz="1800" dirty="0" smtClean="0"/>
                        <a:t>Shipping Bills) </a:t>
                      </a:r>
                      <a:r>
                        <a:rPr lang="en-US" sz="1800" dirty="0"/>
                        <a:t>by CFS</a:t>
                      </a:r>
                      <a:endParaRPr lang="en-US" sz="1800" dirty="0">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800" dirty="0"/>
                        <a:t>1200</a:t>
                      </a:r>
                      <a:endParaRPr lang="en-US" sz="1800" dirty="0">
                        <a:latin typeface="Calibri"/>
                        <a:ea typeface="Times New Roman"/>
                        <a:cs typeface="Times New Roman"/>
                      </a:endParaRPr>
                    </a:p>
                  </a:txBody>
                  <a:tcPr marL="68580" marR="68580"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12</a:t>
            </a:fld>
            <a:endParaRPr lang="en-IN"/>
          </a:p>
        </p:txBody>
      </p:sp>
      <p:sp>
        <p:nvSpPr>
          <p:cNvPr id="7" name="Rectangle 6"/>
          <p:cNvSpPr/>
          <p:nvPr/>
        </p:nvSpPr>
        <p:spPr>
          <a:xfrm>
            <a:off x="9525000" y="-45719"/>
            <a:ext cx="45719" cy="457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5540" name="Rectangle 4"/>
          <p:cNvSpPr>
            <a:spLocks noChangeArrowheads="1"/>
          </p:cNvSpPr>
          <p:nvPr/>
        </p:nvSpPr>
        <p:spPr bwMode="auto">
          <a:xfrm>
            <a:off x="685800" y="5029200"/>
            <a:ext cx="7924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Note: The above benchmark shall be reduced by 50% for those ICDs/ CFSs exclusively dealing with exports, as per staffing norms</a:t>
            </a:r>
            <a:r>
              <a:rPr kumimoji="0" lang="en-US" sz="11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1800" b="0" i="0" u="none" strike="noStrike" cap="none" normalizeH="0" baseline="0" dirty="0" smtClean="0">
              <a:ln>
                <a:noFill/>
              </a:ln>
              <a:solidFill>
                <a:schemeClr val="tx1"/>
              </a:solidFill>
              <a:effectLst/>
              <a:latin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305800" cy="1237488"/>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just"/>
            <a:r>
              <a:rPr lang="en-US" sz="1800" dirty="0" smtClean="0">
                <a:solidFill>
                  <a:schemeClr val="tx1"/>
                </a:solidFill>
              </a:rPr>
              <a:t>Norms for eligibility for </a:t>
            </a:r>
            <a:r>
              <a:rPr lang="en-US" sz="1800" b="1" dirty="0" smtClean="0">
                <a:solidFill>
                  <a:srgbClr val="FFFF00"/>
                </a:solidFill>
              </a:rPr>
              <a:t>grant of exemption </a:t>
            </a:r>
            <a:r>
              <a:rPr lang="en-US" sz="1800" dirty="0" smtClean="0">
                <a:solidFill>
                  <a:schemeClr val="tx1"/>
                </a:solidFill>
              </a:rPr>
              <a:t>from the payment of cost recovery charges in respect of facilities </a:t>
            </a:r>
            <a:r>
              <a:rPr lang="en-US" sz="1800" b="1" dirty="0" smtClean="0">
                <a:solidFill>
                  <a:srgbClr val="FFFF00"/>
                </a:solidFill>
              </a:rPr>
              <a:t>Sea Ports, Air Cargo Complex, Courier Terminals and Diamond Plaza:</a:t>
            </a:r>
            <a:endParaRPr lang="en-US" sz="1800" b="1" dirty="0">
              <a:solidFill>
                <a:srgbClr val="FFFF00"/>
              </a:solidFill>
            </a:endParaRPr>
          </a:p>
        </p:txBody>
      </p:sp>
      <p:graphicFrame>
        <p:nvGraphicFramePr>
          <p:cNvPr id="6" name="Content Placeholder 5"/>
          <p:cNvGraphicFramePr>
            <a:graphicFrameLocks noGrp="1"/>
          </p:cNvGraphicFramePr>
          <p:nvPr>
            <p:ph idx="1"/>
          </p:nvPr>
        </p:nvGraphicFramePr>
        <p:xfrm>
          <a:off x="457200" y="1981201"/>
          <a:ext cx="8229600" cy="2024320"/>
        </p:xfrm>
        <a:graphic>
          <a:graphicData uri="http://schemas.openxmlformats.org/drawingml/2006/table">
            <a:tbl>
              <a:tblPr firstRow="1" bandRow="1">
                <a:tableStyleId>{7DF18680-E054-41AD-8BC1-D1AEF772440D}</a:tableStyleId>
              </a:tblPr>
              <a:tblGrid>
                <a:gridCol w="2743200"/>
                <a:gridCol w="2743200"/>
                <a:gridCol w="2743200"/>
              </a:tblGrid>
              <a:tr h="569530">
                <a:tc>
                  <a:txBody>
                    <a:bodyPr/>
                    <a:lstStyle/>
                    <a:p>
                      <a:pPr marL="0" marR="0" algn="ctr">
                        <a:lnSpc>
                          <a:spcPct val="115000"/>
                        </a:lnSpc>
                        <a:spcBef>
                          <a:spcPts val="0"/>
                        </a:spcBef>
                        <a:spcAft>
                          <a:spcPts val="0"/>
                        </a:spcAft>
                      </a:pPr>
                      <a:r>
                        <a:rPr lang="en-US" sz="1600" b="0" dirty="0">
                          <a:solidFill>
                            <a:schemeClr val="tx1"/>
                          </a:solidFill>
                        </a:rPr>
                        <a:t>Facility</a:t>
                      </a:r>
                      <a:endParaRPr lang="en-US" sz="1600" b="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b="0" dirty="0">
                          <a:solidFill>
                            <a:schemeClr val="tx1"/>
                          </a:solidFill>
                        </a:rPr>
                        <a:t>Minimum Annual Volume/Value of Import &amp; Export Cargo</a:t>
                      </a:r>
                      <a:endParaRPr lang="en-US" sz="1600" b="0" dirty="0">
                        <a:solidFill>
                          <a:schemeClr val="tx1"/>
                        </a:solidFill>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b="0" dirty="0">
                          <a:solidFill>
                            <a:schemeClr val="tx1"/>
                          </a:solidFill>
                        </a:rPr>
                        <a:t>Minimum Annual Number of Documents – Bills of Entry/Shipping Bills</a:t>
                      </a:r>
                      <a:endParaRPr lang="en-US" sz="1600" b="0" dirty="0">
                        <a:solidFill>
                          <a:schemeClr val="tx1"/>
                        </a:solidFill>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dirty="0"/>
                        <a:t>Sea Port</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6 </a:t>
                      </a:r>
                      <a:r>
                        <a:rPr lang="en-US" sz="1600" dirty="0" err="1"/>
                        <a:t>Lakhs</a:t>
                      </a:r>
                      <a:r>
                        <a:rPr lang="en-US" sz="1600" dirty="0"/>
                        <a:t> </a:t>
                      </a:r>
                      <a:r>
                        <a:rPr lang="en-US" sz="1600" dirty="0" err="1"/>
                        <a:t>MTs.</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3,000</a:t>
                      </a:r>
                      <a:endParaRPr lang="en-US" sz="1600">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dirty="0"/>
                        <a:t>Air Cargo Complex</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12,000 MTs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35,000</a:t>
                      </a:r>
                      <a:endParaRPr lang="en-US" sz="1600">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a:t>Courier Terminals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1.5 Lakh Packages</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a:t>20,000</a:t>
                      </a:r>
                      <a:endParaRPr lang="en-US" sz="1600">
                        <a:latin typeface="Calibri"/>
                        <a:ea typeface="Times New Roman"/>
                        <a:cs typeface="Mangal"/>
                      </a:endParaRPr>
                    </a:p>
                  </a:txBody>
                  <a:tcPr marL="68580" marR="68580" marT="0" marB="0"/>
                </a:tc>
              </a:tr>
              <a:tr h="295768">
                <a:tc>
                  <a:txBody>
                    <a:bodyPr/>
                    <a:lstStyle/>
                    <a:p>
                      <a:pPr marL="0" marR="0" algn="just">
                        <a:lnSpc>
                          <a:spcPct val="115000"/>
                        </a:lnSpc>
                        <a:spcBef>
                          <a:spcPts val="0"/>
                        </a:spcBef>
                        <a:spcAft>
                          <a:spcPts val="0"/>
                        </a:spcAft>
                      </a:pPr>
                      <a:r>
                        <a:rPr lang="en-US" sz="1600"/>
                        <a:t>Diamond Plaza</a:t>
                      </a:r>
                      <a:endParaRPr lang="en-US" sz="160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Rs. 15,000 </a:t>
                      </a:r>
                      <a:r>
                        <a:rPr lang="en-US" sz="1600" dirty="0" err="1"/>
                        <a:t>Crores</a:t>
                      </a:r>
                      <a:endParaRPr lang="en-US" sz="1600" dirty="0">
                        <a:latin typeface="Calibri"/>
                        <a:ea typeface="Times New Roman"/>
                        <a:cs typeface="Mangal"/>
                      </a:endParaRPr>
                    </a:p>
                  </a:txBody>
                  <a:tcPr marL="68580" marR="68580" marT="0" marB="0"/>
                </a:tc>
                <a:tc>
                  <a:txBody>
                    <a:bodyPr/>
                    <a:lstStyle/>
                    <a:p>
                      <a:pPr marL="0" marR="0" algn="ctr">
                        <a:lnSpc>
                          <a:spcPct val="115000"/>
                        </a:lnSpc>
                        <a:spcBef>
                          <a:spcPts val="0"/>
                        </a:spcBef>
                        <a:spcAft>
                          <a:spcPts val="0"/>
                        </a:spcAft>
                      </a:pPr>
                      <a:r>
                        <a:rPr lang="en-US" sz="1600" dirty="0"/>
                        <a:t>12,000</a:t>
                      </a:r>
                      <a:endParaRPr lang="en-US" sz="1600" dirty="0">
                        <a:latin typeface="Calibri"/>
                        <a:ea typeface="Times New Roman"/>
                        <a:cs typeface="Mangal"/>
                      </a:endParaRPr>
                    </a:p>
                  </a:txBody>
                  <a:tcPr marL="68580" marR="68580" marT="0" marB="0"/>
                </a:tc>
              </a:tr>
            </a:tbl>
          </a:graphicData>
        </a:graphic>
      </p:graphicFrame>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13</a:t>
            </a:fld>
            <a:endParaRPr lang="en-IN"/>
          </a:p>
        </p:txBody>
      </p:sp>
      <p:sp>
        <p:nvSpPr>
          <p:cNvPr id="7" name="Rectangle 6"/>
          <p:cNvSpPr/>
          <p:nvPr/>
        </p:nvSpPr>
        <p:spPr>
          <a:xfrm>
            <a:off x="533400" y="4191000"/>
            <a:ext cx="8153400" cy="6463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just"/>
            <a:r>
              <a:rPr lang="en-US" dirty="0" smtClean="0">
                <a:solidFill>
                  <a:schemeClr val="tx1"/>
                </a:solidFill>
              </a:rPr>
              <a:t>Norms for eligibility for grant of exemption from the payment of cost recovery charges for Air Ports:</a:t>
            </a:r>
            <a:endParaRPr lang="en-US" dirty="0">
              <a:solidFill>
                <a:schemeClr val="tx1"/>
              </a:solidFill>
            </a:endParaRPr>
          </a:p>
        </p:txBody>
      </p:sp>
      <p:sp>
        <p:nvSpPr>
          <p:cNvPr id="114689" name="Rectangle 1"/>
          <p:cNvSpPr>
            <a:spLocks noChangeArrowheads="1"/>
          </p:cNvSpPr>
          <p:nvPr/>
        </p:nvSpPr>
        <p:spPr bwMode="auto">
          <a:xfrm>
            <a:off x="533400" y="4953000"/>
            <a:ext cx="81534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effectLst/>
                <a:ea typeface="Times New Roman" pitchFamily="18" charset="0"/>
                <a:cs typeface="Times New Roman" pitchFamily="18" charset="0"/>
              </a:rPr>
              <a:t>Minimum number of international flights is 3500 (both incoming and outgoing) and the minimum number of passengers is 3 </a:t>
            </a:r>
            <a:r>
              <a:rPr kumimoji="0" lang="en-US" sz="1600" b="0" i="0" u="none" strike="noStrike" cap="none" normalizeH="0" baseline="0" dirty="0" err="1" smtClean="0">
                <a:ln>
                  <a:noFill/>
                </a:ln>
                <a:effectLst/>
                <a:ea typeface="Times New Roman" pitchFamily="18" charset="0"/>
                <a:cs typeface="Times New Roman" pitchFamily="18" charset="0"/>
              </a:rPr>
              <a:t>lakhs</a:t>
            </a:r>
            <a:r>
              <a:rPr kumimoji="0" lang="en-US" sz="1600" b="0" i="0" u="none" strike="noStrike" cap="none" normalizeH="0" baseline="0" dirty="0" smtClean="0">
                <a:ln>
                  <a:noFill/>
                </a:ln>
                <a:effectLst/>
                <a:ea typeface="Times New Roman" pitchFamily="18" charset="0"/>
                <a:cs typeface="Times New Roman" pitchFamily="18" charset="0"/>
              </a:rPr>
              <a:t> (both incoming and outgoing) in each of the preceding two financial years.</a:t>
            </a:r>
            <a:endParaRPr kumimoji="0" lang="en-US" sz="1600" b="0" i="0" u="none" strike="noStrike" cap="none" normalizeH="0" baseline="0" dirty="0" smtClean="0">
              <a:ln>
                <a:noFill/>
              </a:ln>
              <a:effectLs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lstStyle/>
          <a:p>
            <a:pPr>
              <a:buNone/>
            </a:pPr>
            <a:r>
              <a:rPr lang="en-US" dirty="0" smtClean="0"/>
              <a:t>	</a:t>
            </a:r>
            <a:endParaRPr lang="en-US" sz="1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04E8433-1CDB-4FE1-AE7A-B3BD687C5B5F}" type="datetime1">
              <a:rPr lang="en-US" smtClean="0"/>
              <a:pPr/>
              <a:t>6/1/2018</a:t>
            </a:fld>
            <a:endParaRPr lang="en-IN"/>
          </a:p>
        </p:txBody>
      </p:sp>
      <p:sp>
        <p:nvSpPr>
          <p:cNvPr id="5" name="Slide Number Placeholder 4"/>
          <p:cNvSpPr>
            <a:spLocks noGrp="1"/>
          </p:cNvSpPr>
          <p:nvPr>
            <p:ph type="sldNum" sz="quarter" idx="12"/>
          </p:nvPr>
        </p:nvSpPr>
        <p:spPr/>
        <p:txBody>
          <a:bodyPr/>
          <a:lstStyle/>
          <a:p>
            <a:fld id="{093219D3-AEA3-4CD9-AB83-E36069E32E92}" type="slidenum">
              <a:rPr lang="en-IN" smtClean="0"/>
              <a:pPr/>
              <a:t>14</a:t>
            </a:fld>
            <a:endParaRPr lang="en-IN"/>
          </a:p>
        </p:txBody>
      </p:sp>
      <p:graphicFrame>
        <p:nvGraphicFramePr>
          <p:cNvPr id="7" name="Diagram 6"/>
          <p:cNvGraphicFramePr/>
          <p:nvPr/>
        </p:nvGraphicFramePr>
        <p:xfrm>
          <a:off x="838200" y="1752600"/>
          <a:ext cx="7543800" cy="426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p:cNvSpPr/>
          <p:nvPr/>
        </p:nvSpPr>
        <p:spPr>
          <a:xfrm>
            <a:off x="3352800" y="914400"/>
            <a:ext cx="2438400" cy="4572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400" b="1" dirty="0" smtClean="0">
                <a:solidFill>
                  <a:schemeClr val="tx1"/>
                </a:solidFill>
              </a:rPr>
              <a:t>CASE STUDY</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Point Star 3"/>
          <p:cNvSpPr/>
          <p:nvPr/>
        </p:nvSpPr>
        <p:spPr>
          <a:xfrm>
            <a:off x="4724400" y="2590800"/>
            <a:ext cx="3886200" cy="3429000"/>
          </a:xfrm>
          <a:prstGeom prst="star5">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rgbClr val="FFFF00"/>
                </a:solidFill>
                <a:latin typeface="Bradley Hand ITC" pitchFamily="66" charset="0"/>
              </a:rPr>
              <a:t>THANK YOU!</a:t>
            </a:r>
          </a:p>
        </p:txBody>
      </p:sp>
      <p:sp>
        <p:nvSpPr>
          <p:cNvPr id="7" name="Date Placeholder 6"/>
          <p:cNvSpPr>
            <a:spLocks noGrp="1"/>
          </p:cNvSpPr>
          <p:nvPr>
            <p:ph type="dt" sz="half" idx="10"/>
          </p:nvPr>
        </p:nvSpPr>
        <p:spPr/>
        <p:txBody>
          <a:bodyPr/>
          <a:lstStyle/>
          <a:p>
            <a:fld id="{1D173EC0-5C20-4B95-99B0-653116CA1EF7}" type="datetime1">
              <a:rPr lang="en-US" smtClean="0"/>
              <a:pPr/>
              <a:t>6/1/2018</a:t>
            </a:fld>
            <a:endParaRPr lang="en-IN"/>
          </a:p>
        </p:txBody>
      </p:sp>
      <p:sp>
        <p:nvSpPr>
          <p:cNvPr id="8" name="Slide Number Placeholder 7"/>
          <p:cNvSpPr>
            <a:spLocks noGrp="1"/>
          </p:cNvSpPr>
          <p:nvPr>
            <p:ph type="sldNum" sz="quarter" idx="12"/>
          </p:nvPr>
        </p:nvSpPr>
        <p:spPr/>
        <p:txBody>
          <a:bodyPr/>
          <a:lstStyle/>
          <a:p>
            <a:fld id="{093219D3-AEA3-4CD9-AB83-E36069E32E92}" type="slidenum">
              <a:rPr lang="en-IN" smtClean="0"/>
              <a:pPr/>
              <a:t>15</a:t>
            </a:fld>
            <a:endParaRPr lang="en-I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4115</TotalTime>
  <Words>1333</Words>
  <Application>Microsoft Office PowerPoint</Application>
  <PresentationFormat>On-screen Show (4:3)</PresentationFormat>
  <Paragraphs>208</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COST RECOVERY POSTS </vt:lpstr>
      <vt:lpstr>Slide 3</vt:lpstr>
      <vt:lpstr>STAFFING NORMS</vt:lpstr>
      <vt:lpstr>EXEMPTION FROM THE PAYMENT OF COST RECOVERY CHARGES: </vt:lpstr>
      <vt:lpstr>  Norms for grant of exemption of CR charges for  ICDs/ CFSs</vt:lpstr>
      <vt:lpstr>Norms for eligibility for grant of exemption from the payment of cost recovery charges in respect of facilities Sea Ports, Air Cargo Complex, Courier Terminals and Diamond Plaza:</vt:lpstr>
      <vt:lpstr>  Norms for grant of exemption of CR charges in  ICDs/ CFSs………. </vt:lpstr>
      <vt:lpstr>Norms for eligibility for grant of exemption from the payment of cost recovery charges in respect of facilities Sea Ports, Air Cargo Complex, Courier Terminals and Diamond Plaza:</vt:lpstr>
      <vt:lpstr>Status of sanction strength of posts on Cost Recovery Basis </vt:lpstr>
      <vt:lpstr>EXEMPTION FROM THE PAYMENT OF COST RECOVERY CHARGES:  </vt:lpstr>
      <vt:lpstr>  Norms for grant of waiver of CR charges in ICDs/ CFSs </vt:lpstr>
      <vt:lpstr>Norms for eligibility for grant of exemption from the payment of cost recovery charges in respect of facilities Sea Ports, Air Cargo Complex, Courier Terminals and Diamond Plaza:</vt:lpstr>
      <vt:lpstr>Slide 14</vt:lpstr>
      <vt:lpstr>Slide 15</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EMC</dc:title>
  <dc:creator>hp</dc:creator>
  <cp:lastModifiedBy>hp1</cp:lastModifiedBy>
  <cp:revision>394</cp:revision>
  <cp:lastPrinted>2017-09-15T07:58:45Z</cp:lastPrinted>
  <dcterms:created xsi:type="dcterms:W3CDTF">2016-09-14T10:58:14Z</dcterms:created>
  <dcterms:modified xsi:type="dcterms:W3CDTF">2018-06-01T10:41:11Z</dcterms:modified>
</cp:coreProperties>
</file>